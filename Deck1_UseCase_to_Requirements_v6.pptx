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EARS (Easy Approach to Requirements Syntax), created by Alistair Mavin and colleagues at Rolls-Royce, first presented at the 2009 IEEE Requirements Engineering conference.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D6D2C6"/>
          </a:solidFill>
          <a:ln w="12700">
            <a:solidFill>
              <a:srgbClr val="D6D2C6"/>
            </a:solidFill>
            <a:prstDash val="solid"/>
          </a:ln>
        </p:spPr>
      </p:sp>
      <p:sp>
        <p:nvSpPr>
          <p:cNvPr id="3" name="Text 1"/>
          <p:cNvSpPr/>
          <p:nvPr/>
        </p:nvSpPr>
        <p:spPr>
          <a:xfrm>
            <a:off x="457200" y="2788920"/>
            <a:ext cx="2926080"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REQUIREMENTS</a:t>
            </a:r>
            <a:endParaRPr lang="en-US" sz="2100" dirty="0"/>
          </a:p>
        </p:txBody>
      </p:sp>
      <p:sp>
        <p:nvSpPr>
          <p:cNvPr id="4" name="Text 2"/>
          <p:cNvSpPr/>
          <p:nvPr/>
        </p:nvSpPr>
        <p:spPr>
          <a:xfrm>
            <a:off x="457200" y="3182112"/>
            <a:ext cx="2926080" cy="384048"/>
          </a:xfrm>
          <a:prstGeom prst="rect">
            <a:avLst/>
          </a:prstGeom>
          <a:noFill/>
          <a:ln/>
        </p:spPr>
        <p:txBody>
          <a:bodyPr wrap="square" lIns="0" tIns="0" rIns="0" bIns="0" rtlCol="0" anchor="ctr"/>
          <a:lstStyle/>
          <a:p>
            <a:pPr indent="0" marL="0">
              <a:buNone/>
            </a:pPr>
            <a:r>
              <a:rPr lang="en-US" sz="2100" b="1" dirty="0">
                <a:solidFill>
                  <a:srgbClr val="6B6656"/>
                </a:solidFill>
                <a:latin typeface="Arial" pitchFamily="34" charset="0"/>
                <a:ea typeface="Arial" pitchFamily="34" charset="-122"/>
                <a:cs typeface="Arial" pitchFamily="34" charset="-120"/>
              </a:rPr>
              <a:t>SPECIFICATION</a:t>
            </a:r>
            <a:endParaRPr lang="en-US" sz="2100" dirty="0"/>
          </a:p>
        </p:txBody>
      </p:sp>
      <p:sp>
        <p:nvSpPr>
          <p:cNvPr id="5" name="Text 3"/>
          <p:cNvSpPr/>
          <p:nvPr/>
        </p:nvSpPr>
        <p:spPr>
          <a:xfrm>
            <a:off x="4297680" y="2148840"/>
            <a:ext cx="7315200" cy="219456"/>
          </a:xfrm>
          <a:prstGeom prst="rect">
            <a:avLst/>
          </a:prstGeom>
          <a:noFill/>
          <a:ln/>
        </p:spPr>
        <p:txBody>
          <a:bodyPr wrap="square" lIns="0" tIns="0" rIns="0" bIns="0" rtlCol="0" anchor="ctr"/>
          <a:lstStyle/>
          <a:p>
            <a:pPr indent="0" marL="0">
              <a:buNone/>
            </a:pPr>
            <a:r>
              <a:rPr lang="en-US" sz="1000" b="1" spc="200" kern="0" dirty="0">
                <a:solidFill>
                  <a:srgbClr val="E60000"/>
                </a:solidFill>
                <a:latin typeface="Arial" pitchFamily="34" charset="0"/>
                <a:ea typeface="Arial" pitchFamily="34" charset="-122"/>
                <a:cs typeface="Arial" pitchFamily="34" charset="-120"/>
              </a:rPr>
              <a:t>AI CHAMPION TOPIC  |  DECK 1 OF 2</a:t>
            </a:r>
            <a:endParaRPr lang="en-US" sz="1000" dirty="0"/>
          </a:p>
        </p:txBody>
      </p:sp>
      <p:sp>
        <p:nvSpPr>
          <p:cNvPr id="6" name="Text 4"/>
          <p:cNvSpPr/>
          <p:nvPr/>
        </p:nvSpPr>
        <p:spPr>
          <a:xfrm>
            <a:off x="4297680" y="2432304"/>
            <a:ext cx="7406640" cy="91440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From Use Case to a Full Requirements Specification</a:t>
            </a:r>
            <a:endParaRPr lang="en-US" sz="3000" dirty="0"/>
          </a:p>
        </p:txBody>
      </p:sp>
      <p:sp>
        <p:nvSpPr>
          <p:cNvPr id="7" name="Text 5"/>
          <p:cNvSpPr/>
          <p:nvPr/>
        </p:nvSpPr>
        <p:spPr>
          <a:xfrm>
            <a:off x="4297680" y="3438144"/>
            <a:ext cx="7223760" cy="457200"/>
          </a:xfrm>
          <a:prstGeom prst="rect">
            <a:avLst/>
          </a:prstGeom>
          <a:noFill/>
          <a:ln/>
        </p:spPr>
        <p:txBody>
          <a:bodyPr wrap="square" lIns="0" tIns="0" rIns="0" bIns="0" rtlCol="0" anchor="ctr"/>
          <a:lstStyle/>
          <a:p>
            <a:pPr indent="0" marL="0">
              <a:buNone/>
            </a:pPr>
            <a:r>
              <a:rPr lang="en-US" sz="1200" dirty="0">
                <a:solidFill>
                  <a:srgbClr val="595959"/>
                </a:solidFill>
                <a:latin typeface="Arial" pitchFamily="34" charset="0"/>
                <a:ea typeface="Arial" pitchFamily="34" charset="-122"/>
                <a:cs typeface="Arial" pitchFamily="34" charset="-120"/>
              </a:rPr>
              <a:t>How to turn an approved AI use case into a complete, testable requirements document. No engineering tooling required.</a:t>
            </a:r>
            <a:endParaRPr lang="en-US" sz="1200" dirty="0"/>
          </a:p>
        </p:txBody>
      </p:sp>
      <p:sp>
        <p:nvSpPr>
          <p:cNvPr id="8" name="Text 6"/>
          <p:cNvSpPr/>
          <p:nvPr/>
        </p:nvSpPr>
        <p:spPr>
          <a:xfrm>
            <a:off x="4297680" y="4069080"/>
            <a:ext cx="7406640" cy="274320"/>
          </a:xfrm>
          <a:prstGeom prst="rect">
            <a:avLst/>
          </a:prstGeom>
          <a:noFill/>
          <a:ln/>
        </p:spPr>
        <p:txBody>
          <a:bodyPr wrap="square" lIns="0" tIns="0" rIns="0" bIns="0" rtlCol="0" anchor="ctr"/>
          <a:lstStyle/>
          <a:p>
            <a:pPr indent="0" marL="0">
              <a:buNone/>
            </a:pPr>
            <a:r>
              <a:rPr lang="en-US" sz="1000" b="1" dirty="0">
                <a:solidFill>
                  <a:srgbClr val="6B6656"/>
                </a:solidFill>
                <a:latin typeface="Arial" pitchFamily="34" charset="0"/>
                <a:ea typeface="Arial" pitchFamily="34" charset="-122"/>
                <a:cs typeface="Arial" pitchFamily="34" charset="-120"/>
              </a:rPr>
              <a:t>Register   &gt;   Business Case   &gt;   First Interview   &gt;   Requirements Document   &gt;   Extend by Depth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WHY OUR OWN TEMPLATE</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Why the Stock Spec Kit Template Is Not Enough</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We adopt Spec Kit's workflow unchanged. Its requirement template is the one part we replace.</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Why Our Own Template</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2 / 12</a:t>
            </a:r>
            <a:endParaRPr lang="en-US" sz="800" dirty="0"/>
          </a:p>
        </p:txBody>
      </p:sp>
      <p:sp>
        <p:nvSpPr>
          <p:cNvPr id="7" name="Shape 5"/>
          <p:cNvSpPr/>
          <p:nvPr/>
        </p:nvSpPr>
        <p:spPr>
          <a:xfrm>
            <a:off x="548640" y="1316736"/>
            <a:ext cx="5449824" cy="896112"/>
          </a:xfrm>
          <a:prstGeom prst="rect">
            <a:avLst/>
          </a:prstGeom>
          <a:solidFill>
            <a:srgbClr val="EAF1F8"/>
          </a:solidFill>
          <a:ln w="12700">
            <a:solidFill>
              <a:srgbClr val="D0D0D0"/>
            </a:solidFill>
            <a:prstDash val="solid"/>
          </a:ln>
        </p:spPr>
      </p:sp>
      <p:sp>
        <p:nvSpPr>
          <p:cNvPr id="8" name="Text 6"/>
          <p:cNvSpPr/>
          <p:nvPr/>
        </p:nvSpPr>
        <p:spPr>
          <a:xfrm>
            <a:off x="731520" y="1399032"/>
            <a:ext cx="36576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WHAT SPEC KIT IS</a:t>
            </a:r>
            <a:endParaRPr lang="en-US" sz="850" dirty="0"/>
          </a:p>
        </p:txBody>
      </p:sp>
      <p:sp>
        <p:nvSpPr>
          <p:cNvPr id="9" name="Text 7"/>
          <p:cNvSpPr/>
          <p:nvPr/>
        </p:nvSpPr>
        <p:spPr>
          <a:xfrm>
            <a:off x="731520" y="1609344"/>
            <a:ext cx="5084064" cy="530352"/>
          </a:xfrm>
          <a:prstGeom prst="rect">
            <a:avLst/>
          </a:prstGeom>
          <a:noFill/>
          <a:ln/>
        </p:spPr>
        <p:txBody>
          <a:bodyPr wrap="square" lIns="0" tIns="0" rIns="0" bIns="0" rtlCol="0" anchor="ctr"/>
          <a:lstStyle/>
          <a:p>
            <a:pPr indent="0" marL="0">
              <a:lnSpc>
                <a:spcPct val="108000"/>
              </a:lnSpc>
              <a:buNone/>
            </a:pPr>
            <a:r>
              <a:rPr lang="en-US" sz="950" dirty="0">
                <a:solidFill>
                  <a:srgbClr val="0B5394"/>
                </a:solidFill>
                <a:latin typeface="Arial" pitchFamily="34" charset="0"/>
                <a:ea typeface="Arial" pitchFamily="34" charset="-122"/>
                <a:cs typeface="Arial" pitchFamily="34" charset="-120"/>
              </a:rPr>
              <a:t>An open-source toolkit from GitHub for spec-driven development. You write the specification first, then a chain of commands turns it into a technical plan, a task breakdown, and ultimately code.</a:t>
            </a:r>
            <a:endParaRPr lang="en-US" sz="950" dirty="0"/>
          </a:p>
        </p:txBody>
      </p:sp>
      <p:sp>
        <p:nvSpPr>
          <p:cNvPr id="10" name="Shape 8"/>
          <p:cNvSpPr/>
          <p:nvPr/>
        </p:nvSpPr>
        <p:spPr>
          <a:xfrm>
            <a:off x="6190488" y="1316736"/>
            <a:ext cx="5449824" cy="896112"/>
          </a:xfrm>
          <a:prstGeom prst="rect">
            <a:avLst/>
          </a:prstGeom>
          <a:solidFill>
            <a:srgbClr val="F0F0F0"/>
          </a:solidFill>
          <a:ln w="12700">
            <a:solidFill>
              <a:srgbClr val="D0D0D0"/>
            </a:solidFill>
            <a:prstDash val="solid"/>
          </a:ln>
        </p:spPr>
      </p:sp>
      <p:sp>
        <p:nvSpPr>
          <p:cNvPr id="11" name="Text 9"/>
          <p:cNvSpPr/>
          <p:nvPr/>
        </p:nvSpPr>
        <p:spPr>
          <a:xfrm>
            <a:off x="6373368" y="1399032"/>
            <a:ext cx="45720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WHY WE ADOPT IT, AND WHAT WE DO NOT</a:t>
            </a:r>
            <a:endParaRPr lang="en-US" sz="850" dirty="0"/>
          </a:p>
        </p:txBody>
      </p:sp>
      <p:sp>
        <p:nvSpPr>
          <p:cNvPr id="12" name="Text 10"/>
          <p:cNvSpPr/>
          <p:nvPr/>
        </p:nvSpPr>
        <p:spPr>
          <a:xfrm>
            <a:off x="6373368" y="1609344"/>
            <a:ext cx="5084064" cy="530352"/>
          </a:xfrm>
          <a:prstGeom prst="rect">
            <a:avLst/>
          </a:prstGeom>
          <a:noFill/>
          <a:ln/>
        </p:spPr>
        <p:txBody>
          <a:bodyPr wrap="square" lIns="0" tIns="0" rIns="0" bIns="0" rtlCol="0" anchor="t"/>
          <a:lstStyle/>
          <a:p>
            <a:pPr indent="0" marL="0">
              <a:lnSpc>
                <a:spcPct val="108000"/>
              </a:lnSpc>
              <a:buNone/>
            </a:pPr>
            <a:r>
              <a:rPr lang="en-US" sz="950" dirty="0">
                <a:solidFill>
                  <a:srgbClr val="595959"/>
                </a:solidFill>
                <a:latin typeface="Arial" pitchFamily="34" charset="0"/>
                <a:ea typeface="Arial" pitchFamily="34" charset="-122"/>
                <a:cs typeface="Arial" pitchFamily="34" charset="-120"/>
              </a:rPr>
              <a:t>It makes the specification the artifact that drives the build, not a document written once and filed. We take the workflow as it comes. We do not take its requirement template: map our structure onto its four sections and </a:t>
            </a:r>
            <a:pPr indent="0" marL="0">
              <a:lnSpc>
                <a:spcPct val="108000"/>
              </a:lnSpc>
              <a:buNone/>
            </a:pPr>
            <a:r>
              <a:rPr lang="en-US" sz="950" b="1" dirty="0">
                <a:solidFill>
                  <a:srgbClr val="000000"/>
                </a:solidFill>
                <a:latin typeface="Arial" pitchFamily="34" charset="0"/>
                <a:ea typeface="Arial" pitchFamily="34" charset="-122"/>
                <a:cs typeface="Arial" pitchFamily="34" charset="-120"/>
              </a:rPr>
              <a:t>3 of our 22 blocks land cleanly, 5 arrive flattened, and 14 have nowhere to go.</a:t>
            </a:r>
            <a:endParaRPr lang="en-US" sz="950" dirty="0"/>
          </a:p>
        </p:txBody>
      </p:sp>
      <p:sp>
        <p:nvSpPr>
          <p:cNvPr id="13" name="Text 11"/>
          <p:cNvSpPr/>
          <p:nvPr/>
        </p:nvSpPr>
        <p:spPr>
          <a:xfrm>
            <a:off x="548640" y="2377440"/>
            <a:ext cx="32004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SPEC KIT REQUIREMENT TEMPLATE, AS SHIPPED</a:t>
            </a:r>
            <a:endParaRPr lang="en-US" sz="850" dirty="0"/>
          </a:p>
        </p:txBody>
      </p:sp>
      <p:sp>
        <p:nvSpPr>
          <p:cNvPr id="14" name="Shape 12"/>
          <p:cNvSpPr/>
          <p:nvPr/>
        </p:nvSpPr>
        <p:spPr>
          <a:xfrm>
            <a:off x="548640" y="2615184"/>
            <a:ext cx="3200400" cy="3639312"/>
          </a:xfrm>
          <a:prstGeom prst="rect">
            <a:avLst/>
          </a:prstGeom>
          <a:solidFill>
            <a:srgbClr val="F0F0F0"/>
          </a:solidFill>
          <a:ln w="12700">
            <a:solidFill>
              <a:srgbClr val="D0D0D0"/>
            </a:solidFill>
            <a:prstDash val="solid"/>
          </a:ln>
        </p:spPr>
      </p:sp>
      <p:sp>
        <p:nvSpPr>
          <p:cNvPr id="15" name="Text 13"/>
          <p:cNvSpPr/>
          <p:nvPr/>
        </p:nvSpPr>
        <p:spPr>
          <a:xfrm>
            <a:off x="731520" y="2743200"/>
            <a:ext cx="2834640" cy="365760"/>
          </a:xfrm>
          <a:prstGeom prst="rect">
            <a:avLst/>
          </a:prstGeom>
          <a:noFill/>
          <a:ln/>
        </p:spPr>
        <p:txBody>
          <a:bodyPr wrap="square" lIns="0" tIns="0" rIns="0" bIns="0" rtlCol="0" anchor="ctr"/>
          <a:lstStyle/>
          <a:p>
            <a:pPr indent="0" marL="0">
              <a:buNone/>
            </a:pPr>
            <a:r>
              <a:rPr lang="en-US" sz="850" i="1" dirty="0">
                <a:solidFill>
                  <a:srgbClr val="595959"/>
                </a:solidFill>
                <a:latin typeface="Arial" pitchFamily="34" charset="0"/>
                <a:ea typeface="Arial" pitchFamily="34" charset="-122"/>
                <a:cs typeface="Arial" pitchFamily="34" charset="-120"/>
              </a:rPr>
              <a:t>4 sections   ·   131 lines   ·   one fixed shape, no depth grading</a:t>
            </a:r>
            <a:endParaRPr lang="en-US" sz="850" dirty="0"/>
          </a:p>
        </p:txBody>
      </p:sp>
      <p:sp>
        <p:nvSpPr>
          <p:cNvPr id="16" name="Text 14"/>
          <p:cNvSpPr/>
          <p:nvPr/>
        </p:nvSpPr>
        <p:spPr>
          <a:xfrm>
            <a:off x="731520" y="3163824"/>
            <a:ext cx="2834640" cy="173736"/>
          </a:xfrm>
          <a:prstGeom prst="rect">
            <a:avLst/>
          </a:prstGeom>
          <a:noFill/>
          <a:ln/>
        </p:spPr>
        <p:txBody>
          <a:bodyPr wrap="square" lIns="0" tIns="0" rIns="0" bIns="0" rtlCol="0" anchor="ctr"/>
          <a:lstStyle/>
          <a:p>
            <a:pPr indent="0" marL="0">
              <a:buNone/>
            </a:pPr>
            <a:r>
              <a:rPr lang="en-US" sz="1050" b="1" dirty="0">
                <a:solidFill>
                  <a:srgbClr val="000000"/>
                </a:solidFill>
                <a:latin typeface="Arial" pitchFamily="34" charset="0"/>
                <a:ea typeface="Arial" pitchFamily="34" charset="-122"/>
                <a:cs typeface="Arial" pitchFamily="34" charset="-120"/>
              </a:rPr>
              <a:t>User Scenarios &amp; Testing</a:t>
            </a:r>
            <a:endParaRPr lang="en-US" sz="1050" dirty="0"/>
          </a:p>
        </p:txBody>
      </p:sp>
      <p:sp>
        <p:nvSpPr>
          <p:cNvPr id="17" name="Text 15"/>
          <p:cNvSpPr/>
          <p:nvPr/>
        </p:nvSpPr>
        <p:spPr>
          <a:xfrm>
            <a:off x="731520" y="3337560"/>
            <a:ext cx="2834640" cy="548640"/>
          </a:xfrm>
          <a:prstGeom prst="rect">
            <a:avLst/>
          </a:prstGeom>
          <a:noFill/>
          <a:ln/>
        </p:spPr>
        <p:txBody>
          <a:bodyPr wrap="square" lIns="0" tIns="0" rIns="0" bIns="0" rtlCol="0" anchor="ctr"/>
          <a:lstStyle/>
          <a:p>
            <a:pPr indent="0" marL="0">
              <a:lnSpc>
                <a:spcPct val="105000"/>
              </a:lnSpc>
              <a:buNone/>
            </a:pPr>
            <a:r>
              <a:rPr lang="en-US" sz="800" dirty="0">
                <a:solidFill>
                  <a:srgbClr val="595959"/>
                </a:solidFill>
                <a:latin typeface="Arial" pitchFamily="34" charset="0"/>
                <a:ea typeface="Arial" pitchFamily="34" charset="-122"/>
                <a:cs typeface="Arial" pitchFamily="34" charset="-120"/>
              </a:rPr>
              <a:t>Stories at P1 to P3, journey, independent test, Given / When / Then. Edge Cases is two prompt questions.</a:t>
            </a:r>
            <a:endParaRPr lang="en-US" sz="800" dirty="0"/>
          </a:p>
        </p:txBody>
      </p:sp>
      <p:sp>
        <p:nvSpPr>
          <p:cNvPr id="18" name="Text 16"/>
          <p:cNvSpPr/>
          <p:nvPr/>
        </p:nvSpPr>
        <p:spPr>
          <a:xfrm>
            <a:off x="731520" y="3931920"/>
            <a:ext cx="2834640" cy="173736"/>
          </a:xfrm>
          <a:prstGeom prst="rect">
            <a:avLst/>
          </a:prstGeom>
          <a:noFill/>
          <a:ln/>
        </p:spPr>
        <p:txBody>
          <a:bodyPr wrap="square" lIns="0" tIns="0" rIns="0" bIns="0" rtlCol="0" anchor="ctr"/>
          <a:lstStyle/>
          <a:p>
            <a:pPr indent="0" marL="0">
              <a:buNone/>
            </a:pPr>
            <a:r>
              <a:rPr lang="en-US" sz="1050" b="1" dirty="0">
                <a:solidFill>
                  <a:srgbClr val="000000"/>
                </a:solidFill>
                <a:latin typeface="Arial" pitchFamily="34" charset="0"/>
                <a:ea typeface="Arial" pitchFamily="34" charset="-122"/>
                <a:cs typeface="Arial" pitchFamily="34" charset="-120"/>
              </a:rPr>
              <a:t>Requirements</a:t>
            </a:r>
            <a:endParaRPr lang="en-US" sz="1050" dirty="0"/>
          </a:p>
        </p:txBody>
      </p:sp>
      <p:sp>
        <p:nvSpPr>
          <p:cNvPr id="19" name="Text 17"/>
          <p:cNvSpPr/>
          <p:nvPr/>
        </p:nvSpPr>
        <p:spPr>
          <a:xfrm>
            <a:off x="731520" y="4105656"/>
            <a:ext cx="2834640" cy="548640"/>
          </a:xfrm>
          <a:prstGeom prst="rect">
            <a:avLst/>
          </a:prstGeom>
          <a:noFill/>
          <a:ln/>
        </p:spPr>
        <p:txBody>
          <a:bodyPr wrap="square" lIns="0" tIns="0" rIns="0" bIns="0" rtlCol="0" anchor="ctr"/>
          <a:lstStyle/>
          <a:p>
            <a:pPr indent="0" marL="0">
              <a:lnSpc>
                <a:spcPct val="105000"/>
              </a:lnSpc>
              <a:buNone/>
            </a:pPr>
            <a:r>
              <a:rPr lang="en-US" sz="800" dirty="0">
                <a:solidFill>
                  <a:srgbClr val="595959"/>
                </a:solidFill>
                <a:latin typeface="Arial" pitchFamily="34" charset="0"/>
                <a:ea typeface="Arial" pitchFamily="34" charset="-122"/>
                <a:cs typeface="Arial" pitchFamily="34" charset="-120"/>
              </a:rPr>
              <a:t>FR-001 as prose: “System MUST ...”. No EARS. Key Entities is a name and a few attributes.</a:t>
            </a:r>
            <a:endParaRPr lang="en-US" sz="800" dirty="0"/>
          </a:p>
        </p:txBody>
      </p:sp>
      <p:sp>
        <p:nvSpPr>
          <p:cNvPr id="20" name="Text 18"/>
          <p:cNvSpPr/>
          <p:nvPr/>
        </p:nvSpPr>
        <p:spPr>
          <a:xfrm>
            <a:off x="731520" y="4700016"/>
            <a:ext cx="2834640" cy="173736"/>
          </a:xfrm>
          <a:prstGeom prst="rect">
            <a:avLst/>
          </a:prstGeom>
          <a:noFill/>
          <a:ln/>
        </p:spPr>
        <p:txBody>
          <a:bodyPr wrap="square" lIns="0" tIns="0" rIns="0" bIns="0" rtlCol="0" anchor="ctr"/>
          <a:lstStyle/>
          <a:p>
            <a:pPr indent="0" marL="0">
              <a:buNone/>
            </a:pPr>
            <a:r>
              <a:rPr lang="en-US" sz="1050" b="1" dirty="0">
                <a:solidFill>
                  <a:srgbClr val="000000"/>
                </a:solidFill>
                <a:latin typeface="Arial" pitchFamily="34" charset="0"/>
                <a:ea typeface="Arial" pitchFamily="34" charset="-122"/>
                <a:cs typeface="Arial" pitchFamily="34" charset="-120"/>
              </a:rPr>
              <a:t>Success Criteria</a:t>
            </a:r>
            <a:endParaRPr lang="en-US" sz="1050" dirty="0"/>
          </a:p>
        </p:txBody>
      </p:sp>
      <p:sp>
        <p:nvSpPr>
          <p:cNvPr id="21" name="Text 19"/>
          <p:cNvSpPr/>
          <p:nvPr/>
        </p:nvSpPr>
        <p:spPr>
          <a:xfrm>
            <a:off x="731520" y="4873752"/>
            <a:ext cx="2834640" cy="548640"/>
          </a:xfrm>
          <a:prstGeom prst="rect">
            <a:avLst/>
          </a:prstGeom>
          <a:noFill/>
          <a:ln/>
        </p:spPr>
        <p:txBody>
          <a:bodyPr wrap="square" lIns="0" tIns="0" rIns="0" bIns="0" rtlCol="0" anchor="ctr"/>
          <a:lstStyle/>
          <a:p>
            <a:pPr indent="0" marL="0">
              <a:lnSpc>
                <a:spcPct val="105000"/>
              </a:lnSpc>
              <a:buNone/>
            </a:pPr>
            <a:r>
              <a:rPr lang="en-US" sz="800" dirty="0">
                <a:solidFill>
                  <a:srgbClr val="595959"/>
                </a:solidFill>
                <a:latin typeface="Arial" pitchFamily="34" charset="0"/>
                <a:ea typeface="Arial" pitchFamily="34" charset="-122"/>
                <a:cs typeface="Arial" pitchFamily="34" charset="-120"/>
              </a:rPr>
              <a:t>SC-001 measurable outcomes. Every non-functional target has to land here.</a:t>
            </a:r>
            <a:endParaRPr lang="en-US" sz="800" dirty="0"/>
          </a:p>
        </p:txBody>
      </p:sp>
      <p:sp>
        <p:nvSpPr>
          <p:cNvPr id="22" name="Text 20"/>
          <p:cNvSpPr/>
          <p:nvPr/>
        </p:nvSpPr>
        <p:spPr>
          <a:xfrm>
            <a:off x="731520" y="5468112"/>
            <a:ext cx="2834640" cy="173736"/>
          </a:xfrm>
          <a:prstGeom prst="rect">
            <a:avLst/>
          </a:prstGeom>
          <a:noFill/>
          <a:ln/>
        </p:spPr>
        <p:txBody>
          <a:bodyPr wrap="square" lIns="0" tIns="0" rIns="0" bIns="0" rtlCol="0" anchor="ctr"/>
          <a:lstStyle/>
          <a:p>
            <a:pPr indent="0" marL="0">
              <a:buNone/>
            </a:pPr>
            <a:r>
              <a:rPr lang="en-US" sz="1050" b="1" dirty="0">
                <a:solidFill>
                  <a:srgbClr val="000000"/>
                </a:solidFill>
                <a:latin typeface="Arial" pitchFamily="34" charset="0"/>
                <a:ea typeface="Arial" pitchFamily="34" charset="-122"/>
                <a:cs typeface="Arial" pitchFamily="34" charset="-120"/>
              </a:rPr>
              <a:t>Assumptions</a:t>
            </a:r>
            <a:endParaRPr lang="en-US" sz="1050" dirty="0"/>
          </a:p>
        </p:txBody>
      </p:sp>
      <p:sp>
        <p:nvSpPr>
          <p:cNvPr id="23" name="Text 21"/>
          <p:cNvSpPr/>
          <p:nvPr/>
        </p:nvSpPr>
        <p:spPr>
          <a:xfrm>
            <a:off x="731520" y="5641848"/>
            <a:ext cx="2834640" cy="548640"/>
          </a:xfrm>
          <a:prstGeom prst="rect">
            <a:avLst/>
          </a:prstGeom>
          <a:noFill/>
          <a:ln/>
        </p:spPr>
        <p:txBody>
          <a:bodyPr wrap="square" lIns="0" tIns="0" rIns="0" bIns="0" rtlCol="0" anchor="ctr"/>
          <a:lstStyle/>
          <a:p>
            <a:pPr indent="0" marL="0">
              <a:lnSpc>
                <a:spcPct val="105000"/>
              </a:lnSpc>
              <a:buNone/>
            </a:pPr>
            <a:r>
              <a:rPr lang="en-US" sz="800" dirty="0">
                <a:solidFill>
                  <a:srgbClr val="595959"/>
                </a:solidFill>
                <a:latin typeface="Arial" pitchFamily="34" charset="0"/>
                <a:ea typeface="Arial" pitchFamily="34" charset="-122"/>
                <a:cs typeface="Arial" pitchFamily="34" charset="-120"/>
              </a:rPr>
              <a:t>One list holding assumptions, scope boundaries and dependencies together.</a:t>
            </a:r>
            <a:endParaRPr lang="en-US" sz="800" dirty="0"/>
          </a:p>
        </p:txBody>
      </p:sp>
      <p:sp>
        <p:nvSpPr>
          <p:cNvPr id="24" name="Text 22"/>
          <p:cNvSpPr/>
          <p:nvPr/>
        </p:nvSpPr>
        <p:spPr>
          <a:xfrm>
            <a:off x="3977640" y="2377440"/>
            <a:ext cx="7662672"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OUR REQUIREMENT SPECIFICATION</a:t>
            </a:r>
            <a:endParaRPr lang="en-US" sz="850" dirty="0"/>
          </a:p>
        </p:txBody>
      </p:sp>
      <p:sp>
        <p:nvSpPr>
          <p:cNvPr id="25" name="Shape 23"/>
          <p:cNvSpPr/>
          <p:nvPr/>
        </p:nvSpPr>
        <p:spPr>
          <a:xfrm>
            <a:off x="3977640" y="2615184"/>
            <a:ext cx="7662672" cy="3639312"/>
          </a:xfrm>
          <a:prstGeom prst="rect">
            <a:avLst/>
          </a:prstGeom>
          <a:solidFill>
            <a:srgbClr val="F0F0F0"/>
          </a:solidFill>
          <a:ln w="12700">
            <a:solidFill>
              <a:srgbClr val="D0D0D0"/>
            </a:solidFill>
            <a:prstDash val="solid"/>
          </a:ln>
        </p:spPr>
      </p:sp>
      <p:sp>
        <p:nvSpPr>
          <p:cNvPr id="26" name="Text 24"/>
          <p:cNvSpPr/>
          <p:nvPr/>
        </p:nvSpPr>
        <p:spPr>
          <a:xfrm>
            <a:off x="4160520" y="2743200"/>
            <a:ext cx="3931920" cy="256032"/>
          </a:xfrm>
          <a:prstGeom prst="rect">
            <a:avLst/>
          </a:prstGeom>
          <a:noFill/>
          <a:ln/>
        </p:spPr>
        <p:txBody>
          <a:bodyPr wrap="square" lIns="0" tIns="0" rIns="0" bIns="0" rtlCol="0" anchor="ctr"/>
          <a:lstStyle/>
          <a:p>
            <a:pPr indent="0" marL="0">
              <a:buNone/>
            </a:pPr>
            <a:r>
              <a:rPr lang="en-US" sz="850" i="1" dirty="0">
                <a:solidFill>
                  <a:srgbClr val="595959"/>
                </a:solidFill>
                <a:latin typeface="Arial" pitchFamily="34" charset="0"/>
                <a:ea typeface="Arial" pitchFamily="34" charset="-122"/>
                <a:cs typeface="Arial" pitchFamily="34" charset="-120"/>
              </a:rPr>
              <a:t>5 parts   ·   20 sections   ·   2 appendices   ·   3 depth grades</a:t>
            </a:r>
            <a:endParaRPr lang="en-US" sz="850" dirty="0"/>
          </a:p>
        </p:txBody>
      </p:sp>
      <p:sp>
        <p:nvSpPr>
          <p:cNvPr id="27" name="Shape 25"/>
          <p:cNvSpPr/>
          <p:nvPr/>
        </p:nvSpPr>
        <p:spPr>
          <a:xfrm>
            <a:off x="8202168" y="2807208"/>
            <a:ext cx="82296" cy="82296"/>
          </a:xfrm>
          <a:prstGeom prst="rect">
            <a:avLst/>
          </a:prstGeom>
          <a:solidFill>
            <a:srgbClr val="2E7D32"/>
          </a:solidFill>
          <a:ln w="6350">
            <a:solidFill>
              <a:srgbClr val="2E7D32"/>
            </a:solidFill>
            <a:prstDash val="solid"/>
          </a:ln>
        </p:spPr>
      </p:sp>
      <p:sp>
        <p:nvSpPr>
          <p:cNvPr id="28" name="Text 26"/>
          <p:cNvSpPr/>
          <p:nvPr/>
        </p:nvSpPr>
        <p:spPr>
          <a:xfrm>
            <a:off x="8311896" y="2752344"/>
            <a:ext cx="1051560" cy="182880"/>
          </a:xfrm>
          <a:prstGeom prst="rect">
            <a:avLst/>
          </a:prstGeom>
          <a:noFill/>
          <a:ln/>
        </p:spPr>
        <p:txBody>
          <a:bodyPr wrap="square" lIns="0" tIns="0" rIns="0" bIns="0" rtlCol="0" anchor="ctr"/>
          <a:lstStyle/>
          <a:p>
            <a:pPr indent="0" marL="0">
              <a:buNone/>
            </a:pPr>
            <a:r>
              <a:rPr lang="en-US" sz="750" dirty="0">
                <a:solidFill>
                  <a:srgbClr val="595959"/>
                </a:solidFill>
                <a:latin typeface="Arial" pitchFamily="34" charset="0"/>
                <a:ea typeface="Arial" pitchFamily="34" charset="-122"/>
                <a:cs typeface="Arial" pitchFamily="34" charset="-120"/>
              </a:rPr>
              <a:t>has a home in stock</a:t>
            </a:r>
            <a:endParaRPr lang="en-US" sz="750" dirty="0"/>
          </a:p>
        </p:txBody>
      </p:sp>
      <p:sp>
        <p:nvSpPr>
          <p:cNvPr id="29" name="Shape 27"/>
          <p:cNvSpPr/>
          <p:nvPr/>
        </p:nvSpPr>
        <p:spPr>
          <a:xfrm>
            <a:off x="9345168" y="2807208"/>
            <a:ext cx="82296" cy="82296"/>
          </a:xfrm>
          <a:prstGeom prst="rect">
            <a:avLst/>
          </a:prstGeom>
          <a:solidFill>
            <a:srgbClr val="B46A00"/>
          </a:solidFill>
          <a:ln w="6350">
            <a:solidFill>
              <a:srgbClr val="B46A00"/>
            </a:solidFill>
            <a:prstDash val="solid"/>
          </a:ln>
        </p:spPr>
      </p:sp>
      <p:sp>
        <p:nvSpPr>
          <p:cNvPr id="30" name="Text 28"/>
          <p:cNvSpPr/>
          <p:nvPr/>
        </p:nvSpPr>
        <p:spPr>
          <a:xfrm>
            <a:off x="9454896" y="2752344"/>
            <a:ext cx="1051560" cy="182880"/>
          </a:xfrm>
          <a:prstGeom prst="rect">
            <a:avLst/>
          </a:prstGeom>
          <a:noFill/>
          <a:ln/>
        </p:spPr>
        <p:txBody>
          <a:bodyPr wrap="square" lIns="0" tIns="0" rIns="0" bIns="0" rtlCol="0" anchor="ctr"/>
          <a:lstStyle/>
          <a:p>
            <a:pPr indent="0" marL="0">
              <a:buNone/>
            </a:pPr>
            <a:r>
              <a:rPr lang="en-US" sz="750" dirty="0">
                <a:solidFill>
                  <a:srgbClr val="595959"/>
                </a:solidFill>
                <a:latin typeface="Arial" pitchFamily="34" charset="0"/>
                <a:ea typeface="Arial" pitchFamily="34" charset="-122"/>
                <a:cs typeface="Arial" pitchFamily="34" charset="-120"/>
              </a:rPr>
              <a:t>arrives flattened</a:t>
            </a:r>
            <a:endParaRPr lang="en-US" sz="750" dirty="0"/>
          </a:p>
        </p:txBody>
      </p:sp>
      <p:sp>
        <p:nvSpPr>
          <p:cNvPr id="31" name="Shape 29"/>
          <p:cNvSpPr/>
          <p:nvPr/>
        </p:nvSpPr>
        <p:spPr>
          <a:xfrm>
            <a:off x="10488168" y="2807208"/>
            <a:ext cx="82296" cy="82296"/>
          </a:xfrm>
          <a:prstGeom prst="rect">
            <a:avLst/>
          </a:prstGeom>
          <a:solidFill>
            <a:srgbClr val="E60000"/>
          </a:solidFill>
          <a:ln w="6350">
            <a:solidFill>
              <a:srgbClr val="E60000"/>
            </a:solidFill>
            <a:prstDash val="solid"/>
          </a:ln>
        </p:spPr>
      </p:sp>
      <p:sp>
        <p:nvSpPr>
          <p:cNvPr id="32" name="Text 30"/>
          <p:cNvSpPr/>
          <p:nvPr/>
        </p:nvSpPr>
        <p:spPr>
          <a:xfrm>
            <a:off x="10597896" y="2752344"/>
            <a:ext cx="1051560" cy="182880"/>
          </a:xfrm>
          <a:prstGeom prst="rect">
            <a:avLst/>
          </a:prstGeom>
          <a:noFill/>
          <a:ln/>
        </p:spPr>
        <p:txBody>
          <a:bodyPr wrap="square" lIns="0" tIns="0" rIns="0" bIns="0" rtlCol="0" anchor="ctr"/>
          <a:lstStyle/>
          <a:p>
            <a:pPr indent="0" marL="0">
              <a:buNone/>
            </a:pPr>
            <a:r>
              <a:rPr lang="en-US" sz="750" dirty="0">
                <a:solidFill>
                  <a:srgbClr val="595959"/>
                </a:solidFill>
                <a:latin typeface="Arial" pitchFamily="34" charset="0"/>
                <a:ea typeface="Arial" pitchFamily="34" charset="-122"/>
                <a:cs typeface="Arial" pitchFamily="34" charset="-120"/>
              </a:rPr>
              <a:t>absent from stock</a:t>
            </a:r>
            <a:endParaRPr lang="en-US" sz="750" dirty="0"/>
          </a:p>
        </p:txBody>
      </p:sp>
      <p:sp>
        <p:nvSpPr>
          <p:cNvPr id="33" name="Text 31"/>
          <p:cNvSpPr/>
          <p:nvPr/>
        </p:nvSpPr>
        <p:spPr>
          <a:xfrm>
            <a:off x="4160520" y="3090672"/>
            <a:ext cx="356616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A</a:t>
            </a:r>
            <a:pPr indent="0" marL="0">
              <a:buNone/>
            </a:pPr>
            <a:r>
              <a:rPr lang="en-US" sz="950" dirty="0">
                <a:solidFill>
                  <a:srgbClr val="595959"/>
                </a:solidFill>
                <a:latin typeface="Arial" pitchFamily="34" charset="0"/>
                <a:ea typeface="Arial" pitchFamily="34" charset="-122"/>
                <a:cs typeface="Arial" pitchFamily="34" charset="-120"/>
              </a:rPr>
              <a:t>   Context</a:t>
            </a:r>
            <a:endParaRPr lang="en-US" sz="950" dirty="0"/>
          </a:p>
        </p:txBody>
      </p:sp>
      <p:sp>
        <p:nvSpPr>
          <p:cNvPr id="34" name="Text 32"/>
          <p:cNvSpPr/>
          <p:nvPr/>
        </p:nvSpPr>
        <p:spPr>
          <a:xfrm>
            <a:off x="4270248" y="3273552"/>
            <a:ext cx="3456432" cy="343814"/>
          </a:xfrm>
          <a:prstGeom prst="rect">
            <a:avLst/>
          </a:prstGeom>
          <a:noFill/>
          <a:ln/>
        </p:spPr>
        <p:txBody>
          <a:bodyPr wrap="square" lIns="0" tIns="0" rIns="0" bIns="0" rtlCol="0" anchor="t"/>
          <a:lstStyle/>
          <a:p>
            <a:pPr indent="0" marL="0">
              <a:lnSpc>
                <a:spcPct val="100000"/>
              </a:lnSpc>
              <a:buNone/>
            </a:pPr>
            <a:r>
              <a:rPr lang="en-US" sz="850" dirty="0">
                <a:solidFill>
                  <a:srgbClr val="E60000"/>
                </a:solidFill>
                <a:latin typeface="Arial" pitchFamily="34" charset="0"/>
                <a:ea typeface="Arial" pitchFamily="34" charset="-122"/>
                <a:cs typeface="Arial" pitchFamily="34" charset="-120"/>
              </a:rPr>
              <a:t>1  Purpose &amp; Current State</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2  Scope &amp; Stakeholders</a:t>
            </a:r>
            <a:endParaRPr lang="en-US" sz="850" dirty="0"/>
          </a:p>
        </p:txBody>
      </p:sp>
      <p:sp>
        <p:nvSpPr>
          <p:cNvPr id="35" name="Text 33"/>
          <p:cNvSpPr/>
          <p:nvPr/>
        </p:nvSpPr>
        <p:spPr>
          <a:xfrm>
            <a:off x="4160520" y="3690518"/>
            <a:ext cx="356616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B</a:t>
            </a:r>
            <a:pPr indent="0" marL="0">
              <a:buNone/>
            </a:pPr>
            <a:r>
              <a:rPr lang="en-US" sz="950" dirty="0">
                <a:solidFill>
                  <a:srgbClr val="595959"/>
                </a:solidFill>
                <a:latin typeface="Arial" pitchFamily="34" charset="0"/>
                <a:ea typeface="Arial" pitchFamily="34" charset="-122"/>
                <a:cs typeface="Arial" pitchFamily="34" charset="-120"/>
              </a:rPr>
              <a:t>   Behaviour</a:t>
            </a:r>
            <a:endParaRPr lang="en-US" sz="950" dirty="0"/>
          </a:p>
        </p:txBody>
      </p:sp>
      <p:sp>
        <p:nvSpPr>
          <p:cNvPr id="36" name="Text 34"/>
          <p:cNvSpPr/>
          <p:nvPr/>
        </p:nvSpPr>
        <p:spPr>
          <a:xfrm>
            <a:off x="4270248" y="3873398"/>
            <a:ext cx="3456432" cy="632765"/>
          </a:xfrm>
          <a:prstGeom prst="rect">
            <a:avLst/>
          </a:prstGeom>
          <a:noFill/>
          <a:ln/>
        </p:spPr>
        <p:txBody>
          <a:bodyPr wrap="square" lIns="0" tIns="0" rIns="0" bIns="0" rtlCol="0" anchor="t"/>
          <a:lstStyle/>
          <a:p>
            <a:pPr indent="0" marL="0">
              <a:lnSpc>
                <a:spcPct val="100000"/>
              </a:lnSpc>
              <a:buNone/>
            </a:pPr>
            <a:r>
              <a:rPr lang="en-US" sz="850" dirty="0">
                <a:solidFill>
                  <a:srgbClr val="2E7D32"/>
                </a:solidFill>
                <a:latin typeface="Arial" pitchFamily="34" charset="0"/>
                <a:ea typeface="Arial" pitchFamily="34" charset="-122"/>
                <a:cs typeface="Arial" pitchFamily="34" charset="-120"/>
              </a:rPr>
              <a:t>3  User Scenarios</a:t>
            </a:r>
            <a:endParaRPr lang="en-US" sz="850" dirty="0"/>
          </a:p>
          <a:p>
            <a:pPr indent="0" marL="0">
              <a:lnSpc>
                <a:spcPct val="100000"/>
              </a:lnSpc>
              <a:buNone/>
            </a:pPr>
            <a:r>
              <a:rPr lang="en-US" sz="850" dirty="0">
                <a:solidFill>
                  <a:srgbClr val="2E7D32"/>
                </a:solidFill>
                <a:latin typeface="Arial" pitchFamily="34" charset="0"/>
                <a:ea typeface="Arial" pitchFamily="34" charset="-122"/>
                <a:cs typeface="Arial" pitchFamily="34" charset="-120"/>
              </a:rPr>
              <a:t>4  Functional Requirements</a:t>
            </a:r>
            <a:endParaRPr lang="en-US" sz="850" dirty="0"/>
          </a:p>
          <a:p>
            <a:pPr indent="0" marL="0">
              <a:lnSpc>
                <a:spcPct val="100000"/>
              </a:lnSpc>
              <a:buNone/>
            </a:pPr>
            <a:r>
              <a:rPr lang="en-US" sz="850" dirty="0">
                <a:solidFill>
                  <a:srgbClr val="B46A00"/>
                </a:solidFill>
                <a:latin typeface="Arial" pitchFamily="34" charset="0"/>
                <a:ea typeface="Arial" pitchFamily="34" charset="-122"/>
                <a:cs typeface="Arial" pitchFamily="34" charset="-120"/>
              </a:rPr>
              <a:t>5  Data &amp; Information</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6  Delivery &amp; Presentation</a:t>
            </a:r>
            <a:endParaRPr lang="en-US" sz="850" dirty="0"/>
          </a:p>
        </p:txBody>
      </p:sp>
      <p:sp>
        <p:nvSpPr>
          <p:cNvPr id="37" name="Text 35"/>
          <p:cNvSpPr/>
          <p:nvPr/>
        </p:nvSpPr>
        <p:spPr>
          <a:xfrm>
            <a:off x="4160520" y="4579315"/>
            <a:ext cx="356616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C</a:t>
            </a:r>
            <a:pPr indent="0" marL="0">
              <a:buNone/>
            </a:pPr>
            <a:r>
              <a:rPr lang="en-US" sz="950" dirty="0">
                <a:solidFill>
                  <a:srgbClr val="595959"/>
                </a:solidFill>
                <a:latin typeface="Arial" pitchFamily="34" charset="0"/>
                <a:ea typeface="Arial" pitchFamily="34" charset="-122"/>
                <a:cs typeface="Arial" pitchFamily="34" charset="-120"/>
              </a:rPr>
              <a:t>   Quality &amp; Constraints</a:t>
            </a:r>
            <a:endParaRPr lang="en-US" sz="950" dirty="0"/>
          </a:p>
        </p:txBody>
      </p:sp>
      <p:sp>
        <p:nvSpPr>
          <p:cNvPr id="38" name="Text 36"/>
          <p:cNvSpPr/>
          <p:nvPr/>
        </p:nvSpPr>
        <p:spPr>
          <a:xfrm>
            <a:off x="4270248" y="4762195"/>
            <a:ext cx="3456432" cy="921715"/>
          </a:xfrm>
          <a:prstGeom prst="rect">
            <a:avLst/>
          </a:prstGeom>
          <a:noFill/>
          <a:ln/>
        </p:spPr>
        <p:txBody>
          <a:bodyPr wrap="square" lIns="0" tIns="0" rIns="0" bIns="0" rtlCol="0" anchor="t"/>
          <a:lstStyle/>
          <a:p>
            <a:pPr indent="0" marL="0">
              <a:lnSpc>
                <a:spcPct val="100000"/>
              </a:lnSpc>
              <a:buNone/>
            </a:pPr>
            <a:r>
              <a:rPr lang="en-US" sz="850" dirty="0">
                <a:solidFill>
                  <a:srgbClr val="B46A00"/>
                </a:solidFill>
                <a:latin typeface="Arial" pitchFamily="34" charset="0"/>
                <a:ea typeface="Arial" pitchFamily="34" charset="-122"/>
                <a:cs typeface="Arial" pitchFamily="34" charset="-120"/>
              </a:rPr>
              <a:t>7  Quality Attributes</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8  Security, Privacy &amp; Compliance</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9  Audit, Logging &amp; Retention</a:t>
            </a:r>
            <a:endParaRPr lang="en-US" sz="850" dirty="0"/>
          </a:p>
          <a:p>
            <a:pPr indent="0" marL="0">
              <a:lnSpc>
                <a:spcPct val="100000"/>
              </a:lnSpc>
              <a:buNone/>
            </a:pPr>
            <a:r>
              <a:rPr lang="en-US" sz="850" dirty="0">
                <a:solidFill>
                  <a:srgbClr val="B46A00"/>
                </a:solidFill>
                <a:latin typeface="Arial" pitchFamily="34" charset="0"/>
                <a:ea typeface="Arial" pitchFamily="34" charset="-122"/>
                <a:cs typeface="Arial" pitchFamily="34" charset="-120"/>
              </a:rPr>
              <a:t>10  Integrations &amp; Dependencies</a:t>
            </a:r>
            <a:endParaRPr lang="en-US" sz="850" dirty="0"/>
          </a:p>
          <a:p>
            <a:pPr indent="0" marL="0">
              <a:lnSpc>
                <a:spcPct val="100000"/>
              </a:lnSpc>
              <a:buNone/>
            </a:pPr>
            <a:r>
              <a:rPr lang="en-US" sz="850" dirty="0">
                <a:solidFill>
                  <a:srgbClr val="B46A00"/>
                </a:solidFill>
                <a:latin typeface="Arial" pitchFamily="34" charset="0"/>
                <a:ea typeface="Arial" pitchFamily="34" charset="-122"/>
                <a:cs typeface="Arial" pitchFamily="34" charset="-120"/>
              </a:rPr>
              <a:t>11  Failure &amp; Edge Cases</a:t>
            </a:r>
            <a:endParaRPr lang="en-US" sz="850" dirty="0"/>
          </a:p>
          <a:p>
            <a:pPr indent="0" marL="0">
              <a:lnSpc>
                <a:spcPct val="100000"/>
              </a:lnSpc>
              <a:buNone/>
            </a:pPr>
            <a:r>
              <a:rPr lang="en-US" sz="850" dirty="0">
                <a:solidFill>
                  <a:srgbClr val="B46A00"/>
                </a:solidFill>
                <a:latin typeface="Arial" pitchFamily="34" charset="0"/>
                <a:ea typeface="Arial" pitchFamily="34" charset="-122"/>
                <a:cs typeface="Arial" pitchFamily="34" charset="-120"/>
              </a:rPr>
              <a:t>12  Constraints &amp; Decisions</a:t>
            </a:r>
            <a:endParaRPr lang="en-US" sz="850" dirty="0"/>
          </a:p>
        </p:txBody>
      </p:sp>
      <p:sp>
        <p:nvSpPr>
          <p:cNvPr id="39" name="Text 37"/>
          <p:cNvSpPr/>
          <p:nvPr/>
        </p:nvSpPr>
        <p:spPr>
          <a:xfrm>
            <a:off x="7927848" y="3090672"/>
            <a:ext cx="356616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D</a:t>
            </a:r>
            <a:pPr indent="0" marL="0">
              <a:buNone/>
            </a:pPr>
            <a:r>
              <a:rPr lang="en-US" sz="950" dirty="0">
                <a:solidFill>
                  <a:srgbClr val="595959"/>
                </a:solidFill>
                <a:latin typeface="Arial" pitchFamily="34" charset="0"/>
                <a:ea typeface="Arial" pitchFamily="34" charset="-122"/>
                <a:cs typeface="Arial" pitchFamily="34" charset="-120"/>
              </a:rPr>
              <a:t>   AI Governance</a:t>
            </a:r>
            <a:endParaRPr lang="en-US" sz="950" dirty="0"/>
          </a:p>
        </p:txBody>
      </p:sp>
      <p:sp>
        <p:nvSpPr>
          <p:cNvPr id="40" name="Text 38"/>
          <p:cNvSpPr/>
          <p:nvPr/>
        </p:nvSpPr>
        <p:spPr>
          <a:xfrm>
            <a:off x="8037576" y="3273552"/>
            <a:ext cx="3456432" cy="921715"/>
          </a:xfrm>
          <a:prstGeom prst="rect">
            <a:avLst/>
          </a:prstGeom>
          <a:noFill/>
          <a:ln/>
        </p:spPr>
        <p:txBody>
          <a:bodyPr wrap="square" lIns="0" tIns="0" rIns="0" bIns="0" rtlCol="0" anchor="t"/>
          <a:lstStyle/>
          <a:p>
            <a:pPr indent="0" marL="0">
              <a:lnSpc>
                <a:spcPct val="100000"/>
              </a:lnSpc>
              <a:buNone/>
            </a:pPr>
            <a:r>
              <a:rPr lang="en-US" sz="850" dirty="0">
                <a:solidFill>
                  <a:srgbClr val="E60000"/>
                </a:solidFill>
                <a:latin typeface="Arial" pitchFamily="34" charset="0"/>
                <a:ea typeface="Arial" pitchFamily="34" charset="-122"/>
                <a:cs typeface="Arial" pitchFamily="34" charset="-120"/>
              </a:rPr>
              <a:t>13  AI Classification &amp; Justification</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14  AI Behaviour &amp; Output Validation</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15  Confidence &amp; Human Review</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16  Provenance &amp; Lineage</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17  Evaluation &amp; Test Evidence</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18  Model Lifecycle &amp; Monitoring</a:t>
            </a:r>
            <a:endParaRPr lang="en-US" sz="850" dirty="0"/>
          </a:p>
        </p:txBody>
      </p:sp>
      <p:sp>
        <p:nvSpPr>
          <p:cNvPr id="41" name="Text 39"/>
          <p:cNvSpPr/>
          <p:nvPr/>
        </p:nvSpPr>
        <p:spPr>
          <a:xfrm>
            <a:off x="7927848" y="4268419"/>
            <a:ext cx="356616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E</a:t>
            </a:r>
            <a:pPr indent="0" marL="0">
              <a:buNone/>
            </a:pPr>
            <a:r>
              <a:rPr lang="en-US" sz="950" dirty="0">
                <a:solidFill>
                  <a:srgbClr val="595959"/>
                </a:solidFill>
                <a:latin typeface="Arial" pitchFamily="34" charset="0"/>
                <a:ea typeface="Arial" pitchFamily="34" charset="-122"/>
                <a:cs typeface="Arial" pitchFamily="34" charset="-120"/>
              </a:rPr>
              <a:t>   Closure</a:t>
            </a:r>
            <a:endParaRPr lang="en-US" sz="950" dirty="0"/>
          </a:p>
        </p:txBody>
      </p:sp>
      <p:sp>
        <p:nvSpPr>
          <p:cNvPr id="42" name="Text 40"/>
          <p:cNvSpPr/>
          <p:nvPr/>
        </p:nvSpPr>
        <p:spPr>
          <a:xfrm>
            <a:off x="8037576" y="4451299"/>
            <a:ext cx="3456432" cy="343814"/>
          </a:xfrm>
          <a:prstGeom prst="rect">
            <a:avLst/>
          </a:prstGeom>
          <a:noFill/>
          <a:ln/>
        </p:spPr>
        <p:txBody>
          <a:bodyPr wrap="square" lIns="0" tIns="0" rIns="0" bIns="0" rtlCol="0" anchor="t"/>
          <a:lstStyle/>
          <a:p>
            <a:pPr indent="0" marL="0">
              <a:lnSpc>
                <a:spcPct val="100000"/>
              </a:lnSpc>
              <a:buNone/>
            </a:pPr>
            <a:r>
              <a:rPr lang="en-US" sz="850" dirty="0">
                <a:solidFill>
                  <a:srgbClr val="2E7D32"/>
                </a:solidFill>
                <a:latin typeface="Arial" pitchFamily="34" charset="0"/>
                <a:ea typeface="Arial" pitchFamily="34" charset="-122"/>
                <a:cs typeface="Arial" pitchFamily="34" charset="-120"/>
              </a:rPr>
              <a:t>19  Acceptance Criteria</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20  Open Items &amp; Risks</a:t>
            </a:r>
            <a:endParaRPr lang="en-US" sz="850" dirty="0"/>
          </a:p>
        </p:txBody>
      </p:sp>
      <p:sp>
        <p:nvSpPr>
          <p:cNvPr id="43" name="Text 41"/>
          <p:cNvSpPr/>
          <p:nvPr/>
        </p:nvSpPr>
        <p:spPr>
          <a:xfrm>
            <a:off x="7927848" y="4868266"/>
            <a:ext cx="356616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Appendices</a:t>
            </a:r>
            <a:pPr indent="0" marL="0">
              <a:buNone/>
            </a:pPr>
            <a:endParaRPr lang="en-US" sz="950" dirty="0"/>
          </a:p>
        </p:txBody>
      </p:sp>
      <p:sp>
        <p:nvSpPr>
          <p:cNvPr id="44" name="Text 42"/>
          <p:cNvSpPr/>
          <p:nvPr/>
        </p:nvSpPr>
        <p:spPr>
          <a:xfrm>
            <a:off x="8037576" y="5051146"/>
            <a:ext cx="3456432" cy="343814"/>
          </a:xfrm>
          <a:prstGeom prst="rect">
            <a:avLst/>
          </a:prstGeom>
          <a:noFill/>
          <a:ln/>
        </p:spPr>
        <p:txBody>
          <a:bodyPr wrap="square" lIns="0" tIns="0" rIns="0" bIns="0" rtlCol="0" anchor="t"/>
          <a:lstStyle/>
          <a:p>
            <a:pPr indent="0" marL="0">
              <a:lnSpc>
                <a:spcPct val="100000"/>
              </a:lnSpc>
              <a:buNone/>
            </a:pPr>
            <a:r>
              <a:rPr lang="en-US" sz="850" dirty="0">
                <a:solidFill>
                  <a:srgbClr val="E60000"/>
                </a:solidFill>
                <a:latin typeface="Arial" pitchFamily="34" charset="0"/>
                <a:ea typeface="Arial" pitchFamily="34" charset="-122"/>
                <a:cs typeface="Arial" pitchFamily="34" charset="-120"/>
              </a:rPr>
              <a:t>A  Glossary</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B  Compliance Mapping</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LIFECYCLE OVERVIEW</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Five Stages, Ending in One Document</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Depth is not chosen up front. Every use case starts with the same one-hour interview, and only extends if it needs to.</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Lifecycle Overview</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3 / 12</a:t>
            </a:r>
            <a:endParaRPr lang="en-US" sz="800" dirty="0"/>
          </a:p>
        </p:txBody>
      </p:sp>
      <p:sp>
        <p:nvSpPr>
          <p:cNvPr id="7" name="Shape 5"/>
          <p:cNvSpPr/>
          <p:nvPr/>
        </p:nvSpPr>
        <p:spPr>
          <a:xfrm>
            <a:off x="548640" y="1572768"/>
            <a:ext cx="2029968" cy="3383280"/>
          </a:xfrm>
          <a:prstGeom prst="rect">
            <a:avLst/>
          </a:prstGeom>
          <a:solidFill>
            <a:srgbClr val="F0F0F0"/>
          </a:solidFill>
          <a:ln w="12700">
            <a:solidFill>
              <a:srgbClr val="D0D0D0"/>
            </a:solidFill>
            <a:prstDash val="solid"/>
          </a:ln>
        </p:spPr>
      </p:sp>
      <p:sp>
        <p:nvSpPr>
          <p:cNvPr id="8" name="Shape 6"/>
          <p:cNvSpPr/>
          <p:nvPr/>
        </p:nvSpPr>
        <p:spPr>
          <a:xfrm>
            <a:off x="713232" y="1755648"/>
            <a:ext cx="384048" cy="384048"/>
          </a:xfrm>
          <a:prstGeom prst="ellipse">
            <a:avLst/>
          </a:prstGeom>
          <a:solidFill>
            <a:srgbClr val="0B5394"/>
          </a:solidFill>
          <a:ln w="12700">
            <a:solidFill>
              <a:srgbClr val="0B5394"/>
            </a:solidFill>
            <a:prstDash val="solid"/>
          </a:ln>
        </p:spPr>
      </p:sp>
      <p:sp>
        <p:nvSpPr>
          <p:cNvPr id="9" name="Text 7"/>
          <p:cNvSpPr/>
          <p:nvPr/>
        </p:nvSpPr>
        <p:spPr>
          <a:xfrm>
            <a:off x="713232" y="181051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713232" y="2231136"/>
            <a:ext cx="1700784"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Register</a:t>
            </a:r>
            <a:endParaRPr lang="en-US" sz="1200" dirty="0"/>
          </a:p>
        </p:txBody>
      </p:sp>
      <p:sp>
        <p:nvSpPr>
          <p:cNvPr id="11" name="Text 9"/>
          <p:cNvSpPr/>
          <p:nvPr/>
        </p:nvSpPr>
        <p:spPr>
          <a:xfrm>
            <a:off x="713232" y="2743200"/>
            <a:ext cx="1700784" cy="137160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Business and IT submit the use case. Formal registration applies once the use case is prioritised, not at idea stage.</a:t>
            </a:r>
            <a:endParaRPr lang="en-US" sz="850" dirty="0"/>
          </a:p>
        </p:txBody>
      </p:sp>
      <p:sp>
        <p:nvSpPr>
          <p:cNvPr id="12" name="Text 10"/>
          <p:cNvSpPr/>
          <p:nvPr/>
        </p:nvSpPr>
        <p:spPr>
          <a:xfrm>
            <a:off x="713232" y="4270248"/>
            <a:ext cx="170078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ACCOUNTABLE</a:t>
            </a:r>
            <a:endParaRPr lang="en-US" sz="850" dirty="0"/>
          </a:p>
        </p:txBody>
      </p:sp>
      <p:sp>
        <p:nvSpPr>
          <p:cNvPr id="13" name="Text 11"/>
          <p:cNvSpPr/>
          <p:nvPr/>
        </p:nvSpPr>
        <p:spPr>
          <a:xfrm>
            <a:off x="713232" y="4434840"/>
            <a:ext cx="1700784" cy="384048"/>
          </a:xfrm>
          <a:prstGeom prst="rect">
            <a:avLst/>
          </a:prstGeom>
          <a:noFill/>
          <a:ln/>
        </p:spPr>
        <p:txBody>
          <a:bodyPr wrap="square" lIns="0" tIns="0" rIns="0" bIns="0" rtlCol="0" anchor="ctr"/>
          <a:lstStyle/>
          <a:p>
            <a:pPr indent="0" marL="0">
              <a:buNone/>
            </a:pPr>
            <a:r>
              <a:rPr lang="en-US" sz="850" b="1" dirty="0">
                <a:solidFill>
                  <a:srgbClr val="000000"/>
                </a:solidFill>
                <a:latin typeface="Arial" pitchFamily="34" charset="0"/>
                <a:ea typeface="Arial" pitchFamily="34" charset="-122"/>
                <a:cs typeface="Arial" pitchFamily="34" charset="-120"/>
              </a:rPr>
              <a:t>Business Owner</a:t>
            </a:r>
            <a:endParaRPr lang="en-US" sz="850" dirty="0"/>
          </a:p>
        </p:txBody>
      </p:sp>
      <p:sp>
        <p:nvSpPr>
          <p:cNvPr id="14" name="Text 12"/>
          <p:cNvSpPr/>
          <p:nvPr/>
        </p:nvSpPr>
        <p:spPr>
          <a:xfrm>
            <a:off x="2596896" y="2990088"/>
            <a:ext cx="219456" cy="274320"/>
          </a:xfrm>
          <a:prstGeom prst="rect">
            <a:avLst/>
          </a:prstGeom>
          <a:noFill/>
          <a:ln/>
        </p:spPr>
        <p:txBody>
          <a:bodyPr wrap="square" lIns="0" tIns="0" rIns="0" bIns="0" rtlCol="0" anchor="ctr"/>
          <a:lstStyle/>
          <a:p>
            <a:pPr algn="ctr" indent="0" marL="0">
              <a:buNone/>
            </a:pPr>
            <a:r>
              <a:rPr lang="en-US" sz="1500" b="1" dirty="0">
                <a:solidFill>
                  <a:srgbClr val="D0D0D0"/>
                </a:solidFill>
                <a:latin typeface="Arial" pitchFamily="34" charset="0"/>
                <a:ea typeface="Arial" pitchFamily="34" charset="-122"/>
                <a:cs typeface="Arial" pitchFamily="34" charset="-120"/>
              </a:rPr>
              <a:t>&gt;</a:t>
            </a:r>
            <a:endParaRPr lang="en-US" sz="1500" dirty="0"/>
          </a:p>
        </p:txBody>
      </p:sp>
      <p:sp>
        <p:nvSpPr>
          <p:cNvPr id="15" name="Shape 13"/>
          <p:cNvSpPr/>
          <p:nvPr/>
        </p:nvSpPr>
        <p:spPr>
          <a:xfrm>
            <a:off x="2816352" y="1572768"/>
            <a:ext cx="2029968" cy="3383280"/>
          </a:xfrm>
          <a:prstGeom prst="rect">
            <a:avLst/>
          </a:prstGeom>
          <a:solidFill>
            <a:srgbClr val="F0F0F0"/>
          </a:solidFill>
          <a:ln w="12700">
            <a:solidFill>
              <a:srgbClr val="D0D0D0"/>
            </a:solidFill>
            <a:prstDash val="solid"/>
          </a:ln>
        </p:spPr>
      </p:sp>
      <p:sp>
        <p:nvSpPr>
          <p:cNvPr id="16" name="Shape 14"/>
          <p:cNvSpPr/>
          <p:nvPr/>
        </p:nvSpPr>
        <p:spPr>
          <a:xfrm>
            <a:off x="2980944" y="1755648"/>
            <a:ext cx="384048" cy="384048"/>
          </a:xfrm>
          <a:prstGeom prst="ellipse">
            <a:avLst/>
          </a:prstGeom>
          <a:solidFill>
            <a:srgbClr val="0B5394"/>
          </a:solidFill>
          <a:ln w="12700">
            <a:solidFill>
              <a:srgbClr val="0B5394"/>
            </a:solidFill>
            <a:prstDash val="solid"/>
          </a:ln>
        </p:spPr>
      </p:sp>
      <p:sp>
        <p:nvSpPr>
          <p:cNvPr id="17" name="Text 15"/>
          <p:cNvSpPr/>
          <p:nvPr/>
        </p:nvSpPr>
        <p:spPr>
          <a:xfrm>
            <a:off x="2980944" y="181051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8" name="Text 16"/>
          <p:cNvSpPr/>
          <p:nvPr/>
        </p:nvSpPr>
        <p:spPr>
          <a:xfrm>
            <a:off x="2980944" y="2231136"/>
            <a:ext cx="1700784"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Define Business Case</a:t>
            </a:r>
            <a:endParaRPr lang="en-US" sz="1200" dirty="0"/>
          </a:p>
        </p:txBody>
      </p:sp>
      <p:sp>
        <p:nvSpPr>
          <p:cNvPr id="19" name="Text 17"/>
          <p:cNvSpPr/>
          <p:nvPr/>
        </p:nvSpPr>
        <p:spPr>
          <a:xfrm>
            <a:off x="2980944" y="2743200"/>
            <a:ext cx="1700784" cy="137160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The Business Use Case Template captures background, value, and prioritisation. It is context, not a technical requirement.</a:t>
            </a:r>
            <a:endParaRPr lang="en-US" sz="850" dirty="0"/>
          </a:p>
        </p:txBody>
      </p:sp>
      <p:sp>
        <p:nvSpPr>
          <p:cNvPr id="20" name="Text 18"/>
          <p:cNvSpPr/>
          <p:nvPr/>
        </p:nvSpPr>
        <p:spPr>
          <a:xfrm>
            <a:off x="2980944" y="4270248"/>
            <a:ext cx="170078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ACCOUNTABLE</a:t>
            </a:r>
            <a:endParaRPr lang="en-US" sz="850" dirty="0"/>
          </a:p>
        </p:txBody>
      </p:sp>
      <p:sp>
        <p:nvSpPr>
          <p:cNvPr id="21" name="Text 19"/>
          <p:cNvSpPr/>
          <p:nvPr/>
        </p:nvSpPr>
        <p:spPr>
          <a:xfrm>
            <a:off x="2980944" y="4434840"/>
            <a:ext cx="1700784" cy="384048"/>
          </a:xfrm>
          <a:prstGeom prst="rect">
            <a:avLst/>
          </a:prstGeom>
          <a:noFill/>
          <a:ln/>
        </p:spPr>
        <p:txBody>
          <a:bodyPr wrap="square" lIns="0" tIns="0" rIns="0" bIns="0" rtlCol="0" anchor="ctr"/>
          <a:lstStyle/>
          <a:p>
            <a:pPr indent="0" marL="0">
              <a:buNone/>
            </a:pPr>
            <a:r>
              <a:rPr lang="en-US" sz="850" b="1" dirty="0">
                <a:solidFill>
                  <a:srgbClr val="000000"/>
                </a:solidFill>
                <a:latin typeface="Arial" pitchFamily="34" charset="0"/>
                <a:ea typeface="Arial" pitchFamily="34" charset="-122"/>
                <a:cs typeface="Arial" pitchFamily="34" charset="-120"/>
              </a:rPr>
              <a:t>Business Owner</a:t>
            </a:r>
            <a:endParaRPr lang="en-US" sz="850" dirty="0"/>
          </a:p>
        </p:txBody>
      </p:sp>
      <p:sp>
        <p:nvSpPr>
          <p:cNvPr id="22" name="Text 20"/>
          <p:cNvSpPr/>
          <p:nvPr/>
        </p:nvSpPr>
        <p:spPr>
          <a:xfrm>
            <a:off x="4864608" y="2990088"/>
            <a:ext cx="219456" cy="274320"/>
          </a:xfrm>
          <a:prstGeom prst="rect">
            <a:avLst/>
          </a:prstGeom>
          <a:noFill/>
          <a:ln/>
        </p:spPr>
        <p:txBody>
          <a:bodyPr wrap="square" lIns="0" tIns="0" rIns="0" bIns="0" rtlCol="0" anchor="ctr"/>
          <a:lstStyle/>
          <a:p>
            <a:pPr algn="ctr" indent="0" marL="0">
              <a:buNone/>
            </a:pPr>
            <a:r>
              <a:rPr lang="en-US" sz="1500" b="1" dirty="0">
                <a:solidFill>
                  <a:srgbClr val="D0D0D0"/>
                </a:solidFill>
                <a:latin typeface="Arial" pitchFamily="34" charset="0"/>
                <a:ea typeface="Arial" pitchFamily="34" charset="-122"/>
                <a:cs typeface="Arial" pitchFamily="34" charset="-120"/>
              </a:rPr>
              <a:t>&gt;</a:t>
            </a:r>
            <a:endParaRPr lang="en-US" sz="1500" dirty="0"/>
          </a:p>
        </p:txBody>
      </p:sp>
      <p:sp>
        <p:nvSpPr>
          <p:cNvPr id="23" name="Shape 21"/>
          <p:cNvSpPr/>
          <p:nvPr/>
        </p:nvSpPr>
        <p:spPr>
          <a:xfrm>
            <a:off x="5084064" y="1572768"/>
            <a:ext cx="2029968" cy="3383280"/>
          </a:xfrm>
          <a:prstGeom prst="rect">
            <a:avLst/>
          </a:prstGeom>
          <a:solidFill>
            <a:srgbClr val="F0F0F0"/>
          </a:solidFill>
          <a:ln w="12700">
            <a:solidFill>
              <a:srgbClr val="D0D0D0"/>
            </a:solidFill>
            <a:prstDash val="solid"/>
          </a:ln>
        </p:spPr>
      </p:sp>
      <p:sp>
        <p:nvSpPr>
          <p:cNvPr id="24" name="Shape 22"/>
          <p:cNvSpPr/>
          <p:nvPr/>
        </p:nvSpPr>
        <p:spPr>
          <a:xfrm>
            <a:off x="5248656" y="1755648"/>
            <a:ext cx="384048" cy="384048"/>
          </a:xfrm>
          <a:prstGeom prst="ellipse">
            <a:avLst/>
          </a:prstGeom>
          <a:solidFill>
            <a:srgbClr val="0B5394"/>
          </a:solidFill>
          <a:ln w="12700">
            <a:solidFill>
              <a:srgbClr val="0B5394"/>
            </a:solidFill>
            <a:prstDash val="solid"/>
          </a:ln>
        </p:spPr>
      </p:sp>
      <p:sp>
        <p:nvSpPr>
          <p:cNvPr id="25" name="Text 23"/>
          <p:cNvSpPr/>
          <p:nvPr/>
        </p:nvSpPr>
        <p:spPr>
          <a:xfrm>
            <a:off x="5248656" y="181051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4"/>
          <p:cNvSpPr/>
          <p:nvPr/>
        </p:nvSpPr>
        <p:spPr>
          <a:xfrm>
            <a:off x="5248656" y="2231136"/>
            <a:ext cx="1700784"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First Interview</a:t>
            </a:r>
            <a:endParaRPr lang="en-US" sz="1200" dirty="0"/>
          </a:p>
        </p:txBody>
      </p:sp>
      <p:sp>
        <p:nvSpPr>
          <p:cNvPr id="27" name="Text 25"/>
          <p:cNvSpPr/>
          <p:nvPr/>
        </p:nvSpPr>
        <p:spPr>
          <a:xfrm>
            <a:off x="5248656" y="2743200"/>
            <a:ext cx="1700784" cy="137160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One hour with the business, in Teams. The same conversation for every use case, whatever depth it eventually reaches.</a:t>
            </a:r>
            <a:endParaRPr lang="en-US" sz="850" dirty="0"/>
          </a:p>
        </p:txBody>
      </p:sp>
      <p:sp>
        <p:nvSpPr>
          <p:cNvPr id="28" name="Text 26"/>
          <p:cNvSpPr/>
          <p:nvPr/>
        </p:nvSpPr>
        <p:spPr>
          <a:xfrm>
            <a:off x="5248656" y="4270248"/>
            <a:ext cx="170078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ACCOUNTABLE</a:t>
            </a:r>
            <a:endParaRPr lang="en-US" sz="850" dirty="0"/>
          </a:p>
        </p:txBody>
      </p:sp>
      <p:sp>
        <p:nvSpPr>
          <p:cNvPr id="29" name="Text 27"/>
          <p:cNvSpPr/>
          <p:nvPr/>
        </p:nvSpPr>
        <p:spPr>
          <a:xfrm>
            <a:off x="5248656" y="4434840"/>
            <a:ext cx="1700784" cy="384048"/>
          </a:xfrm>
          <a:prstGeom prst="rect">
            <a:avLst/>
          </a:prstGeom>
          <a:noFill/>
          <a:ln/>
        </p:spPr>
        <p:txBody>
          <a:bodyPr wrap="square" lIns="0" tIns="0" rIns="0" bIns="0" rtlCol="0" anchor="ctr"/>
          <a:lstStyle/>
          <a:p>
            <a:pPr indent="0" marL="0">
              <a:buNone/>
            </a:pPr>
            <a:r>
              <a:rPr lang="en-US" sz="850" b="1" dirty="0">
                <a:solidFill>
                  <a:srgbClr val="000000"/>
                </a:solidFill>
                <a:latin typeface="Arial" pitchFamily="34" charset="0"/>
                <a:ea typeface="Arial" pitchFamily="34" charset="-122"/>
                <a:cs typeface="Arial" pitchFamily="34" charset="-120"/>
              </a:rPr>
              <a:t>Tech + Business Owner</a:t>
            </a:r>
            <a:endParaRPr lang="en-US" sz="850" dirty="0"/>
          </a:p>
        </p:txBody>
      </p:sp>
      <p:sp>
        <p:nvSpPr>
          <p:cNvPr id="30" name="Text 28"/>
          <p:cNvSpPr/>
          <p:nvPr/>
        </p:nvSpPr>
        <p:spPr>
          <a:xfrm>
            <a:off x="7132320" y="2990088"/>
            <a:ext cx="219456" cy="274320"/>
          </a:xfrm>
          <a:prstGeom prst="rect">
            <a:avLst/>
          </a:prstGeom>
          <a:noFill/>
          <a:ln/>
        </p:spPr>
        <p:txBody>
          <a:bodyPr wrap="square" lIns="0" tIns="0" rIns="0" bIns="0" rtlCol="0" anchor="ctr"/>
          <a:lstStyle/>
          <a:p>
            <a:pPr algn="ctr" indent="0" marL="0">
              <a:buNone/>
            </a:pPr>
            <a:r>
              <a:rPr lang="en-US" sz="1500" b="1" dirty="0">
                <a:solidFill>
                  <a:srgbClr val="D0D0D0"/>
                </a:solidFill>
                <a:latin typeface="Arial" pitchFamily="34" charset="0"/>
                <a:ea typeface="Arial" pitchFamily="34" charset="-122"/>
                <a:cs typeface="Arial" pitchFamily="34" charset="-120"/>
              </a:rPr>
              <a:t>&gt;</a:t>
            </a:r>
            <a:endParaRPr lang="en-US" sz="1500" dirty="0"/>
          </a:p>
        </p:txBody>
      </p:sp>
      <p:sp>
        <p:nvSpPr>
          <p:cNvPr id="31" name="Shape 29"/>
          <p:cNvSpPr/>
          <p:nvPr/>
        </p:nvSpPr>
        <p:spPr>
          <a:xfrm>
            <a:off x="7351776" y="1572768"/>
            <a:ext cx="2029968" cy="3383280"/>
          </a:xfrm>
          <a:prstGeom prst="rect">
            <a:avLst/>
          </a:prstGeom>
          <a:solidFill>
            <a:srgbClr val="FFF3F3"/>
          </a:solidFill>
          <a:ln w="12700">
            <a:solidFill>
              <a:srgbClr val="D0D0D0"/>
            </a:solidFill>
            <a:prstDash val="solid"/>
          </a:ln>
        </p:spPr>
      </p:sp>
      <p:sp>
        <p:nvSpPr>
          <p:cNvPr id="32" name="Shape 30"/>
          <p:cNvSpPr/>
          <p:nvPr/>
        </p:nvSpPr>
        <p:spPr>
          <a:xfrm>
            <a:off x="7516368" y="1755648"/>
            <a:ext cx="384048" cy="384048"/>
          </a:xfrm>
          <a:prstGeom prst="ellipse">
            <a:avLst/>
          </a:prstGeom>
          <a:solidFill>
            <a:srgbClr val="CC0000"/>
          </a:solidFill>
          <a:ln w="12700">
            <a:solidFill>
              <a:srgbClr val="CC0000"/>
            </a:solidFill>
            <a:prstDash val="solid"/>
          </a:ln>
        </p:spPr>
      </p:sp>
      <p:sp>
        <p:nvSpPr>
          <p:cNvPr id="33" name="Text 31"/>
          <p:cNvSpPr/>
          <p:nvPr/>
        </p:nvSpPr>
        <p:spPr>
          <a:xfrm>
            <a:off x="7516368" y="181051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4" name="Text 32"/>
          <p:cNvSpPr/>
          <p:nvPr/>
        </p:nvSpPr>
        <p:spPr>
          <a:xfrm>
            <a:off x="7516368" y="2231136"/>
            <a:ext cx="1700784"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Requirements Document</a:t>
            </a:r>
            <a:endParaRPr lang="en-US" sz="1200" dirty="0"/>
          </a:p>
        </p:txBody>
      </p:sp>
      <p:sp>
        <p:nvSpPr>
          <p:cNvPr id="35" name="Text 33"/>
          <p:cNvSpPr/>
          <p:nvPr/>
        </p:nvSpPr>
        <p:spPr>
          <a:xfrm>
            <a:off x="7516368" y="2743200"/>
            <a:ext cx="1700784" cy="137160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The Lightweight specification, in Word. Already enough for a high-level estimate or a proof-of-concept decision.</a:t>
            </a:r>
            <a:endParaRPr lang="en-US" sz="850" dirty="0"/>
          </a:p>
        </p:txBody>
      </p:sp>
      <p:sp>
        <p:nvSpPr>
          <p:cNvPr id="36" name="Text 34"/>
          <p:cNvSpPr/>
          <p:nvPr/>
        </p:nvSpPr>
        <p:spPr>
          <a:xfrm>
            <a:off x="7516368" y="4270248"/>
            <a:ext cx="170078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ACCOUNTABLE</a:t>
            </a:r>
            <a:endParaRPr lang="en-US" sz="850" dirty="0"/>
          </a:p>
        </p:txBody>
      </p:sp>
      <p:sp>
        <p:nvSpPr>
          <p:cNvPr id="37" name="Text 35"/>
          <p:cNvSpPr/>
          <p:nvPr/>
        </p:nvSpPr>
        <p:spPr>
          <a:xfrm>
            <a:off x="7516368" y="4434840"/>
            <a:ext cx="1700784" cy="384048"/>
          </a:xfrm>
          <a:prstGeom prst="rect">
            <a:avLst/>
          </a:prstGeom>
          <a:noFill/>
          <a:ln/>
        </p:spPr>
        <p:txBody>
          <a:bodyPr wrap="square" lIns="0" tIns="0" rIns="0" bIns="0" rtlCol="0" anchor="ctr"/>
          <a:lstStyle/>
          <a:p>
            <a:pPr indent="0" marL="0">
              <a:buNone/>
            </a:pPr>
            <a:r>
              <a:rPr lang="en-US" sz="850" b="1" dirty="0">
                <a:solidFill>
                  <a:srgbClr val="000000"/>
                </a:solidFill>
                <a:latin typeface="Arial" pitchFamily="34" charset="0"/>
                <a:ea typeface="Arial" pitchFamily="34" charset="-122"/>
                <a:cs typeface="Arial" pitchFamily="34" charset="-120"/>
              </a:rPr>
              <a:t>Tech + Business Owner</a:t>
            </a:r>
            <a:endParaRPr lang="en-US" sz="850" dirty="0"/>
          </a:p>
        </p:txBody>
      </p:sp>
      <p:sp>
        <p:nvSpPr>
          <p:cNvPr id="38" name="Text 36"/>
          <p:cNvSpPr/>
          <p:nvPr/>
        </p:nvSpPr>
        <p:spPr>
          <a:xfrm>
            <a:off x="9400032" y="2990088"/>
            <a:ext cx="219456" cy="274320"/>
          </a:xfrm>
          <a:prstGeom prst="rect">
            <a:avLst/>
          </a:prstGeom>
          <a:noFill/>
          <a:ln/>
        </p:spPr>
        <p:txBody>
          <a:bodyPr wrap="square" lIns="0" tIns="0" rIns="0" bIns="0" rtlCol="0" anchor="ctr"/>
          <a:lstStyle/>
          <a:p>
            <a:pPr algn="ctr" indent="0" marL="0">
              <a:buNone/>
            </a:pPr>
            <a:r>
              <a:rPr lang="en-US" sz="1500" b="1" dirty="0">
                <a:solidFill>
                  <a:srgbClr val="D0D0D0"/>
                </a:solidFill>
                <a:latin typeface="Arial" pitchFamily="34" charset="0"/>
                <a:ea typeface="Arial" pitchFamily="34" charset="-122"/>
                <a:cs typeface="Arial" pitchFamily="34" charset="-120"/>
              </a:rPr>
              <a:t>&gt;</a:t>
            </a:r>
            <a:endParaRPr lang="en-US" sz="1500" dirty="0"/>
          </a:p>
        </p:txBody>
      </p:sp>
      <p:sp>
        <p:nvSpPr>
          <p:cNvPr id="39" name="Shape 37"/>
          <p:cNvSpPr/>
          <p:nvPr/>
        </p:nvSpPr>
        <p:spPr>
          <a:xfrm>
            <a:off x="9619488" y="1572768"/>
            <a:ext cx="2029968" cy="3383280"/>
          </a:xfrm>
          <a:prstGeom prst="rect">
            <a:avLst/>
          </a:prstGeom>
          <a:solidFill>
            <a:srgbClr val="F0F0F0"/>
          </a:solidFill>
          <a:ln w="12700">
            <a:solidFill>
              <a:srgbClr val="D0D0D0"/>
            </a:solidFill>
            <a:prstDash val="solid"/>
          </a:ln>
        </p:spPr>
      </p:sp>
      <p:sp>
        <p:nvSpPr>
          <p:cNvPr id="40" name="Shape 38"/>
          <p:cNvSpPr/>
          <p:nvPr/>
        </p:nvSpPr>
        <p:spPr>
          <a:xfrm>
            <a:off x="9784080" y="1755648"/>
            <a:ext cx="384048" cy="384048"/>
          </a:xfrm>
          <a:prstGeom prst="ellipse">
            <a:avLst/>
          </a:prstGeom>
          <a:solidFill>
            <a:srgbClr val="0B5394"/>
          </a:solidFill>
          <a:ln w="12700">
            <a:solidFill>
              <a:srgbClr val="0B5394"/>
            </a:solidFill>
            <a:prstDash val="solid"/>
          </a:ln>
        </p:spPr>
      </p:sp>
      <p:sp>
        <p:nvSpPr>
          <p:cNvPr id="41" name="Text 39"/>
          <p:cNvSpPr/>
          <p:nvPr/>
        </p:nvSpPr>
        <p:spPr>
          <a:xfrm>
            <a:off x="9784080" y="181051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2" name="Text 40"/>
          <p:cNvSpPr/>
          <p:nvPr/>
        </p:nvSpPr>
        <p:spPr>
          <a:xfrm>
            <a:off x="9784080" y="2231136"/>
            <a:ext cx="1700784"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Extend by Depth</a:t>
            </a:r>
            <a:endParaRPr lang="en-US" sz="1200" dirty="0"/>
          </a:p>
        </p:txBody>
      </p:sp>
      <p:sp>
        <p:nvSpPr>
          <p:cNvPr id="43" name="Text 41"/>
          <p:cNvSpPr/>
          <p:nvPr/>
        </p:nvSpPr>
        <p:spPr>
          <a:xfrm>
            <a:off x="9784080" y="2743200"/>
            <a:ext cx="1700784" cy="137160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Only if needed. One further day for Standard, three days to a week for Exhaustive, each extending the same document.</a:t>
            </a:r>
            <a:endParaRPr lang="en-US" sz="850" dirty="0"/>
          </a:p>
        </p:txBody>
      </p:sp>
      <p:sp>
        <p:nvSpPr>
          <p:cNvPr id="44" name="Text 42"/>
          <p:cNvSpPr/>
          <p:nvPr/>
        </p:nvSpPr>
        <p:spPr>
          <a:xfrm>
            <a:off x="9784080" y="4270248"/>
            <a:ext cx="170078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ACCOUNTABLE</a:t>
            </a:r>
            <a:endParaRPr lang="en-US" sz="850" dirty="0"/>
          </a:p>
        </p:txBody>
      </p:sp>
      <p:sp>
        <p:nvSpPr>
          <p:cNvPr id="45" name="Text 43"/>
          <p:cNvSpPr/>
          <p:nvPr/>
        </p:nvSpPr>
        <p:spPr>
          <a:xfrm>
            <a:off x="9784080" y="4434840"/>
            <a:ext cx="1700784" cy="384048"/>
          </a:xfrm>
          <a:prstGeom prst="rect">
            <a:avLst/>
          </a:prstGeom>
          <a:noFill/>
          <a:ln/>
        </p:spPr>
        <p:txBody>
          <a:bodyPr wrap="square" lIns="0" tIns="0" rIns="0" bIns="0" rtlCol="0" anchor="ctr"/>
          <a:lstStyle/>
          <a:p>
            <a:pPr indent="0" marL="0">
              <a:buNone/>
            </a:pPr>
            <a:r>
              <a:rPr lang="en-US" sz="850" b="1" dirty="0">
                <a:solidFill>
                  <a:srgbClr val="000000"/>
                </a:solidFill>
                <a:latin typeface="Arial" pitchFamily="34" charset="0"/>
                <a:ea typeface="Arial" pitchFamily="34" charset="-122"/>
                <a:cs typeface="Arial" pitchFamily="34" charset="-120"/>
              </a:rPr>
              <a:t>Tech + Business Owner</a:t>
            </a:r>
            <a:endParaRPr lang="en-US" sz="850" dirty="0"/>
          </a:p>
        </p:txBody>
      </p:sp>
      <p:sp>
        <p:nvSpPr>
          <p:cNvPr id="46" name="Shape 44"/>
          <p:cNvSpPr/>
          <p:nvPr/>
        </p:nvSpPr>
        <p:spPr>
          <a:xfrm>
            <a:off x="548640" y="5138928"/>
            <a:ext cx="11091672" cy="603504"/>
          </a:xfrm>
          <a:prstGeom prst="rect">
            <a:avLst/>
          </a:prstGeom>
          <a:solidFill>
            <a:srgbClr val="FFF3F3"/>
          </a:solidFill>
          <a:ln w="12700">
            <a:solidFill>
              <a:srgbClr val="D0D0D0"/>
            </a:solidFill>
            <a:prstDash val="solid"/>
          </a:ln>
        </p:spPr>
      </p:sp>
      <p:sp>
        <p:nvSpPr>
          <p:cNvPr id="47" name="Text 45"/>
          <p:cNvSpPr/>
          <p:nvPr/>
        </p:nvSpPr>
        <p:spPr>
          <a:xfrm>
            <a:off x="749808" y="5248656"/>
            <a:ext cx="10689336" cy="384048"/>
          </a:xfrm>
          <a:prstGeom prst="rect">
            <a:avLst/>
          </a:prstGeom>
          <a:noFill/>
          <a:ln/>
        </p:spPr>
        <p:txBody>
          <a:bodyPr wrap="square" lIns="0" tIns="0" rIns="0" bIns="0" rtlCol="0" anchor="ctr"/>
          <a:lstStyle/>
          <a:p>
            <a:pPr indent="0" marL="0">
              <a:buNone/>
            </a:pPr>
            <a:r>
              <a:rPr lang="en-US" sz="1100" b="1" dirty="0">
                <a:solidFill>
                  <a:srgbClr val="CC0000"/>
                </a:solidFill>
                <a:latin typeface="Arial" pitchFamily="34" charset="0"/>
                <a:ea typeface="Arial" pitchFamily="34" charset="-122"/>
                <a:cs typeface="Arial" pitchFamily="34" charset="-120"/>
              </a:rPr>
              <a:t>Stage 4 is the deliverable. Stage 5 extends it, and a use case may stop at any depth.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STAGES 3 TO 5: THE INTERVIEW</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One Ladder: Start Lightweight, Extend Only If You Need To</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Each rung is an interview followed by a document. A later rung never restarts the work, it extends the document the rung before produced.</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The Interview Ladder</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4 / 12</a:t>
            </a:r>
            <a:endParaRPr lang="en-US" sz="800" dirty="0"/>
          </a:p>
        </p:txBody>
      </p:sp>
      <p:sp>
        <p:nvSpPr>
          <p:cNvPr id="7" name="Shape 5"/>
          <p:cNvSpPr/>
          <p:nvPr/>
        </p:nvSpPr>
        <p:spPr>
          <a:xfrm>
            <a:off x="548640" y="1481328"/>
            <a:ext cx="3511296" cy="3310128"/>
          </a:xfrm>
          <a:prstGeom prst="rect">
            <a:avLst/>
          </a:prstGeom>
          <a:solidFill>
            <a:srgbClr val="F0F0F0"/>
          </a:solidFill>
          <a:ln w="12700">
            <a:solidFill>
              <a:srgbClr val="D0D0D0"/>
            </a:solidFill>
            <a:prstDash val="solid"/>
          </a:ln>
        </p:spPr>
      </p:sp>
      <p:sp>
        <p:nvSpPr>
          <p:cNvPr id="8" name="Text 6"/>
          <p:cNvSpPr/>
          <p:nvPr/>
        </p:nvSpPr>
        <p:spPr>
          <a:xfrm>
            <a:off x="731520" y="1627632"/>
            <a:ext cx="3145536" cy="182880"/>
          </a:xfrm>
          <a:prstGeom prst="rect">
            <a:avLst/>
          </a:prstGeom>
          <a:noFill/>
          <a:ln/>
        </p:spPr>
        <p:txBody>
          <a:bodyPr wrap="square" lIns="0" tIns="0" rIns="0" bIns="0" rtlCol="0" anchor="ctr"/>
          <a:lstStyle/>
          <a:p>
            <a:pPr indent="0" marL="0">
              <a:buNone/>
            </a:pPr>
            <a:r>
              <a:rPr lang="en-US" sz="850" b="1" spc="150" kern="0" dirty="0">
                <a:solidFill>
                  <a:srgbClr val="0B5394"/>
                </a:solidFill>
                <a:latin typeface="Arial" pitchFamily="34" charset="0"/>
                <a:ea typeface="Arial" pitchFamily="34" charset="-122"/>
                <a:cs typeface="Arial" pitchFamily="34" charset="-120"/>
              </a:rPr>
              <a:t>RUNG 1</a:t>
            </a:r>
            <a:pPr indent="0" marL="0">
              <a:buNone/>
            </a:pPr>
            <a:r>
              <a:rPr lang="en-US" sz="850" b="1" dirty="0">
                <a:solidFill>
                  <a:srgbClr val="000000"/>
                </a:solidFill>
                <a:latin typeface="Arial" pitchFamily="34" charset="0"/>
                <a:ea typeface="Arial" pitchFamily="34" charset="-122"/>
                <a:cs typeface="Arial" pitchFamily="34" charset="-120"/>
              </a:rPr>
              <a:t>        About 1 hour</a:t>
            </a:r>
            <a:endParaRPr lang="en-US" sz="850" dirty="0"/>
          </a:p>
        </p:txBody>
      </p:sp>
      <p:sp>
        <p:nvSpPr>
          <p:cNvPr id="9" name="Text 7"/>
          <p:cNvSpPr/>
          <p:nvPr/>
        </p:nvSpPr>
        <p:spPr>
          <a:xfrm>
            <a:off x="731520" y="1847088"/>
            <a:ext cx="3145536" cy="27432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First Interview</a:t>
            </a:r>
            <a:endParaRPr lang="en-US" sz="1500" dirty="0"/>
          </a:p>
        </p:txBody>
      </p:sp>
      <p:sp>
        <p:nvSpPr>
          <p:cNvPr id="10" name="Text 8"/>
          <p:cNvSpPr/>
          <p:nvPr/>
        </p:nvSpPr>
        <p:spPr>
          <a:xfrm>
            <a:off x="731520" y="2157984"/>
            <a:ext cx="3145536" cy="219456"/>
          </a:xfrm>
          <a:prstGeom prst="rect">
            <a:avLst/>
          </a:prstGeom>
          <a:noFill/>
          <a:ln/>
        </p:spPr>
        <p:txBody>
          <a:bodyPr wrap="square" lIns="0" tIns="0" rIns="0" bIns="0" rtlCol="0" anchor="ctr"/>
          <a:lstStyle/>
          <a:p>
            <a:pPr indent="0" marL="0">
              <a:buNone/>
            </a:pPr>
            <a:r>
              <a:rPr lang="en-US" sz="900" i="1" dirty="0">
                <a:solidFill>
                  <a:srgbClr val="0B5394"/>
                </a:solidFill>
                <a:latin typeface="Arial" pitchFamily="34" charset="0"/>
                <a:ea typeface="Arial" pitchFamily="34" charset="-122"/>
                <a:cs typeface="Arial" pitchFamily="34" charset="-120"/>
              </a:rPr>
              <a:t>Lightweight   ·   45 questions</a:t>
            </a:r>
            <a:endParaRPr lang="en-US" sz="900" dirty="0"/>
          </a:p>
        </p:txBody>
      </p:sp>
      <p:sp>
        <p:nvSpPr>
          <p:cNvPr id="11" name="Text 9"/>
          <p:cNvSpPr/>
          <p:nvPr/>
        </p:nvSpPr>
        <p:spPr>
          <a:xfrm>
            <a:off x="731520" y="2450592"/>
            <a:ext cx="3145536" cy="1463040"/>
          </a:xfrm>
          <a:prstGeom prst="rect">
            <a:avLst/>
          </a:prstGeom>
          <a:noFill/>
          <a:ln/>
        </p:spPr>
        <p:txBody>
          <a:bodyPr wrap="square" lIns="0" tIns="0" rIns="0" bIns="0" rtlCol="0" anchor="ctr"/>
          <a:lstStyle/>
          <a:p>
            <a:pPr marL="152400" indent="-152400">
              <a:lnSpc>
                <a:spcPct val="112000"/>
              </a:lnSpc>
              <a:buSzPct val="100000"/>
              <a:buChar char="•"/>
            </a:pPr>
            <a:r>
              <a:rPr lang="en-US" sz="850" dirty="0">
                <a:solidFill>
                  <a:srgbClr val="595959"/>
                </a:solidFill>
                <a:latin typeface="Arial" pitchFamily="34" charset="0"/>
                <a:ea typeface="Arial" pitchFamily="34" charset="-122"/>
                <a:cs typeface="Arial" pitchFamily="34" charset="-120"/>
              </a:rPr>
              <a:t>Current process, its pain points, and where AI would actually save time</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The data: what it is, where it comes from, the source of truth</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Volume, rhythm, and what the output is and where it lands</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The four assumption checks: delivery surface, accuracy, review, test data</a:t>
            </a:r>
            <a:endParaRPr lang="en-US" sz="850" dirty="0"/>
          </a:p>
        </p:txBody>
      </p:sp>
      <p:sp>
        <p:nvSpPr>
          <p:cNvPr id="12" name="Text 10"/>
          <p:cNvSpPr/>
          <p:nvPr/>
        </p:nvSpPr>
        <p:spPr>
          <a:xfrm>
            <a:off x="731520" y="3986784"/>
            <a:ext cx="3145536"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WHAT IT PRODUCES</a:t>
            </a:r>
            <a:endParaRPr lang="en-US" sz="850" dirty="0"/>
          </a:p>
        </p:txBody>
      </p:sp>
      <p:sp>
        <p:nvSpPr>
          <p:cNvPr id="13" name="Text 11"/>
          <p:cNvSpPr/>
          <p:nvPr/>
        </p:nvSpPr>
        <p:spPr>
          <a:xfrm>
            <a:off x="731520" y="4187952"/>
            <a:ext cx="3145536" cy="512064"/>
          </a:xfrm>
          <a:prstGeom prst="rect">
            <a:avLst/>
          </a:prstGeom>
          <a:noFill/>
          <a:ln/>
        </p:spPr>
        <p:txBody>
          <a:bodyPr wrap="square" lIns="0" tIns="0" rIns="0" bIns="0" rtlCol="0" anchor="ctr"/>
          <a:lstStyle/>
          <a:p>
            <a:pPr indent="0" marL="0">
              <a:lnSpc>
                <a:spcPct val="108000"/>
              </a:lnSpc>
              <a:buNone/>
            </a:pPr>
            <a:r>
              <a:rPr lang="en-US" sz="900" dirty="0">
                <a:solidFill>
                  <a:srgbClr val="000000"/>
                </a:solidFill>
                <a:latin typeface="Arial" pitchFamily="34" charset="0"/>
                <a:ea typeface="Arial" pitchFamily="34" charset="-122"/>
                <a:cs typeface="Arial" pitchFamily="34" charset="-120"/>
              </a:rPr>
              <a:t>The Lightweight document. Enough for a high-level estimate or a proof-of-concept decision.</a:t>
            </a:r>
            <a:endParaRPr lang="en-US" sz="900" dirty="0"/>
          </a:p>
        </p:txBody>
      </p:sp>
      <p:sp>
        <p:nvSpPr>
          <p:cNvPr id="14" name="Text 12"/>
          <p:cNvSpPr/>
          <p:nvPr/>
        </p:nvSpPr>
        <p:spPr>
          <a:xfrm>
            <a:off x="4087368" y="2944368"/>
            <a:ext cx="237744" cy="274320"/>
          </a:xfrm>
          <a:prstGeom prst="rect">
            <a:avLst/>
          </a:prstGeom>
          <a:noFill/>
          <a:ln/>
        </p:spPr>
        <p:txBody>
          <a:bodyPr wrap="square" lIns="0" tIns="0" rIns="0" bIns="0" rtlCol="0" anchor="ctr"/>
          <a:lstStyle/>
          <a:p>
            <a:pPr algn="ctr" indent="0" marL="0">
              <a:buNone/>
            </a:pPr>
            <a:r>
              <a:rPr lang="en-US" sz="1500" b="1" dirty="0">
                <a:solidFill>
                  <a:srgbClr val="D0D0D0"/>
                </a:solidFill>
                <a:latin typeface="Arial" pitchFamily="34" charset="0"/>
                <a:ea typeface="Arial" pitchFamily="34" charset="-122"/>
                <a:cs typeface="Arial" pitchFamily="34" charset="-120"/>
              </a:rPr>
              <a:t>&gt;</a:t>
            </a:r>
            <a:endParaRPr lang="en-US" sz="1500" dirty="0"/>
          </a:p>
        </p:txBody>
      </p:sp>
      <p:sp>
        <p:nvSpPr>
          <p:cNvPr id="15" name="Shape 13"/>
          <p:cNvSpPr/>
          <p:nvPr/>
        </p:nvSpPr>
        <p:spPr>
          <a:xfrm>
            <a:off x="4347972" y="1481328"/>
            <a:ext cx="3511296" cy="3310128"/>
          </a:xfrm>
          <a:prstGeom prst="rect">
            <a:avLst/>
          </a:prstGeom>
          <a:solidFill>
            <a:srgbClr val="F0F0F0"/>
          </a:solidFill>
          <a:ln w="12700">
            <a:solidFill>
              <a:srgbClr val="D0D0D0"/>
            </a:solidFill>
            <a:prstDash val="solid"/>
          </a:ln>
        </p:spPr>
      </p:sp>
      <p:sp>
        <p:nvSpPr>
          <p:cNvPr id="16" name="Text 14"/>
          <p:cNvSpPr/>
          <p:nvPr/>
        </p:nvSpPr>
        <p:spPr>
          <a:xfrm>
            <a:off x="4530852" y="1627632"/>
            <a:ext cx="3145536" cy="182880"/>
          </a:xfrm>
          <a:prstGeom prst="rect">
            <a:avLst/>
          </a:prstGeom>
          <a:noFill/>
          <a:ln/>
        </p:spPr>
        <p:txBody>
          <a:bodyPr wrap="square" lIns="0" tIns="0" rIns="0" bIns="0" rtlCol="0" anchor="ctr"/>
          <a:lstStyle/>
          <a:p>
            <a:pPr indent="0" marL="0">
              <a:buNone/>
            </a:pPr>
            <a:r>
              <a:rPr lang="en-US" sz="850" b="1" spc="150" kern="0" dirty="0">
                <a:solidFill>
                  <a:srgbClr val="0B5394"/>
                </a:solidFill>
                <a:latin typeface="Arial" pitchFamily="34" charset="0"/>
                <a:ea typeface="Arial" pitchFamily="34" charset="-122"/>
                <a:cs typeface="Arial" pitchFamily="34" charset="-120"/>
              </a:rPr>
              <a:t>RUNG 2</a:t>
            </a:r>
            <a:pPr indent="0" marL="0">
              <a:buNone/>
            </a:pPr>
            <a:r>
              <a:rPr lang="en-US" sz="850" b="1" dirty="0">
                <a:solidFill>
                  <a:srgbClr val="000000"/>
                </a:solidFill>
                <a:latin typeface="Arial" pitchFamily="34" charset="0"/>
                <a:ea typeface="Arial" pitchFamily="34" charset="-122"/>
                <a:cs typeface="Arial" pitchFamily="34" charset="-120"/>
              </a:rPr>
              <a:t>        About 1 day</a:t>
            </a:r>
            <a:endParaRPr lang="en-US" sz="850" dirty="0"/>
          </a:p>
        </p:txBody>
      </p:sp>
      <p:sp>
        <p:nvSpPr>
          <p:cNvPr id="17" name="Text 15"/>
          <p:cNvSpPr/>
          <p:nvPr/>
        </p:nvSpPr>
        <p:spPr>
          <a:xfrm>
            <a:off x="4530852" y="1847088"/>
            <a:ext cx="3145536" cy="27432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Extend to Standard</a:t>
            </a:r>
            <a:endParaRPr lang="en-US" sz="1500" dirty="0"/>
          </a:p>
        </p:txBody>
      </p:sp>
      <p:sp>
        <p:nvSpPr>
          <p:cNvPr id="18" name="Text 16"/>
          <p:cNvSpPr/>
          <p:nvPr/>
        </p:nvSpPr>
        <p:spPr>
          <a:xfrm>
            <a:off x="4530852" y="2157984"/>
            <a:ext cx="3145536" cy="219456"/>
          </a:xfrm>
          <a:prstGeom prst="rect">
            <a:avLst/>
          </a:prstGeom>
          <a:noFill/>
          <a:ln/>
        </p:spPr>
        <p:txBody>
          <a:bodyPr wrap="square" lIns="0" tIns="0" rIns="0" bIns="0" rtlCol="0" anchor="ctr"/>
          <a:lstStyle/>
          <a:p>
            <a:pPr indent="0" marL="0">
              <a:buNone/>
            </a:pPr>
            <a:r>
              <a:rPr lang="en-US" sz="900" i="1" dirty="0">
                <a:solidFill>
                  <a:srgbClr val="0B5394"/>
                </a:solidFill>
                <a:latin typeface="Arial" pitchFamily="34" charset="0"/>
                <a:ea typeface="Arial" pitchFamily="34" charset="-122"/>
                <a:cs typeface="Arial" pitchFamily="34" charset="-120"/>
              </a:rPr>
              <a:t>Only if it goes to production   ·   125 questions</a:t>
            </a:r>
            <a:endParaRPr lang="en-US" sz="900" dirty="0"/>
          </a:p>
        </p:txBody>
      </p:sp>
      <p:sp>
        <p:nvSpPr>
          <p:cNvPr id="19" name="Text 17"/>
          <p:cNvSpPr/>
          <p:nvPr/>
        </p:nvSpPr>
        <p:spPr>
          <a:xfrm>
            <a:off x="4530852" y="2450592"/>
            <a:ext cx="3145536" cy="1463040"/>
          </a:xfrm>
          <a:prstGeom prst="rect">
            <a:avLst/>
          </a:prstGeom>
          <a:noFill/>
          <a:ln/>
        </p:spPr>
        <p:txBody>
          <a:bodyPr wrap="square" lIns="0" tIns="0" rIns="0" bIns="0" rtlCol="0" anchor="ctr"/>
          <a:lstStyle/>
          <a:p>
            <a:pPr marL="152400" indent="-152400">
              <a:lnSpc>
                <a:spcPct val="112000"/>
              </a:lnSpc>
              <a:buSzPct val="100000"/>
              <a:buChar char="•"/>
            </a:pPr>
            <a:r>
              <a:rPr lang="en-US" sz="850" dirty="0">
                <a:solidFill>
                  <a:srgbClr val="595959"/>
                </a:solidFill>
                <a:latin typeface="Arial" pitchFamily="34" charset="0"/>
                <a:ea typeface="Arial" pitchFamily="34" charset="-122"/>
                <a:cs typeface="Arial" pitchFamily="34" charset="-120"/>
              </a:rPr>
              <a:t>The full data picture: location, access, joins, freshness, quality</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Non-functional targets, integration reality, dependency failure</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Confidence thresholds, review routing, and where test data comes from</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Scenario detail per scenario, and a traced requirement for each</a:t>
            </a:r>
            <a:endParaRPr lang="en-US" sz="850" dirty="0"/>
          </a:p>
        </p:txBody>
      </p:sp>
      <p:sp>
        <p:nvSpPr>
          <p:cNvPr id="20" name="Text 18"/>
          <p:cNvSpPr/>
          <p:nvPr/>
        </p:nvSpPr>
        <p:spPr>
          <a:xfrm>
            <a:off x="4530852" y="3986784"/>
            <a:ext cx="3145536"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WHAT IT PRODUCES</a:t>
            </a:r>
            <a:endParaRPr lang="en-US" sz="850" dirty="0"/>
          </a:p>
        </p:txBody>
      </p:sp>
      <p:sp>
        <p:nvSpPr>
          <p:cNvPr id="21" name="Text 19"/>
          <p:cNvSpPr/>
          <p:nvPr/>
        </p:nvSpPr>
        <p:spPr>
          <a:xfrm>
            <a:off x="4530852" y="4187952"/>
            <a:ext cx="3145536" cy="512064"/>
          </a:xfrm>
          <a:prstGeom prst="rect">
            <a:avLst/>
          </a:prstGeom>
          <a:noFill/>
          <a:ln/>
        </p:spPr>
        <p:txBody>
          <a:bodyPr wrap="square" lIns="0" tIns="0" rIns="0" bIns="0" rtlCol="0" anchor="ctr"/>
          <a:lstStyle/>
          <a:p>
            <a:pPr indent="0" marL="0">
              <a:lnSpc>
                <a:spcPct val="108000"/>
              </a:lnSpc>
              <a:buNone/>
            </a:pPr>
            <a:r>
              <a:rPr lang="en-US" sz="900" dirty="0">
                <a:solidFill>
                  <a:srgbClr val="000000"/>
                </a:solidFill>
                <a:latin typeface="Arial" pitchFamily="34" charset="0"/>
                <a:ea typeface="Arial" pitchFamily="34" charset="-122"/>
                <a:cs typeface="Arial" pitchFamily="34" charset="-120"/>
              </a:rPr>
              <a:t>The Standard document. A production architecture plan, with every first-hour assumption pinned down.</a:t>
            </a:r>
            <a:endParaRPr lang="en-US" sz="900" dirty="0"/>
          </a:p>
        </p:txBody>
      </p:sp>
      <p:sp>
        <p:nvSpPr>
          <p:cNvPr id="22" name="Text 20"/>
          <p:cNvSpPr/>
          <p:nvPr/>
        </p:nvSpPr>
        <p:spPr>
          <a:xfrm>
            <a:off x="7886700" y="2944368"/>
            <a:ext cx="237744" cy="274320"/>
          </a:xfrm>
          <a:prstGeom prst="rect">
            <a:avLst/>
          </a:prstGeom>
          <a:noFill/>
          <a:ln/>
        </p:spPr>
        <p:txBody>
          <a:bodyPr wrap="square" lIns="0" tIns="0" rIns="0" bIns="0" rtlCol="0" anchor="ctr"/>
          <a:lstStyle/>
          <a:p>
            <a:pPr algn="ctr" indent="0" marL="0">
              <a:buNone/>
            </a:pPr>
            <a:r>
              <a:rPr lang="en-US" sz="1500" b="1" dirty="0">
                <a:solidFill>
                  <a:srgbClr val="D0D0D0"/>
                </a:solidFill>
                <a:latin typeface="Arial" pitchFamily="34" charset="0"/>
                <a:ea typeface="Arial" pitchFamily="34" charset="-122"/>
                <a:cs typeface="Arial" pitchFamily="34" charset="-120"/>
              </a:rPr>
              <a:t>&gt;</a:t>
            </a:r>
            <a:endParaRPr lang="en-US" sz="1500" dirty="0"/>
          </a:p>
        </p:txBody>
      </p:sp>
      <p:sp>
        <p:nvSpPr>
          <p:cNvPr id="23" name="Shape 21"/>
          <p:cNvSpPr/>
          <p:nvPr/>
        </p:nvSpPr>
        <p:spPr>
          <a:xfrm>
            <a:off x="8147304" y="1481328"/>
            <a:ext cx="3511296" cy="3310128"/>
          </a:xfrm>
          <a:prstGeom prst="rect">
            <a:avLst/>
          </a:prstGeom>
          <a:solidFill>
            <a:srgbClr val="FFF3F3"/>
          </a:solidFill>
          <a:ln w="12700">
            <a:solidFill>
              <a:srgbClr val="D0D0D0"/>
            </a:solidFill>
            <a:prstDash val="solid"/>
          </a:ln>
        </p:spPr>
      </p:sp>
      <p:sp>
        <p:nvSpPr>
          <p:cNvPr id="24" name="Text 22"/>
          <p:cNvSpPr/>
          <p:nvPr/>
        </p:nvSpPr>
        <p:spPr>
          <a:xfrm>
            <a:off x="8330184" y="1627632"/>
            <a:ext cx="3145536" cy="182880"/>
          </a:xfrm>
          <a:prstGeom prst="rect">
            <a:avLst/>
          </a:prstGeom>
          <a:noFill/>
          <a:ln/>
        </p:spPr>
        <p:txBody>
          <a:bodyPr wrap="square" lIns="0" tIns="0" rIns="0" bIns="0" rtlCol="0" anchor="ctr"/>
          <a:lstStyle/>
          <a:p>
            <a:pPr indent="0" marL="0">
              <a:buNone/>
            </a:pPr>
            <a:r>
              <a:rPr lang="en-US" sz="850" b="1" spc="150" kern="0" dirty="0">
                <a:solidFill>
                  <a:srgbClr val="E60000"/>
                </a:solidFill>
                <a:latin typeface="Arial" pitchFamily="34" charset="0"/>
                <a:ea typeface="Arial" pitchFamily="34" charset="-122"/>
                <a:cs typeface="Arial" pitchFamily="34" charset="-120"/>
              </a:rPr>
              <a:t>RUNG 3</a:t>
            </a:r>
            <a:pPr indent="0" marL="0">
              <a:buNone/>
            </a:pPr>
            <a:r>
              <a:rPr lang="en-US" sz="850" b="1" dirty="0">
                <a:solidFill>
                  <a:srgbClr val="000000"/>
                </a:solidFill>
                <a:latin typeface="Arial" pitchFamily="34" charset="0"/>
                <a:ea typeface="Arial" pitchFamily="34" charset="-122"/>
                <a:cs typeface="Arial" pitchFamily="34" charset="-120"/>
              </a:rPr>
              <a:t>        3 days to 1 week</a:t>
            </a:r>
            <a:endParaRPr lang="en-US" sz="850" dirty="0"/>
          </a:p>
        </p:txBody>
      </p:sp>
      <p:sp>
        <p:nvSpPr>
          <p:cNvPr id="25" name="Text 23"/>
          <p:cNvSpPr/>
          <p:nvPr/>
        </p:nvSpPr>
        <p:spPr>
          <a:xfrm>
            <a:off x="8330184" y="1847088"/>
            <a:ext cx="3145536" cy="27432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Extend to Exhaustive</a:t>
            </a:r>
            <a:endParaRPr lang="en-US" sz="1500" dirty="0"/>
          </a:p>
        </p:txBody>
      </p:sp>
      <p:sp>
        <p:nvSpPr>
          <p:cNvPr id="26" name="Text 24"/>
          <p:cNvSpPr/>
          <p:nvPr/>
        </p:nvSpPr>
        <p:spPr>
          <a:xfrm>
            <a:off x="8330184" y="2157984"/>
            <a:ext cx="3145536" cy="219456"/>
          </a:xfrm>
          <a:prstGeom prst="rect">
            <a:avLst/>
          </a:prstGeom>
          <a:noFill/>
          <a:ln/>
        </p:spPr>
        <p:txBody>
          <a:bodyPr wrap="square" lIns="0" tIns="0" rIns="0" bIns="0" rtlCol="0" anchor="ctr"/>
          <a:lstStyle/>
          <a:p>
            <a:pPr indent="0" marL="0">
              <a:buNone/>
            </a:pPr>
            <a:r>
              <a:rPr lang="en-US" sz="900" i="1" dirty="0">
                <a:solidFill>
                  <a:srgbClr val="E60000"/>
                </a:solidFill>
                <a:latin typeface="Arial" pitchFamily="34" charset="0"/>
                <a:ea typeface="Arial" pitchFamily="34" charset="-122"/>
                <a:cs typeface="Arial" pitchFamily="34" charset="-120"/>
              </a:rPr>
              <a:t>Regulated or client-facing work   ·   186 questions</a:t>
            </a:r>
            <a:endParaRPr lang="en-US" sz="900" dirty="0"/>
          </a:p>
        </p:txBody>
      </p:sp>
      <p:sp>
        <p:nvSpPr>
          <p:cNvPr id="27" name="Text 25"/>
          <p:cNvSpPr/>
          <p:nvPr/>
        </p:nvSpPr>
        <p:spPr>
          <a:xfrm>
            <a:off x="8330184" y="2450592"/>
            <a:ext cx="3145536" cy="1463040"/>
          </a:xfrm>
          <a:prstGeom prst="rect">
            <a:avLst/>
          </a:prstGeom>
          <a:noFill/>
          <a:ln/>
        </p:spPr>
        <p:txBody>
          <a:bodyPr wrap="square" lIns="0" tIns="0" rIns="0" bIns="0" rtlCol="0" anchor="ctr"/>
          <a:lstStyle/>
          <a:p>
            <a:pPr marL="152400" indent="-152400">
              <a:lnSpc>
                <a:spcPct val="112000"/>
              </a:lnSpc>
              <a:buSzPct val="100000"/>
              <a:buChar char="•"/>
            </a:pPr>
            <a:r>
              <a:rPr lang="en-US" sz="850" dirty="0">
                <a:solidFill>
                  <a:srgbClr val="595959"/>
                </a:solidFill>
                <a:latin typeface="Arial" pitchFamily="34" charset="0"/>
                <a:ea typeface="Arial" pitchFamily="34" charset="-122"/>
                <a:cs typeface="Arial" pitchFamily="34" charset="-120"/>
              </a:rPr>
              <a:t>Model risk classification, re-validation trigger and cadence</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Provenance: what each output records, and whether it is reproducible</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Segregation of duties, abuse cases, cross-border transfer</a:t>
            </a:r>
            <a:endParaRPr lang="en-US" sz="850" dirty="0"/>
          </a:p>
          <a:p>
            <a:pPr indent="0" marL="0">
              <a:lnSpc>
                <a:spcPct val="112000"/>
              </a:lnSpc>
              <a:buNone/>
            </a:pPr>
            <a:r>
              <a:rPr lang="en-US" sz="850" dirty="0">
                <a:solidFill>
                  <a:srgbClr val="595959"/>
                </a:solidFill>
                <a:latin typeface="Arial" pitchFamily="34" charset="0"/>
                <a:ea typeface="Arial" pitchFamily="34" charset="-122"/>
                <a:cs typeface="Arial" pitchFamily="34" charset="-120"/>
              </a:rPr>
              <a:t>Audit readership, and what must be producible for examination</a:t>
            </a:r>
            <a:endParaRPr lang="en-US" sz="850" dirty="0"/>
          </a:p>
        </p:txBody>
      </p:sp>
      <p:sp>
        <p:nvSpPr>
          <p:cNvPr id="28" name="Text 26"/>
          <p:cNvSpPr/>
          <p:nvPr/>
        </p:nvSpPr>
        <p:spPr>
          <a:xfrm>
            <a:off x="8330184" y="3986784"/>
            <a:ext cx="3145536"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WHAT IT PRODUCES</a:t>
            </a:r>
            <a:endParaRPr lang="en-US" sz="850" dirty="0"/>
          </a:p>
        </p:txBody>
      </p:sp>
      <p:sp>
        <p:nvSpPr>
          <p:cNvPr id="29" name="Text 27"/>
          <p:cNvSpPr/>
          <p:nvPr/>
        </p:nvSpPr>
        <p:spPr>
          <a:xfrm>
            <a:off x="8330184" y="4187952"/>
            <a:ext cx="3145536" cy="512064"/>
          </a:xfrm>
          <a:prstGeom prst="rect">
            <a:avLst/>
          </a:prstGeom>
          <a:noFill/>
          <a:ln/>
        </p:spPr>
        <p:txBody>
          <a:bodyPr wrap="square" lIns="0" tIns="0" rIns="0" bIns="0" rtlCol="0" anchor="ctr"/>
          <a:lstStyle/>
          <a:p>
            <a:pPr indent="0" marL="0">
              <a:lnSpc>
                <a:spcPct val="108000"/>
              </a:lnSpc>
              <a:buNone/>
            </a:pPr>
            <a:r>
              <a:rPr lang="en-US" sz="900" dirty="0">
                <a:solidFill>
                  <a:srgbClr val="000000"/>
                </a:solidFill>
                <a:latin typeface="Arial" pitchFamily="34" charset="0"/>
                <a:ea typeface="Arial" pitchFamily="34" charset="-122"/>
                <a:cs typeface="Arial" pitchFamily="34" charset="-120"/>
              </a:rPr>
              <a:t>The Exhaustive document, and the audit evidence a regulated build stands on.</a:t>
            </a:r>
            <a:endParaRPr lang="en-US" sz="900" dirty="0"/>
          </a:p>
        </p:txBody>
      </p:sp>
      <p:sp>
        <p:nvSpPr>
          <p:cNvPr id="30" name="Shape 28"/>
          <p:cNvSpPr/>
          <p:nvPr/>
        </p:nvSpPr>
        <p:spPr>
          <a:xfrm>
            <a:off x="548640" y="4974336"/>
            <a:ext cx="11091672" cy="1298448"/>
          </a:xfrm>
          <a:prstGeom prst="rect">
            <a:avLst/>
          </a:prstGeom>
          <a:solidFill>
            <a:srgbClr val="EAF1F8"/>
          </a:solidFill>
          <a:ln w="12700">
            <a:solidFill>
              <a:srgbClr val="D0D0D0"/>
            </a:solidFill>
            <a:prstDash val="solid"/>
          </a:ln>
        </p:spPr>
      </p:sp>
      <p:sp>
        <p:nvSpPr>
          <p:cNvPr id="31" name="Text 29"/>
          <p:cNvSpPr/>
          <p:nvPr/>
        </p:nvSpPr>
        <p:spPr>
          <a:xfrm>
            <a:off x="768096" y="5065776"/>
            <a:ext cx="10652760" cy="256032"/>
          </a:xfrm>
          <a:prstGeom prst="rect">
            <a:avLst/>
          </a:prstGeom>
          <a:noFill/>
          <a:ln/>
        </p:spPr>
        <p:txBody>
          <a:bodyPr wrap="square" lIns="0" tIns="0" rIns="0" bIns="0" rtlCol="0" anchor="ctr"/>
          <a:lstStyle/>
          <a:p>
            <a:pPr indent="0" marL="0">
              <a:buNone/>
            </a:pPr>
            <a:r>
              <a:rPr lang="en-US" sz="1200" b="1" dirty="0">
                <a:solidFill>
                  <a:srgbClr val="0B5394"/>
                </a:solidFill>
                <a:latin typeface="Arial" pitchFamily="34" charset="0"/>
                <a:ea typeface="Arial" pitchFamily="34" charset="-122"/>
                <a:cs typeface="Arial" pitchFamily="34" charset="-120"/>
              </a:rPr>
              <a:t>Every interview runs the same way: in Teams</a:t>
            </a:r>
            <a:endParaRPr lang="en-US" sz="1200" dirty="0"/>
          </a:p>
        </p:txBody>
      </p:sp>
      <p:sp>
        <p:nvSpPr>
          <p:cNvPr id="32" name="Text 30"/>
          <p:cNvSpPr/>
          <p:nvPr/>
        </p:nvSpPr>
        <p:spPr>
          <a:xfrm>
            <a:off x="768096" y="5358384"/>
            <a:ext cx="10652760" cy="512064"/>
          </a:xfrm>
          <a:prstGeom prst="rect">
            <a:avLst/>
          </a:prstGeom>
          <a:noFill/>
          <a:ln/>
        </p:spPr>
        <p:txBody>
          <a:bodyPr wrap="square" lIns="0" tIns="0" rIns="0" bIns="0" rtlCol="0" anchor="ctr"/>
          <a:lstStyle/>
          <a:p>
            <a:pPr indent="0" marL="0">
              <a:lnSpc>
                <a:spcPct val="110000"/>
              </a:lnSpc>
              <a:buNone/>
            </a:pPr>
            <a:r>
              <a:rPr lang="en-US" sz="1000" dirty="0">
                <a:solidFill>
                  <a:srgbClr val="595959"/>
                </a:solidFill>
                <a:latin typeface="Arial" pitchFamily="34" charset="0"/>
                <a:ea typeface="Arial" pitchFamily="34" charset="-122"/>
                <a:cs typeface="Arial" pitchFamily="34" charset="-120"/>
              </a:rPr>
              <a:t>Hold the meeting in Teams with transcription on. Afterwards, open the Recap tab and paste the structuring prompt for the rung you are at, one prompt for the first interview and one for each extension. Copilot drafts the document and marks every gap it could not answer from the transcript. You verify against what was actually said, fill the gaps, and sign off.</a:t>
            </a:r>
            <a:endParaRPr lang="en-US" sz="1000" dirty="0"/>
          </a:p>
        </p:txBody>
      </p:sp>
      <p:sp>
        <p:nvSpPr>
          <p:cNvPr id="33" name="Text 31"/>
          <p:cNvSpPr/>
          <p:nvPr/>
        </p:nvSpPr>
        <p:spPr>
          <a:xfrm>
            <a:off x="768096" y="5907024"/>
            <a:ext cx="10652760" cy="274320"/>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There is no second method. Typing during the interview costs the interviewer their attention, which is the scarce thing in the room.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STAGE 2: DEFINE BUSINESS CASE</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Business Use Case Template: The Context, Not the Requirement</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A business process capturing use case background, value, and prioritisation. It is deliberately not a technical requirement: the Requirements Template is the full specification.</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Business Use Case Template</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5 / 12</a:t>
            </a:r>
            <a:endParaRPr lang="en-US" sz="800" dirty="0"/>
          </a:p>
        </p:txBody>
      </p:sp>
      <p:sp>
        <p:nvSpPr>
          <p:cNvPr id="7" name="Shape 5"/>
          <p:cNvSpPr/>
          <p:nvPr/>
        </p:nvSpPr>
        <p:spPr>
          <a:xfrm>
            <a:off x="548640" y="1627632"/>
            <a:ext cx="2121408" cy="2880360"/>
          </a:xfrm>
          <a:prstGeom prst="rect">
            <a:avLst/>
          </a:prstGeom>
          <a:solidFill>
            <a:srgbClr val="F0F0F0"/>
          </a:solidFill>
          <a:ln w="12700">
            <a:solidFill>
              <a:srgbClr val="D0D0D0"/>
            </a:solidFill>
            <a:prstDash val="solid"/>
          </a:ln>
        </p:spPr>
      </p:sp>
      <p:sp>
        <p:nvSpPr>
          <p:cNvPr id="8" name="Text 6"/>
          <p:cNvSpPr/>
          <p:nvPr/>
        </p:nvSpPr>
        <p:spPr>
          <a:xfrm>
            <a:off x="694944" y="1792224"/>
            <a:ext cx="1828800" cy="548640"/>
          </a:xfrm>
          <a:prstGeom prst="rect">
            <a:avLst/>
          </a:prstGeom>
          <a:noFill/>
          <a:ln/>
        </p:spPr>
        <p:txBody>
          <a:bodyPr wrap="square" lIns="0" tIns="0" rIns="0" bIns="0" rtlCol="0" anchor="ctr"/>
          <a:lstStyle/>
          <a:p>
            <a:pPr indent="0" marL="0">
              <a:buNone/>
            </a:pPr>
            <a:r>
              <a:rPr lang="en-US" sz="1100" b="1" dirty="0">
                <a:solidFill>
                  <a:srgbClr val="0B5394"/>
                </a:solidFill>
                <a:latin typeface="Arial" pitchFamily="34" charset="0"/>
                <a:ea typeface="Arial" pitchFamily="34" charset="-122"/>
                <a:cs typeface="Arial" pitchFamily="34" charset="-120"/>
              </a:rPr>
              <a:t>1. OCTO Details</a:t>
            </a:r>
            <a:endParaRPr lang="en-US" sz="1100" dirty="0"/>
          </a:p>
        </p:txBody>
      </p:sp>
      <p:sp>
        <p:nvSpPr>
          <p:cNvPr id="9" name="Text 7"/>
          <p:cNvSpPr/>
          <p:nvPr/>
        </p:nvSpPr>
        <p:spPr>
          <a:xfrm>
            <a:off x="694944" y="2377440"/>
            <a:ext cx="1828800" cy="196596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Use case ID, owner, status. Populated once registered, which applies once the use case is prioritised.</a:t>
            </a:r>
            <a:endParaRPr lang="en-US" sz="850" dirty="0"/>
          </a:p>
        </p:txBody>
      </p:sp>
      <p:sp>
        <p:nvSpPr>
          <p:cNvPr id="10" name="Shape 8"/>
          <p:cNvSpPr/>
          <p:nvPr/>
        </p:nvSpPr>
        <p:spPr>
          <a:xfrm>
            <a:off x="2871216" y="1627632"/>
            <a:ext cx="2121408" cy="2880360"/>
          </a:xfrm>
          <a:prstGeom prst="rect">
            <a:avLst/>
          </a:prstGeom>
          <a:solidFill>
            <a:srgbClr val="F0F0F0"/>
          </a:solidFill>
          <a:ln w="12700">
            <a:solidFill>
              <a:srgbClr val="D0D0D0"/>
            </a:solidFill>
            <a:prstDash val="solid"/>
          </a:ln>
        </p:spPr>
      </p:sp>
      <p:sp>
        <p:nvSpPr>
          <p:cNvPr id="11" name="Text 9"/>
          <p:cNvSpPr/>
          <p:nvPr/>
        </p:nvSpPr>
        <p:spPr>
          <a:xfrm>
            <a:off x="3017520" y="1792224"/>
            <a:ext cx="1828800" cy="548640"/>
          </a:xfrm>
          <a:prstGeom prst="rect">
            <a:avLst/>
          </a:prstGeom>
          <a:noFill/>
          <a:ln/>
        </p:spPr>
        <p:txBody>
          <a:bodyPr wrap="square" lIns="0" tIns="0" rIns="0" bIns="0" rtlCol="0" anchor="ctr"/>
          <a:lstStyle/>
          <a:p>
            <a:pPr indent="0" marL="0">
              <a:buNone/>
            </a:pPr>
            <a:r>
              <a:rPr lang="en-US" sz="1100" b="1" dirty="0">
                <a:solidFill>
                  <a:srgbClr val="0B5394"/>
                </a:solidFill>
                <a:latin typeface="Arial" pitchFamily="34" charset="0"/>
                <a:ea typeface="Arial" pitchFamily="34" charset="-122"/>
                <a:cs typeface="Arial" pitchFamily="34" charset="-120"/>
              </a:rPr>
              <a:t>2. Transformation Footprint</a:t>
            </a:r>
            <a:endParaRPr lang="en-US" sz="1100" dirty="0"/>
          </a:p>
        </p:txBody>
      </p:sp>
      <p:sp>
        <p:nvSpPr>
          <p:cNvPr id="12" name="Text 10"/>
          <p:cNvSpPr/>
          <p:nvPr/>
        </p:nvSpPr>
        <p:spPr>
          <a:xfrm>
            <a:off x="3017520" y="2377440"/>
            <a:ext cx="1828800" cy="196596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Changes to business processes; to platform, applications and tools; to policies, frameworks and guidelines; impact on controls; changes to data sourcing and data strategy.</a:t>
            </a:r>
            <a:endParaRPr lang="en-US" sz="850" dirty="0"/>
          </a:p>
        </p:txBody>
      </p:sp>
      <p:sp>
        <p:nvSpPr>
          <p:cNvPr id="13" name="Shape 11"/>
          <p:cNvSpPr/>
          <p:nvPr/>
        </p:nvSpPr>
        <p:spPr>
          <a:xfrm>
            <a:off x="5193792" y="1627632"/>
            <a:ext cx="2121408" cy="2880360"/>
          </a:xfrm>
          <a:prstGeom prst="rect">
            <a:avLst/>
          </a:prstGeom>
          <a:solidFill>
            <a:srgbClr val="F0F0F0"/>
          </a:solidFill>
          <a:ln w="12700">
            <a:solidFill>
              <a:srgbClr val="D0D0D0"/>
            </a:solidFill>
            <a:prstDash val="solid"/>
          </a:ln>
        </p:spPr>
      </p:sp>
      <p:sp>
        <p:nvSpPr>
          <p:cNvPr id="14" name="Text 12"/>
          <p:cNvSpPr/>
          <p:nvPr/>
        </p:nvSpPr>
        <p:spPr>
          <a:xfrm>
            <a:off x="5340096" y="1792224"/>
            <a:ext cx="1828800" cy="548640"/>
          </a:xfrm>
          <a:prstGeom prst="rect">
            <a:avLst/>
          </a:prstGeom>
          <a:noFill/>
          <a:ln/>
        </p:spPr>
        <p:txBody>
          <a:bodyPr wrap="square" lIns="0" tIns="0" rIns="0" bIns="0" rtlCol="0" anchor="ctr"/>
          <a:lstStyle/>
          <a:p>
            <a:pPr indent="0" marL="0">
              <a:buNone/>
            </a:pPr>
            <a:r>
              <a:rPr lang="en-US" sz="1100" b="1" dirty="0">
                <a:solidFill>
                  <a:srgbClr val="0B5394"/>
                </a:solidFill>
                <a:latin typeface="Arial" pitchFamily="34" charset="0"/>
                <a:ea typeface="Arial" pitchFamily="34" charset="-122"/>
                <a:cs typeface="Arial" pitchFamily="34" charset="-120"/>
              </a:rPr>
              <a:t>3. Business Case</a:t>
            </a:r>
            <a:endParaRPr lang="en-US" sz="1100" dirty="0"/>
          </a:p>
        </p:txBody>
      </p:sp>
      <p:sp>
        <p:nvSpPr>
          <p:cNvPr id="15" name="Text 13"/>
          <p:cNvSpPr/>
          <p:nvPr/>
        </p:nvSpPr>
        <p:spPr>
          <a:xfrm>
            <a:off x="5340096" y="2377440"/>
            <a:ext cx="1828800" cy="196596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AI use case summary. Proposed solution and strategic fit. RICE assessment. Indicative delivery timeline. Funding route, if outside BAU. Expected benefits. RDA assessment. Outcome: proceed, refine, reject, or route for funding.</a:t>
            </a:r>
            <a:endParaRPr lang="en-US" sz="850" dirty="0"/>
          </a:p>
        </p:txBody>
      </p:sp>
      <p:sp>
        <p:nvSpPr>
          <p:cNvPr id="16" name="Shape 14"/>
          <p:cNvSpPr/>
          <p:nvPr/>
        </p:nvSpPr>
        <p:spPr>
          <a:xfrm>
            <a:off x="7516368" y="1627632"/>
            <a:ext cx="2121408" cy="2880360"/>
          </a:xfrm>
          <a:prstGeom prst="rect">
            <a:avLst/>
          </a:prstGeom>
          <a:solidFill>
            <a:srgbClr val="F0F0F0"/>
          </a:solidFill>
          <a:ln w="12700">
            <a:solidFill>
              <a:srgbClr val="D0D0D0"/>
            </a:solidFill>
            <a:prstDash val="solid"/>
          </a:ln>
        </p:spPr>
      </p:sp>
      <p:sp>
        <p:nvSpPr>
          <p:cNvPr id="17" name="Text 15"/>
          <p:cNvSpPr/>
          <p:nvPr/>
        </p:nvSpPr>
        <p:spPr>
          <a:xfrm>
            <a:off x="7662672" y="1792224"/>
            <a:ext cx="1828800" cy="548640"/>
          </a:xfrm>
          <a:prstGeom prst="rect">
            <a:avLst/>
          </a:prstGeom>
          <a:noFill/>
          <a:ln/>
        </p:spPr>
        <p:txBody>
          <a:bodyPr wrap="square" lIns="0" tIns="0" rIns="0" bIns="0" rtlCol="0" anchor="ctr"/>
          <a:lstStyle/>
          <a:p>
            <a:pPr indent="0" marL="0">
              <a:buNone/>
            </a:pPr>
            <a:r>
              <a:rPr lang="en-US" sz="1100" b="1" dirty="0">
                <a:solidFill>
                  <a:srgbClr val="0B5394"/>
                </a:solidFill>
                <a:latin typeface="Arial" pitchFamily="34" charset="0"/>
                <a:ea typeface="Arial" pitchFamily="34" charset="-122"/>
                <a:cs typeface="Arial" pitchFamily="34" charset="-120"/>
              </a:rPr>
              <a:t>4. Prioritisation &amp; Value Sizing</a:t>
            </a:r>
            <a:endParaRPr lang="en-US" sz="1100" dirty="0"/>
          </a:p>
        </p:txBody>
      </p:sp>
      <p:sp>
        <p:nvSpPr>
          <p:cNvPr id="18" name="Text 16"/>
          <p:cNvSpPr/>
          <p:nvPr/>
        </p:nvSpPr>
        <p:spPr>
          <a:xfrm>
            <a:off x="7662672" y="2377440"/>
            <a:ext cx="1828800" cy="196596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Effort and delivery complexity. Task impact and user reach. Quantifiable capacity benefit. Financial benefit and value potential.</a:t>
            </a:r>
            <a:endParaRPr lang="en-US" sz="850" dirty="0"/>
          </a:p>
        </p:txBody>
      </p:sp>
      <p:sp>
        <p:nvSpPr>
          <p:cNvPr id="19" name="Shape 17"/>
          <p:cNvSpPr/>
          <p:nvPr/>
        </p:nvSpPr>
        <p:spPr>
          <a:xfrm>
            <a:off x="9838944" y="1627632"/>
            <a:ext cx="2121408" cy="2880360"/>
          </a:xfrm>
          <a:prstGeom prst="rect">
            <a:avLst/>
          </a:prstGeom>
          <a:solidFill>
            <a:srgbClr val="F0F0F0"/>
          </a:solidFill>
          <a:ln w="12700">
            <a:solidFill>
              <a:srgbClr val="D0D0D0"/>
            </a:solidFill>
            <a:prstDash val="solid"/>
          </a:ln>
        </p:spPr>
      </p:sp>
      <p:sp>
        <p:nvSpPr>
          <p:cNvPr id="20" name="Text 18"/>
          <p:cNvSpPr/>
          <p:nvPr/>
        </p:nvSpPr>
        <p:spPr>
          <a:xfrm>
            <a:off x="9985248" y="1792224"/>
            <a:ext cx="1828800" cy="548640"/>
          </a:xfrm>
          <a:prstGeom prst="rect">
            <a:avLst/>
          </a:prstGeom>
          <a:noFill/>
          <a:ln/>
        </p:spPr>
        <p:txBody>
          <a:bodyPr wrap="square" lIns="0" tIns="0" rIns="0" bIns="0" rtlCol="0" anchor="ctr"/>
          <a:lstStyle/>
          <a:p>
            <a:pPr indent="0" marL="0">
              <a:buNone/>
            </a:pPr>
            <a:r>
              <a:rPr lang="en-US" sz="1100" b="1" dirty="0">
                <a:solidFill>
                  <a:srgbClr val="0B5394"/>
                </a:solidFill>
                <a:latin typeface="Arial" pitchFamily="34" charset="0"/>
                <a:ea typeface="Arial" pitchFamily="34" charset="-122"/>
                <a:cs typeface="Arial" pitchFamily="34" charset="-120"/>
              </a:rPr>
              <a:t>5. AI Use Case Details</a:t>
            </a:r>
            <a:endParaRPr lang="en-US" sz="1100" dirty="0"/>
          </a:p>
        </p:txBody>
      </p:sp>
      <p:sp>
        <p:nvSpPr>
          <p:cNvPr id="21" name="Text 19"/>
          <p:cNvSpPr/>
          <p:nvPr/>
        </p:nvSpPr>
        <p:spPr>
          <a:xfrm>
            <a:off x="9985248" y="2377440"/>
            <a:ext cx="1828800" cy="1965960"/>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Capability and financial benefit: the line-item breakdown behind the Section 3 summary figures.</a:t>
            </a:r>
            <a:endParaRPr lang="en-US" sz="850" dirty="0"/>
          </a:p>
        </p:txBody>
      </p:sp>
      <p:sp>
        <p:nvSpPr>
          <p:cNvPr id="22" name="Text 20"/>
          <p:cNvSpPr/>
          <p:nvPr/>
        </p:nvSpPr>
        <p:spPr>
          <a:xfrm>
            <a:off x="548640" y="4700016"/>
            <a:ext cx="36576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KEY FRAMEWORKS</a:t>
            </a:r>
            <a:endParaRPr lang="en-US" sz="850" dirty="0"/>
          </a:p>
        </p:txBody>
      </p:sp>
      <p:sp>
        <p:nvSpPr>
          <p:cNvPr id="23" name="Shape 21"/>
          <p:cNvSpPr/>
          <p:nvPr/>
        </p:nvSpPr>
        <p:spPr>
          <a:xfrm>
            <a:off x="548640" y="4919472"/>
            <a:ext cx="11091672" cy="786384"/>
          </a:xfrm>
          <a:prstGeom prst="rect">
            <a:avLst/>
          </a:prstGeom>
          <a:solidFill>
            <a:srgbClr val="EAF1F8"/>
          </a:solidFill>
          <a:ln w="12700">
            <a:solidFill>
              <a:srgbClr val="D0D0D0"/>
            </a:solidFill>
            <a:prstDash val="solid"/>
          </a:ln>
        </p:spPr>
      </p:sp>
      <p:sp>
        <p:nvSpPr>
          <p:cNvPr id="24" name="Text 22"/>
          <p:cNvSpPr/>
          <p:nvPr/>
        </p:nvSpPr>
        <p:spPr>
          <a:xfrm>
            <a:off x="749808" y="5029200"/>
            <a:ext cx="10689336" cy="274320"/>
          </a:xfrm>
          <a:prstGeom prst="rect">
            <a:avLst/>
          </a:prstGeom>
          <a:noFill/>
          <a:ln/>
        </p:spPr>
        <p:txBody>
          <a:bodyPr wrap="square" lIns="0" tIns="0" rIns="0" bIns="0" rtlCol="0" anchor="ctr"/>
          <a:lstStyle/>
          <a:p>
            <a:pPr indent="0" marL="0">
              <a:buNone/>
            </a:pPr>
            <a:r>
              <a:rPr lang="en-US" sz="1000" b="1" dirty="0">
                <a:solidFill>
                  <a:srgbClr val="0B5394"/>
                </a:solidFill>
                <a:latin typeface="Arial" pitchFamily="34" charset="0"/>
                <a:ea typeface="Arial" pitchFamily="34" charset="-122"/>
                <a:cs typeface="Arial" pitchFamily="34" charset="-120"/>
              </a:rPr>
              <a:t>RICE</a:t>
            </a:r>
            <a:pPr indent="0" marL="0">
              <a:buNone/>
            </a:pPr>
            <a:r>
              <a:rPr lang="en-US" sz="1000" dirty="0">
                <a:solidFill>
                  <a:srgbClr val="595959"/>
                </a:solidFill>
                <a:latin typeface="Arial" pitchFamily="34" charset="0"/>
                <a:ea typeface="Arial" pitchFamily="34" charset="-122"/>
                <a:cs typeface="Arial" pitchFamily="34" charset="-120"/>
              </a:rPr>
              <a:t> = Reach, Impact, Confidence, Effort. Score = Reach x Impact x Confidence / Effort.        </a:t>
            </a:r>
            <a:pPr indent="0" marL="0">
              <a:buNone/>
            </a:pPr>
            <a:r>
              <a:rPr lang="en-US" sz="1000" b="1" dirty="0">
                <a:solidFill>
                  <a:srgbClr val="0B5394"/>
                </a:solidFill>
                <a:latin typeface="Arial" pitchFamily="34" charset="0"/>
                <a:ea typeface="Arial" pitchFamily="34" charset="-122"/>
                <a:cs typeface="Arial" pitchFamily="34" charset="-120"/>
              </a:rPr>
              <a:t>RDA</a:t>
            </a:r>
            <a:pPr indent="0" marL="0">
              <a:buNone/>
            </a:pPr>
            <a:r>
              <a:rPr lang="en-US" sz="1000" dirty="0">
                <a:solidFill>
                  <a:srgbClr val="595959"/>
                </a:solidFill>
                <a:latin typeface="Arial" pitchFamily="34" charset="0"/>
                <a:ea typeface="Arial" pitchFamily="34" charset="-122"/>
                <a:cs typeface="Arial" pitchFamily="34" charset="-120"/>
              </a:rPr>
              <a:t> = Risks, Dependencies, Assumptions. The standard caveat log on any business case.</a:t>
            </a:r>
            <a:endParaRPr lang="en-US" sz="1000" dirty="0"/>
          </a:p>
        </p:txBody>
      </p:sp>
      <p:sp>
        <p:nvSpPr>
          <p:cNvPr id="25" name="Text 23"/>
          <p:cNvSpPr/>
          <p:nvPr/>
        </p:nvSpPr>
        <p:spPr>
          <a:xfrm>
            <a:off x="749808" y="5394960"/>
            <a:ext cx="10689336" cy="256032"/>
          </a:xfrm>
          <a:prstGeom prst="rect">
            <a:avLst/>
          </a:prstGeom>
          <a:noFill/>
          <a:ln/>
        </p:spPr>
        <p:txBody>
          <a:bodyPr wrap="square" lIns="0" tIns="0" rIns="0" bIns="0" rtlCol="0" anchor="ctr"/>
          <a:lstStyle/>
          <a:p>
            <a:pPr indent="0" marL="0">
              <a:buNone/>
            </a:pPr>
            <a:r>
              <a:rPr lang="en-US" sz="950" i="1" dirty="0">
                <a:solidFill>
                  <a:srgbClr val="595959"/>
                </a:solidFill>
                <a:latin typeface="Arial" pitchFamily="34" charset="0"/>
                <a:ea typeface="Arial" pitchFamily="34" charset="-122"/>
                <a:cs typeface="Arial" pitchFamily="34" charset="-120"/>
              </a:rPr>
              <a:t>Business Use Case Template:  [paste link here]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STAGE 4: THE REQUIREMENTS TEMPLATE</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Two Tracks. The AI Track Is the Generic Track Plus Part D.</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Parts A, B, C and E are identical in both. Nothing else differs, so a use case can move between tracks without rewriting anything.</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The Two Tracks</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6 / 12</a:t>
            </a:r>
            <a:endParaRPr lang="en-US" sz="800" dirty="0"/>
          </a:p>
        </p:txBody>
      </p:sp>
      <p:sp>
        <p:nvSpPr>
          <p:cNvPr id="7" name="Text 5"/>
          <p:cNvSpPr/>
          <p:nvPr/>
        </p:nvSpPr>
        <p:spPr>
          <a:xfrm>
            <a:off x="548640" y="1298448"/>
            <a:ext cx="544982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GENERIC TRACK   ·   14 SECTIONS</a:t>
            </a:r>
            <a:endParaRPr lang="en-US" sz="850" dirty="0"/>
          </a:p>
        </p:txBody>
      </p:sp>
      <p:sp>
        <p:nvSpPr>
          <p:cNvPr id="8" name="Shape 6"/>
          <p:cNvSpPr/>
          <p:nvPr/>
        </p:nvSpPr>
        <p:spPr>
          <a:xfrm>
            <a:off x="548640" y="1517904"/>
            <a:ext cx="5449824" cy="4535424"/>
          </a:xfrm>
          <a:prstGeom prst="rect">
            <a:avLst/>
          </a:prstGeom>
          <a:solidFill>
            <a:srgbClr val="F0F0F0"/>
          </a:solidFill>
          <a:ln w="12700">
            <a:solidFill>
              <a:srgbClr val="D0D0D0"/>
            </a:solidFill>
            <a:prstDash val="solid"/>
          </a:ln>
        </p:spPr>
      </p:sp>
      <p:sp>
        <p:nvSpPr>
          <p:cNvPr id="9" name="Text 7"/>
          <p:cNvSpPr/>
          <p:nvPr/>
        </p:nvSpPr>
        <p:spPr>
          <a:xfrm>
            <a:off x="749808" y="1700784"/>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A</a:t>
            </a:r>
            <a:pPr indent="0" marL="0">
              <a:buNone/>
            </a:pPr>
            <a:r>
              <a:rPr lang="en-US" sz="950" dirty="0">
                <a:solidFill>
                  <a:srgbClr val="595959"/>
                </a:solidFill>
                <a:latin typeface="Arial" pitchFamily="34" charset="0"/>
                <a:ea typeface="Arial" pitchFamily="34" charset="-122"/>
                <a:cs typeface="Arial" pitchFamily="34" charset="-120"/>
              </a:rPr>
              <a:t>   Context</a:t>
            </a:r>
            <a:endParaRPr lang="en-US" sz="950" dirty="0"/>
          </a:p>
        </p:txBody>
      </p:sp>
      <p:sp>
        <p:nvSpPr>
          <p:cNvPr id="10" name="Text 8"/>
          <p:cNvSpPr/>
          <p:nvPr/>
        </p:nvSpPr>
        <p:spPr>
          <a:xfrm>
            <a:off x="2834640" y="1874520"/>
            <a:ext cx="3017520" cy="358445"/>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1  Purpose &amp; Current State</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2  Scope &amp; Stakeholders</a:t>
            </a:r>
            <a:endParaRPr lang="en-US" sz="850" dirty="0"/>
          </a:p>
        </p:txBody>
      </p:sp>
      <p:sp>
        <p:nvSpPr>
          <p:cNvPr id="11" name="Text 9"/>
          <p:cNvSpPr/>
          <p:nvPr/>
        </p:nvSpPr>
        <p:spPr>
          <a:xfrm>
            <a:off x="749808" y="2269541"/>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B</a:t>
            </a:r>
            <a:pPr indent="0" marL="0">
              <a:buNone/>
            </a:pPr>
            <a:r>
              <a:rPr lang="en-US" sz="950" dirty="0">
                <a:solidFill>
                  <a:srgbClr val="595959"/>
                </a:solidFill>
                <a:latin typeface="Arial" pitchFamily="34" charset="0"/>
                <a:ea typeface="Arial" pitchFamily="34" charset="-122"/>
                <a:cs typeface="Arial" pitchFamily="34" charset="-120"/>
              </a:rPr>
              <a:t>   Behaviour</a:t>
            </a:r>
            <a:endParaRPr lang="en-US" sz="950" dirty="0"/>
          </a:p>
        </p:txBody>
      </p:sp>
      <p:sp>
        <p:nvSpPr>
          <p:cNvPr id="12" name="Text 10"/>
          <p:cNvSpPr/>
          <p:nvPr/>
        </p:nvSpPr>
        <p:spPr>
          <a:xfrm>
            <a:off x="2834640" y="2443277"/>
            <a:ext cx="3017520" cy="662026"/>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3  User Scenarios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4  Functional Requirements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5  Data &amp; Information</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6  Delivery &amp; Presentation</a:t>
            </a:r>
            <a:endParaRPr lang="en-US" sz="850" dirty="0"/>
          </a:p>
        </p:txBody>
      </p:sp>
      <p:sp>
        <p:nvSpPr>
          <p:cNvPr id="13" name="Text 11"/>
          <p:cNvSpPr/>
          <p:nvPr/>
        </p:nvSpPr>
        <p:spPr>
          <a:xfrm>
            <a:off x="749808" y="3141878"/>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C</a:t>
            </a:r>
            <a:pPr indent="0" marL="0">
              <a:buNone/>
            </a:pPr>
            <a:r>
              <a:rPr lang="en-US" sz="950" dirty="0">
                <a:solidFill>
                  <a:srgbClr val="595959"/>
                </a:solidFill>
                <a:latin typeface="Arial" pitchFamily="34" charset="0"/>
                <a:ea typeface="Arial" pitchFamily="34" charset="-122"/>
                <a:cs typeface="Arial" pitchFamily="34" charset="-120"/>
              </a:rPr>
              <a:t>   Quality &amp; Constraints</a:t>
            </a:r>
            <a:endParaRPr lang="en-US" sz="950" dirty="0"/>
          </a:p>
        </p:txBody>
      </p:sp>
      <p:sp>
        <p:nvSpPr>
          <p:cNvPr id="14" name="Text 12"/>
          <p:cNvSpPr/>
          <p:nvPr/>
        </p:nvSpPr>
        <p:spPr>
          <a:xfrm>
            <a:off x="2834640" y="3315614"/>
            <a:ext cx="3017520" cy="965606"/>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7  Quality Attributes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8  Security, Privacy &amp; Compliance</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9  Audit, Logging &amp; Retention</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10  Integrations &amp; Dependencies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11  Failure &amp; Edge Cases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12  Constraints &amp; Decisions</a:t>
            </a:r>
            <a:endParaRPr lang="en-US" sz="850" dirty="0"/>
          </a:p>
        </p:txBody>
      </p:sp>
      <p:sp>
        <p:nvSpPr>
          <p:cNvPr id="15" name="Text 13"/>
          <p:cNvSpPr/>
          <p:nvPr/>
        </p:nvSpPr>
        <p:spPr>
          <a:xfrm>
            <a:off x="749808" y="4317797"/>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E</a:t>
            </a:r>
            <a:pPr indent="0" marL="0">
              <a:buNone/>
            </a:pPr>
            <a:r>
              <a:rPr lang="en-US" sz="950" dirty="0">
                <a:solidFill>
                  <a:srgbClr val="595959"/>
                </a:solidFill>
                <a:latin typeface="Arial" pitchFamily="34" charset="0"/>
                <a:ea typeface="Arial" pitchFamily="34" charset="-122"/>
                <a:cs typeface="Arial" pitchFamily="34" charset="-120"/>
              </a:rPr>
              <a:t>   Closure</a:t>
            </a:r>
            <a:endParaRPr lang="en-US" sz="950" dirty="0"/>
          </a:p>
        </p:txBody>
      </p:sp>
      <p:sp>
        <p:nvSpPr>
          <p:cNvPr id="16" name="Text 14"/>
          <p:cNvSpPr/>
          <p:nvPr/>
        </p:nvSpPr>
        <p:spPr>
          <a:xfrm>
            <a:off x="2834640" y="4491533"/>
            <a:ext cx="3017520" cy="358445"/>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19  Acceptance Criteria</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20  Open Items &amp; Risks</a:t>
            </a:r>
            <a:endParaRPr lang="en-US" sz="850" dirty="0"/>
          </a:p>
        </p:txBody>
      </p:sp>
      <p:sp>
        <p:nvSpPr>
          <p:cNvPr id="17" name="Text 15"/>
          <p:cNvSpPr/>
          <p:nvPr/>
        </p:nvSpPr>
        <p:spPr>
          <a:xfrm>
            <a:off x="6190488" y="1298448"/>
            <a:ext cx="5449824"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AI-EXTENDED TRACK   ·   20 SECTIONS</a:t>
            </a:r>
            <a:endParaRPr lang="en-US" sz="850" dirty="0"/>
          </a:p>
        </p:txBody>
      </p:sp>
      <p:sp>
        <p:nvSpPr>
          <p:cNvPr id="18" name="Shape 16"/>
          <p:cNvSpPr/>
          <p:nvPr/>
        </p:nvSpPr>
        <p:spPr>
          <a:xfrm>
            <a:off x="6190488" y="1517904"/>
            <a:ext cx="5449824" cy="4535424"/>
          </a:xfrm>
          <a:prstGeom prst="rect">
            <a:avLst/>
          </a:prstGeom>
          <a:solidFill>
            <a:srgbClr val="F0F0F0"/>
          </a:solidFill>
          <a:ln w="12700">
            <a:solidFill>
              <a:srgbClr val="D0D0D0"/>
            </a:solidFill>
            <a:prstDash val="solid"/>
          </a:ln>
        </p:spPr>
      </p:sp>
      <p:sp>
        <p:nvSpPr>
          <p:cNvPr id="19" name="Text 17"/>
          <p:cNvSpPr/>
          <p:nvPr/>
        </p:nvSpPr>
        <p:spPr>
          <a:xfrm>
            <a:off x="6391656" y="1700784"/>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A</a:t>
            </a:r>
            <a:pPr indent="0" marL="0">
              <a:buNone/>
            </a:pPr>
            <a:r>
              <a:rPr lang="en-US" sz="950" dirty="0">
                <a:solidFill>
                  <a:srgbClr val="595959"/>
                </a:solidFill>
                <a:latin typeface="Arial" pitchFamily="34" charset="0"/>
                <a:ea typeface="Arial" pitchFamily="34" charset="-122"/>
                <a:cs typeface="Arial" pitchFamily="34" charset="-120"/>
              </a:rPr>
              <a:t>   Context</a:t>
            </a:r>
            <a:endParaRPr lang="en-US" sz="950" dirty="0"/>
          </a:p>
        </p:txBody>
      </p:sp>
      <p:sp>
        <p:nvSpPr>
          <p:cNvPr id="20" name="Text 18"/>
          <p:cNvSpPr/>
          <p:nvPr/>
        </p:nvSpPr>
        <p:spPr>
          <a:xfrm>
            <a:off x="8476488" y="1874520"/>
            <a:ext cx="3017520" cy="358445"/>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1  Purpose &amp; Current State</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2  Scope &amp; Stakeholders</a:t>
            </a:r>
            <a:endParaRPr lang="en-US" sz="850" dirty="0"/>
          </a:p>
        </p:txBody>
      </p:sp>
      <p:sp>
        <p:nvSpPr>
          <p:cNvPr id="21" name="Text 19"/>
          <p:cNvSpPr/>
          <p:nvPr/>
        </p:nvSpPr>
        <p:spPr>
          <a:xfrm>
            <a:off x="6391656" y="2269541"/>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B</a:t>
            </a:r>
            <a:pPr indent="0" marL="0">
              <a:buNone/>
            </a:pPr>
            <a:r>
              <a:rPr lang="en-US" sz="950" dirty="0">
                <a:solidFill>
                  <a:srgbClr val="595959"/>
                </a:solidFill>
                <a:latin typeface="Arial" pitchFamily="34" charset="0"/>
                <a:ea typeface="Arial" pitchFamily="34" charset="-122"/>
                <a:cs typeface="Arial" pitchFamily="34" charset="-120"/>
              </a:rPr>
              <a:t>   Behaviour</a:t>
            </a:r>
            <a:endParaRPr lang="en-US" sz="950" dirty="0"/>
          </a:p>
        </p:txBody>
      </p:sp>
      <p:sp>
        <p:nvSpPr>
          <p:cNvPr id="22" name="Text 20"/>
          <p:cNvSpPr/>
          <p:nvPr/>
        </p:nvSpPr>
        <p:spPr>
          <a:xfrm>
            <a:off x="8476488" y="2443277"/>
            <a:ext cx="3017520" cy="662026"/>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3  User Scenarios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4  Functional Requirements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5  Data &amp; Information</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6  Delivery &amp; Presentation</a:t>
            </a:r>
            <a:endParaRPr lang="en-US" sz="850" dirty="0"/>
          </a:p>
        </p:txBody>
      </p:sp>
      <p:sp>
        <p:nvSpPr>
          <p:cNvPr id="23" name="Text 21"/>
          <p:cNvSpPr/>
          <p:nvPr/>
        </p:nvSpPr>
        <p:spPr>
          <a:xfrm>
            <a:off x="6391656" y="3141878"/>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C</a:t>
            </a:r>
            <a:pPr indent="0" marL="0">
              <a:buNone/>
            </a:pPr>
            <a:r>
              <a:rPr lang="en-US" sz="950" dirty="0">
                <a:solidFill>
                  <a:srgbClr val="595959"/>
                </a:solidFill>
                <a:latin typeface="Arial" pitchFamily="34" charset="0"/>
                <a:ea typeface="Arial" pitchFamily="34" charset="-122"/>
                <a:cs typeface="Arial" pitchFamily="34" charset="-120"/>
              </a:rPr>
              <a:t>   Quality &amp; Constraints</a:t>
            </a:r>
            <a:endParaRPr lang="en-US" sz="950" dirty="0"/>
          </a:p>
        </p:txBody>
      </p:sp>
      <p:sp>
        <p:nvSpPr>
          <p:cNvPr id="24" name="Text 22"/>
          <p:cNvSpPr/>
          <p:nvPr/>
        </p:nvSpPr>
        <p:spPr>
          <a:xfrm>
            <a:off x="8476488" y="3315614"/>
            <a:ext cx="3017520" cy="965606"/>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7  Quality Attributes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8  Security, Privacy &amp; Compliance</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9  Audit, Logging &amp; Retention</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10  Integrations &amp; Dependencies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11  Failure &amp; Edge Cases</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12  Constraints &amp; Decisions</a:t>
            </a:r>
            <a:endParaRPr lang="en-US" sz="850" dirty="0"/>
          </a:p>
        </p:txBody>
      </p:sp>
      <p:sp>
        <p:nvSpPr>
          <p:cNvPr id="25" name="Text 23"/>
          <p:cNvSpPr/>
          <p:nvPr/>
        </p:nvSpPr>
        <p:spPr>
          <a:xfrm>
            <a:off x="6391656" y="4317797"/>
            <a:ext cx="2103120" cy="182880"/>
          </a:xfrm>
          <a:prstGeom prst="rect">
            <a:avLst/>
          </a:prstGeom>
          <a:noFill/>
          <a:ln/>
        </p:spPr>
        <p:txBody>
          <a:bodyPr wrap="square" lIns="0" tIns="0" rIns="0" bIns="0" rtlCol="0" anchor="ctr"/>
          <a:lstStyle/>
          <a:p>
            <a:pPr indent="0" marL="0">
              <a:buNone/>
            </a:pPr>
            <a:r>
              <a:rPr lang="en-US" sz="950" b="1" dirty="0">
                <a:solidFill>
                  <a:srgbClr val="E60000"/>
                </a:solidFill>
                <a:latin typeface="Arial" pitchFamily="34" charset="0"/>
                <a:ea typeface="Arial" pitchFamily="34" charset="-122"/>
                <a:cs typeface="Arial" pitchFamily="34" charset="-120"/>
              </a:rPr>
              <a:t>Part D</a:t>
            </a:r>
            <a:pPr indent="0" marL="0">
              <a:buNone/>
            </a:pPr>
            <a:r>
              <a:rPr lang="en-US" sz="950" dirty="0">
                <a:solidFill>
                  <a:srgbClr val="595959"/>
                </a:solidFill>
                <a:latin typeface="Arial" pitchFamily="34" charset="0"/>
                <a:ea typeface="Arial" pitchFamily="34" charset="-122"/>
                <a:cs typeface="Arial" pitchFamily="34" charset="-120"/>
              </a:rPr>
              <a:t>   AI Governance</a:t>
            </a:r>
            <a:endParaRPr lang="en-US" sz="950" dirty="0"/>
          </a:p>
        </p:txBody>
      </p:sp>
      <p:sp>
        <p:nvSpPr>
          <p:cNvPr id="26" name="Text 24"/>
          <p:cNvSpPr/>
          <p:nvPr/>
        </p:nvSpPr>
        <p:spPr>
          <a:xfrm>
            <a:off x="8476488" y="4491533"/>
            <a:ext cx="3017520" cy="965606"/>
          </a:xfrm>
          <a:prstGeom prst="rect">
            <a:avLst/>
          </a:prstGeom>
          <a:noFill/>
          <a:ln/>
        </p:spPr>
        <p:txBody>
          <a:bodyPr wrap="square" lIns="0" tIns="0" rIns="0" bIns="0" rtlCol="0" anchor="t"/>
          <a:lstStyle/>
          <a:p>
            <a:pPr indent="0" marL="0">
              <a:lnSpc>
                <a:spcPct val="100000"/>
              </a:lnSpc>
              <a:buNone/>
            </a:pPr>
            <a:r>
              <a:rPr lang="en-US" sz="850" dirty="0">
                <a:solidFill>
                  <a:srgbClr val="E60000"/>
                </a:solidFill>
                <a:latin typeface="Arial" pitchFamily="34" charset="0"/>
                <a:ea typeface="Arial" pitchFamily="34" charset="-122"/>
                <a:cs typeface="Arial" pitchFamily="34" charset="-120"/>
              </a:rPr>
              <a:t>13  AI Classification &amp; Justification</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14  AI Behaviour &amp; Output Validation</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15  Confidence &amp; Human Review</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16  Provenance &amp; Lineage</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17  Evaluation &amp; Test Evidence</a:t>
            </a:r>
            <a:endParaRPr lang="en-US" sz="850" dirty="0"/>
          </a:p>
          <a:p>
            <a:pPr indent="0" marL="0">
              <a:lnSpc>
                <a:spcPct val="100000"/>
              </a:lnSpc>
              <a:buNone/>
            </a:pPr>
            <a:r>
              <a:rPr lang="en-US" sz="850" dirty="0">
                <a:solidFill>
                  <a:srgbClr val="E60000"/>
                </a:solidFill>
                <a:latin typeface="Arial" pitchFamily="34" charset="0"/>
                <a:ea typeface="Arial" pitchFamily="34" charset="-122"/>
                <a:cs typeface="Arial" pitchFamily="34" charset="-120"/>
              </a:rPr>
              <a:t>18  Model Lifecycle &amp; Monitoring</a:t>
            </a:r>
            <a:endParaRPr lang="en-US" sz="850" dirty="0"/>
          </a:p>
        </p:txBody>
      </p:sp>
      <p:sp>
        <p:nvSpPr>
          <p:cNvPr id="27" name="Text 25"/>
          <p:cNvSpPr/>
          <p:nvPr/>
        </p:nvSpPr>
        <p:spPr>
          <a:xfrm>
            <a:off x="6391656" y="5493715"/>
            <a:ext cx="210312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Part E</a:t>
            </a:r>
            <a:pPr indent="0" marL="0">
              <a:buNone/>
            </a:pPr>
            <a:r>
              <a:rPr lang="en-US" sz="950" dirty="0">
                <a:solidFill>
                  <a:srgbClr val="595959"/>
                </a:solidFill>
                <a:latin typeface="Arial" pitchFamily="34" charset="0"/>
                <a:ea typeface="Arial" pitchFamily="34" charset="-122"/>
                <a:cs typeface="Arial" pitchFamily="34" charset="-120"/>
              </a:rPr>
              <a:t>   Closure</a:t>
            </a:r>
            <a:endParaRPr lang="en-US" sz="950" dirty="0"/>
          </a:p>
        </p:txBody>
      </p:sp>
      <p:sp>
        <p:nvSpPr>
          <p:cNvPr id="28" name="Text 26"/>
          <p:cNvSpPr/>
          <p:nvPr/>
        </p:nvSpPr>
        <p:spPr>
          <a:xfrm>
            <a:off x="8476488" y="5667451"/>
            <a:ext cx="3017520" cy="358445"/>
          </a:xfrm>
          <a:prstGeom prst="rect">
            <a:avLst/>
          </a:prstGeom>
          <a:noFill/>
          <a:ln/>
        </p:spPr>
        <p:txBody>
          <a:bodyPr wrap="square" lIns="0" tIns="0" rIns="0" bIns="0" rtlCol="0" anchor="t"/>
          <a:lstStyle/>
          <a:p>
            <a:pPr indent="0" marL="0">
              <a:lnSpc>
                <a:spcPct val="100000"/>
              </a:lnSpc>
              <a:buNone/>
            </a:pPr>
            <a:r>
              <a:rPr lang="en-US" sz="850" dirty="0">
                <a:solidFill>
                  <a:srgbClr val="0B5394"/>
                </a:solidFill>
                <a:latin typeface="Arial" pitchFamily="34" charset="0"/>
                <a:ea typeface="Arial" pitchFamily="34" charset="-122"/>
                <a:cs typeface="Arial" pitchFamily="34" charset="-120"/>
              </a:rPr>
              <a:t>19  Acceptance Criteria</a:t>
            </a:r>
            <a:endParaRPr lang="en-US" sz="850" dirty="0"/>
          </a:p>
          <a:p>
            <a:pPr indent="0" marL="0">
              <a:lnSpc>
                <a:spcPct val="100000"/>
              </a:lnSpc>
              <a:buNone/>
            </a:pPr>
            <a:r>
              <a:rPr lang="en-US" sz="850" dirty="0">
                <a:solidFill>
                  <a:srgbClr val="0B5394"/>
                </a:solidFill>
                <a:latin typeface="Arial" pitchFamily="34" charset="0"/>
                <a:ea typeface="Arial" pitchFamily="34" charset="-122"/>
                <a:cs typeface="Arial" pitchFamily="34" charset="-120"/>
              </a:rPr>
              <a:t>20  Open Items &amp; Risks</a:t>
            </a:r>
            <a:endParaRPr lang="en-US" sz="850" dirty="0"/>
          </a:p>
        </p:txBody>
      </p:sp>
      <p:sp>
        <p:nvSpPr>
          <p:cNvPr id="29" name="Text 27"/>
          <p:cNvSpPr/>
          <p:nvPr/>
        </p:nvSpPr>
        <p:spPr>
          <a:xfrm>
            <a:off x="548640" y="6108192"/>
            <a:ext cx="11091672" cy="219456"/>
          </a:xfrm>
          <a:prstGeom prst="rect">
            <a:avLst/>
          </a:prstGeom>
          <a:noFill/>
          <a:ln/>
        </p:spPr>
        <p:txBody>
          <a:bodyPr wrap="square" lIns="0" tIns="0" rIns="0" bIns="0" rtlCol="0" anchor="ctr"/>
          <a:lstStyle/>
          <a:p>
            <a:pPr indent="0" marL="0">
              <a:buNone/>
            </a:pPr>
            <a:r>
              <a:rPr lang="en-US" sz="900" i="1" dirty="0">
                <a:solidFill>
                  <a:srgbClr val="595959"/>
                </a:solidFill>
                <a:latin typeface="Arial" pitchFamily="34" charset="0"/>
                <a:ea typeface="Arial" pitchFamily="34" charset="-122"/>
                <a:cs typeface="Arial" pitchFamily="34" charset="-120"/>
              </a:rPr>
              <a:t>Both tracks close with Appendix A Glossary and Appendix B Compliance Mapping.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STAGE 4: THE REQUIREMENTS TEMPLATE</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400" b="1" dirty="0">
                <a:solidFill>
                  <a:srgbClr val="000000"/>
                </a:solidFill>
                <a:latin typeface="Arial" pitchFamily="34" charset="0"/>
                <a:ea typeface="Arial" pitchFamily="34" charset="-122"/>
                <a:cs typeface="Arial" pitchFamily="34" charset="-120"/>
              </a:rPr>
              <a:t>What Each of the Twenty Sections Actually Means</a:t>
            </a:r>
            <a:endParaRPr lang="en-US" sz="24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Part D, Sections 13 to 18, is AI-specific. Everything else is standard requirements practice, at banking depth.</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Field Guide</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7 / 12</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566928"/>
                <a:gridCol w="2395728"/>
                <a:gridCol w="310896"/>
                <a:gridCol w="7818120"/>
              </a:tblGrid>
              <a:tr h="193853">
                <a:tc>
                  <a:txBody>
                    <a:bodyPr/>
                    <a:lstStyle/>
                    <a:p>
                      <a:pPr indent="0" marL="0">
                        <a:buNone/>
                      </a:pPr>
                      <a:r>
                        <a:rPr lang="en-US" sz="850" b="1" dirty="0">
                          <a:solidFill>
                            <a:srgbClr val="000000"/>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850" b="1" dirty="0">
                          <a:solidFill>
                            <a:srgbClr val="000000"/>
                          </a:solidFill>
                          <a:latin typeface="Arial" pitchFamily="34" charset="0"/>
                          <a:ea typeface="Arial" pitchFamily="34" charset="-122"/>
                          <a:cs typeface="Arial" pitchFamily="34" charset="-120"/>
                        </a:rPr>
                        <a:t>Section</a:t>
                      </a:r>
                      <a:endParaRPr lang="en-US" sz="85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endParaRPr lang="en-US" sz="85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850" b="1" dirty="0">
                          <a:solidFill>
                            <a:srgbClr val="000000"/>
                          </a:solidFill>
                          <a:latin typeface="Arial" pitchFamily="34" charset="0"/>
                          <a:ea typeface="Arial" pitchFamily="34" charset="-122"/>
                          <a:cs typeface="Arial" pitchFamily="34" charset="-120"/>
                        </a:rPr>
                        <a:t>What it means</a:t>
                      </a:r>
                      <a:endParaRPr lang="en-US" sz="85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Purpose &amp; Current State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Why this exists: how it is done today, what goes wrong, and what changes.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Scope &amp; Stakeholders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is in, what is out, who may do what, and how far this iteration goes: PoC, MVP, or Production.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User Scenarios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The distinct ways it is used, ordered by value, each one independently testable.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Functional Requirements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it must do, written in EARS form, each requirement traced to a scenario.</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Data &amp; Information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The datasets, their source of truth, classification, how they join, and known defects.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Delivery &amp; Presentation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Where the output lands, and what the user sees on failure or with no data yet.</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7</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Quality Attributes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How well it must perform: volume and rhythm, availability, response, cost, recovery.</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Security, Privacy &amp; Compliance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Who may access it, what data is involved, and which obligations constrain the work.</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Audit, Logging &amp; Retention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must be recorded, for how long, and the obligation each period derives from.</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Integrations &amp; Dependencies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it talks to, who owns each, and what happens when one is slow or absent.</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Failure &amp; Edge Cases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Bad input, concurrent action, overload, unexpected shapes, and extended outage.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Constraints &amp; Decisions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was fixed before this work began, and what was considered and rejected, with the reason.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E6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AI Classification &amp; Justification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700" b="1" dirty="0">
                          <a:solidFill>
                            <a:srgbClr val="E60000"/>
                          </a:solidFill>
                          <a:latin typeface="Arial" pitchFamily="34" charset="0"/>
                          <a:ea typeface="Arial" pitchFamily="34" charset="-122"/>
                          <a:cs typeface="Arial" pitchFamily="34" charset="-120"/>
                        </a:rPr>
                        <a:t>AI</a:t>
                      </a: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Which topic this is, why a model rather than rules, and whether it decides or recommends.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E6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AI Behaviour &amp; Output Validation</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700" b="1" dirty="0">
                          <a:solidFill>
                            <a:srgbClr val="E60000"/>
                          </a:solidFill>
                          <a:latin typeface="Arial" pitchFamily="34" charset="0"/>
                          <a:ea typeface="Arial" pitchFamily="34" charset="-122"/>
                          <a:cs typeface="Arial" pitchFamily="34" charset="-120"/>
                        </a:rPr>
                        <a:t>AI</a:t>
                      </a: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Correctness rules on model output, and where an absent value is expected rather than an error.</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E6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Confidence &amp; Human Review</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700" b="1" dirty="0">
                          <a:solidFill>
                            <a:srgbClr val="E60000"/>
                          </a:solidFill>
                          <a:latin typeface="Arial" pitchFamily="34" charset="0"/>
                          <a:ea typeface="Arial" pitchFamily="34" charset="-122"/>
                          <a:cs typeface="Arial" pitchFamily="34" charset="-120"/>
                        </a:rPr>
                        <a:t>AI</a:t>
                      </a: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How sure the system is, whether that signal is real, and who reviews what it is unsure about.</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E60000"/>
                          </a:solidFill>
                          <a:latin typeface="Arial" pitchFamily="34" charset="0"/>
                          <a:ea typeface="Arial" pitchFamily="34" charset="-122"/>
                          <a:cs typeface="Arial" pitchFamily="34" charset="-120"/>
                        </a:rPr>
                        <a:t>16</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Provenance &amp; Lineage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700" b="1" dirty="0">
                          <a:solidFill>
                            <a:srgbClr val="E60000"/>
                          </a:solidFill>
                          <a:latin typeface="Arial" pitchFamily="34" charset="0"/>
                          <a:ea typeface="Arial" pitchFamily="34" charset="-122"/>
                          <a:cs typeface="Arial" pitchFamily="34" charset="-120"/>
                        </a:rPr>
                        <a:t>AI</a:t>
                      </a: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each output records, so a figure can be traced back and defended later.</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E60000"/>
                          </a:solidFill>
                          <a:latin typeface="Arial" pitchFamily="34" charset="0"/>
                          <a:ea typeface="Arial" pitchFamily="34" charset="-122"/>
                          <a:cs typeface="Arial" pitchFamily="34" charset="-120"/>
                        </a:rPr>
                        <a:t>17</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Evaluation &amp; Test Evidence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700" b="1" dirty="0">
                          <a:solidFill>
                            <a:srgbClr val="E60000"/>
                          </a:solidFill>
                          <a:latin typeface="Arial" pitchFamily="34" charset="0"/>
                          <a:ea typeface="Arial" pitchFamily="34" charset="-122"/>
                          <a:cs typeface="Arial" pitchFamily="34" charset="-120"/>
                        </a:rPr>
                        <a:t>AI</a:t>
                      </a: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The test data with known answers, where truth comes from, and the accuracy target per source type.</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E6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Model Lifecycle &amp; Monitoring</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700" b="1" dirty="0">
                          <a:solidFill>
                            <a:srgbClr val="E60000"/>
                          </a:solidFill>
                          <a:latin typeface="Arial" pitchFamily="34" charset="0"/>
                          <a:ea typeface="Arial" pitchFamily="34" charset="-122"/>
                          <a:cs typeface="Arial" pitchFamily="34" charset="-120"/>
                        </a:rPr>
                        <a:t>AI</a:t>
                      </a: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What is watched after go-live, and what triggers re-validation of the model.</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Acceptance Criteria</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The measurable conditions that define done, each traced to a requirement.</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Open Items &amp; Risks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Decisions still genuinely open, and what could go wrong with delivering this.</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A</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Appendix A: Glossary</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Each term defined once, with any conflicting use elsewhere in the bank recorded.</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193853">
                <a:tc>
                  <a:txBody>
                    <a:bodyPr/>
                    <a:lstStyle/>
                    <a:p>
                      <a:pPr indent="0" marL="0">
                        <a:buNone/>
                      </a:pPr>
                      <a:r>
                        <a:rPr lang="en-US" sz="800" b="1" dirty="0">
                          <a:solidFill>
                            <a:srgbClr val="0B5394"/>
                          </a:solidFill>
                          <a:latin typeface="Arial" pitchFamily="34" charset="0"/>
                          <a:ea typeface="Arial" pitchFamily="34" charset="-122"/>
                          <a:cs typeface="Arial" pitchFamily="34" charset="-120"/>
                        </a:rPr>
                        <a:t>B</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b="1" dirty="0">
                          <a:solidFill>
                            <a:srgbClr val="000000"/>
                          </a:solidFill>
                          <a:latin typeface="Arial" pitchFamily="34" charset="0"/>
                          <a:ea typeface="Arial" pitchFamily="34" charset="-122"/>
                          <a:cs typeface="Arial" pitchFamily="34" charset="-120"/>
                        </a:rPr>
                        <a:t>Appendix B: Compliance Mapping</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endParaRPr lang="en-US" sz="7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00" dirty="0">
                          <a:solidFill>
                            <a:srgbClr val="595959"/>
                          </a:solidFill>
                          <a:latin typeface="Arial" pitchFamily="34" charset="0"/>
                          <a:ea typeface="Arial" pitchFamily="34" charset="-122"/>
                          <a:cs typeface="Arial" pitchFamily="34" charset="-120"/>
                        </a:rPr>
                        <a:t>Traceability from each applicable control to the section that satisfies it.</a:t>
                      </a:r>
                      <a:endParaRPr lang="en-US" sz="800" dirty="0">
                        <a:latin typeface="Arial" charset="0"/>
                        <a:ea typeface="Arial" charset="0"/>
                        <a:cs typeface="Arial" charset="0"/>
                      </a:endParaRPr>
                    </a:p>
                  </a:txBody>
                  <a:tcPr marL="54864" marR="54864" marT="18288" marB="18288"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STAGE 4: THE INTERVIEW QUESTION CATALOG</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Depth Decides How Many Questions You Ask in Each Section</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All twenty sections exist at every depth. What changes is how many questions inside each one the interview covers. Only Section 16 is skipped, and only at Lightweight.</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Question Catalog and Coverage</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8 / 12</a:t>
            </a:r>
            <a:endParaRPr lang="en-US" sz="800" dirty="0"/>
          </a:p>
        </p:txBody>
      </p:sp>
      <p:sp>
        <p:nvSpPr>
          <p:cNvPr id="7" name="Text 5"/>
          <p:cNvSpPr/>
          <p:nvPr/>
        </p:nvSpPr>
        <p:spPr>
          <a:xfrm>
            <a:off x="548640" y="1389888"/>
            <a:ext cx="54864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QUESTIONS ASKED, BY PART  (CUMULATIVE)</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9344"/>
          <a:ext cx="5486400" cy="914400"/>
        </p:xfrm>
        <a:graphic>
          <a:graphicData uri="http://schemas.openxmlformats.org/drawingml/2006/table">
            <a:tbl>
              <a:tblPr/>
              <a:tblGrid>
                <a:gridCol w="713232"/>
                <a:gridCol w="2487168"/>
                <a:gridCol w="758952"/>
                <a:gridCol w="758952"/>
                <a:gridCol w="768096"/>
              </a:tblGrid>
              <a:tr h="265176">
                <a:tc>
                  <a:txBody>
                    <a:bodyPr/>
                    <a:lstStyle/>
                    <a:p>
                      <a:pPr algn="l" indent="0" marL="0">
                        <a:buNone/>
                      </a:pPr>
                      <a:r>
                        <a:rPr lang="en-US" sz="900" b="1" dirty="0">
                          <a:solidFill>
                            <a:srgbClr val="000000"/>
                          </a:solidFill>
                          <a:latin typeface="Arial" pitchFamily="34" charset="0"/>
                          <a:ea typeface="Arial" pitchFamily="34" charset="-122"/>
                          <a:cs typeface="Arial" pitchFamily="34" charset="-120"/>
                        </a:rPr>
                        <a:t>Part</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algn="l" indent="0" marL="0">
                        <a:buNone/>
                      </a:pP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L</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S</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E</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r>
              <a:tr h="265176">
                <a:tc>
                  <a:txBody>
                    <a:bodyPr/>
                    <a:lstStyle/>
                    <a:p>
                      <a:pPr indent="0" marL="0">
                        <a:buNone/>
                      </a:pPr>
                      <a:r>
                        <a:rPr lang="en-US" sz="900" b="1" dirty="0">
                          <a:solidFill>
                            <a:srgbClr val="000000"/>
                          </a:solidFill>
                          <a:latin typeface="Arial" pitchFamily="34" charset="0"/>
                          <a:ea typeface="Arial" pitchFamily="34" charset="-122"/>
                          <a:cs typeface="Arial" pitchFamily="34" charset="-120"/>
                        </a:rPr>
                        <a:t>Part A</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Context</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r>
                        <a:rPr lang="en-US" sz="900" b="1" dirty="0">
                          <a:solidFill>
                            <a:srgbClr val="000000"/>
                          </a:solidFill>
                          <a:latin typeface="Arial" pitchFamily="34" charset="0"/>
                          <a:ea typeface="Arial" pitchFamily="34" charset="-122"/>
                          <a:cs typeface="Arial" pitchFamily="34" charset="-120"/>
                        </a:rPr>
                        <a:t>Part B</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Behaviour</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35</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46</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r>
                        <a:rPr lang="en-US" sz="900" b="1" dirty="0">
                          <a:solidFill>
                            <a:srgbClr val="000000"/>
                          </a:solidFill>
                          <a:latin typeface="Arial" pitchFamily="34" charset="0"/>
                          <a:ea typeface="Arial" pitchFamily="34" charset="-122"/>
                          <a:cs typeface="Arial" pitchFamily="34" charset="-120"/>
                        </a:rPr>
                        <a:t>Part C</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Quality &amp; Constraints</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38</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58</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r>
                        <a:rPr lang="en-US" sz="900" b="1" dirty="0">
                          <a:solidFill>
                            <a:srgbClr val="E60000"/>
                          </a:solidFill>
                          <a:latin typeface="Arial" pitchFamily="34" charset="0"/>
                          <a:ea typeface="Arial" pitchFamily="34" charset="-122"/>
                          <a:cs typeface="Arial" pitchFamily="34" charset="-120"/>
                        </a:rPr>
                        <a:t>Part D</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AI Governance</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42</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r>
                        <a:rPr lang="en-US" sz="900" b="1" dirty="0">
                          <a:solidFill>
                            <a:srgbClr val="000000"/>
                          </a:solidFill>
                          <a:latin typeface="Arial" pitchFamily="34" charset="0"/>
                          <a:ea typeface="Arial" pitchFamily="34" charset="-122"/>
                          <a:cs typeface="Arial" pitchFamily="34" charset="-120"/>
                        </a:rPr>
                        <a:t>Part E</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Closure</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Appendix A and B</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900" dirty="0">
                          <a:solidFill>
                            <a:srgbClr val="595959"/>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r>
                        <a:rPr lang="en-US" sz="950" b="1" dirty="0">
                          <a:solidFill>
                            <a:srgbClr val="000000"/>
                          </a:solidFill>
                          <a:latin typeface="Arial" pitchFamily="34" charset="0"/>
                          <a:ea typeface="Arial" pitchFamily="34" charset="-122"/>
                          <a:cs typeface="Arial" pitchFamily="34" charset="-120"/>
                        </a:rPr>
                        <a:t>Total</a:t>
                      </a:r>
                      <a:endParaRPr lang="en-US" sz="9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E60000"/>
                          </a:solidFill>
                          <a:latin typeface="Arial" pitchFamily="34" charset="0"/>
                          <a:ea typeface="Arial" pitchFamily="34" charset="-122"/>
                          <a:cs typeface="Arial" pitchFamily="34" charset="-120"/>
                        </a:rPr>
                        <a:t>AI-Extended track</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000" b="1" dirty="0">
                          <a:solidFill>
                            <a:srgbClr val="E60000"/>
                          </a:solidFill>
                          <a:latin typeface="Arial" pitchFamily="34" charset="0"/>
                          <a:ea typeface="Arial" pitchFamily="34" charset="-122"/>
                          <a:cs typeface="Arial" pitchFamily="34" charset="-120"/>
                        </a:rPr>
                        <a:t>45</a:t>
                      </a:r>
                      <a:endParaRPr lang="en-US" sz="10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000" b="1" dirty="0">
                          <a:solidFill>
                            <a:srgbClr val="E60000"/>
                          </a:solidFill>
                          <a:latin typeface="Arial" pitchFamily="34" charset="0"/>
                          <a:ea typeface="Arial" pitchFamily="34" charset="-122"/>
                          <a:cs typeface="Arial" pitchFamily="34" charset="-120"/>
                        </a:rPr>
                        <a:t>125</a:t>
                      </a:r>
                      <a:endParaRPr lang="en-US" sz="10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000" b="1" dirty="0">
                          <a:solidFill>
                            <a:srgbClr val="E60000"/>
                          </a:solidFill>
                          <a:latin typeface="Arial" pitchFamily="34" charset="0"/>
                          <a:ea typeface="Arial" pitchFamily="34" charset="-122"/>
                          <a:cs typeface="Arial" pitchFamily="34" charset="-120"/>
                        </a:rPr>
                        <a:t>186</a:t>
                      </a:r>
                      <a:endParaRPr lang="en-US" sz="10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65176">
                <a:tc>
                  <a:txBody>
                    <a:bodyPr/>
                    <a:lstStyle/>
                    <a:p>
                      <a:pPr indent="0" marL="0">
                        <a:buNone/>
                      </a:pPr>
                      <a:endParaRPr lang="en-US" sz="9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0B5394"/>
                          </a:solidFill>
                          <a:latin typeface="Arial" pitchFamily="34" charset="0"/>
                          <a:ea typeface="Arial" pitchFamily="34" charset="-122"/>
                          <a:cs typeface="Arial" pitchFamily="34" charset="-120"/>
                        </a:rPr>
                        <a:t>Generic track</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000" b="1" dirty="0">
                          <a:solidFill>
                            <a:srgbClr val="0B5394"/>
                          </a:solidFill>
                          <a:latin typeface="Arial" pitchFamily="34" charset="0"/>
                          <a:ea typeface="Arial" pitchFamily="34" charset="-122"/>
                          <a:cs typeface="Arial" pitchFamily="34" charset="-120"/>
                        </a:rPr>
                        <a:t>34</a:t>
                      </a:r>
                      <a:endParaRPr lang="en-US" sz="10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000" b="1" dirty="0">
                          <a:solidFill>
                            <a:srgbClr val="0B5394"/>
                          </a:solidFill>
                          <a:latin typeface="Arial" pitchFamily="34" charset="0"/>
                          <a:ea typeface="Arial" pitchFamily="34" charset="-122"/>
                          <a:cs typeface="Arial" pitchFamily="34" charset="-120"/>
                        </a:rPr>
                        <a:t>92</a:t>
                      </a:r>
                      <a:endParaRPr lang="en-US" sz="10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000" b="1" dirty="0">
                          <a:solidFill>
                            <a:srgbClr val="0B5394"/>
                          </a:solidFill>
                          <a:latin typeface="Arial" pitchFamily="34" charset="0"/>
                          <a:ea typeface="Arial" pitchFamily="34" charset="-122"/>
                          <a:cs typeface="Arial" pitchFamily="34" charset="-120"/>
                        </a:rPr>
                        <a:t>122</a:t>
                      </a:r>
                      <a:endParaRPr lang="en-US" sz="10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
        <p:nvSpPr>
          <p:cNvPr id="9" name="Shape 6"/>
          <p:cNvSpPr/>
          <p:nvPr/>
        </p:nvSpPr>
        <p:spPr>
          <a:xfrm>
            <a:off x="548640" y="4315968"/>
            <a:ext cx="5486400" cy="1060704"/>
          </a:xfrm>
          <a:prstGeom prst="rect">
            <a:avLst/>
          </a:prstGeom>
          <a:solidFill>
            <a:srgbClr val="EAF1F8"/>
          </a:solidFill>
          <a:ln w="12700">
            <a:solidFill>
              <a:srgbClr val="D0D0D0"/>
            </a:solidFill>
            <a:prstDash val="solid"/>
          </a:ln>
        </p:spPr>
      </p:sp>
      <p:sp>
        <p:nvSpPr>
          <p:cNvPr id="10" name="Text 7"/>
          <p:cNvSpPr/>
          <p:nvPr/>
        </p:nvSpPr>
        <p:spPr>
          <a:xfrm>
            <a:off x="731520" y="4425696"/>
            <a:ext cx="5120640" cy="859536"/>
          </a:xfrm>
          <a:prstGeom prst="rect">
            <a:avLst/>
          </a:prstGeom>
          <a:noFill/>
          <a:ln/>
        </p:spPr>
        <p:txBody>
          <a:bodyPr wrap="square" lIns="0" tIns="0" rIns="0" bIns="0" rtlCol="0" anchor="ctr"/>
          <a:lstStyle/>
          <a:p>
            <a:pPr indent="0" marL="0">
              <a:lnSpc>
                <a:spcPct val="110000"/>
              </a:lnSpc>
              <a:buNone/>
            </a:pPr>
            <a:r>
              <a:rPr lang="en-US" sz="950" dirty="0">
                <a:solidFill>
                  <a:srgbClr val="0B5394"/>
                </a:solidFill>
                <a:latin typeface="Arial" pitchFamily="34" charset="0"/>
                <a:ea typeface="Arial" pitchFamily="34" charset="-122"/>
                <a:cs typeface="Arial" pitchFamily="34" charset="-120"/>
              </a:rPr>
              <a:t>Every question in this table comes from the interview question catalog, filed under the section its answer belongs to. Markers are cumulative: Standard asks every [L] and [S] question, Exhaustive asks all three.</a:t>
            </a:r>
            <a:endParaRPr lang="en-US" sz="950" dirty="0"/>
          </a:p>
        </p:txBody>
      </p:sp>
      <p:sp>
        <p:nvSpPr>
          <p:cNvPr id="11" name="Text 8"/>
          <p:cNvSpPr/>
          <p:nvPr/>
        </p:nvSpPr>
        <p:spPr>
          <a:xfrm>
            <a:off x="6254496" y="1389888"/>
            <a:ext cx="5385816"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DOCUMENTS</a:t>
            </a:r>
            <a:endParaRPr lang="en-US" sz="850" dirty="0"/>
          </a:p>
        </p:txBody>
      </p:sp>
      <p:sp>
        <p:nvSpPr>
          <p:cNvPr id="12" name="Shape 9"/>
          <p:cNvSpPr/>
          <p:nvPr/>
        </p:nvSpPr>
        <p:spPr>
          <a:xfrm>
            <a:off x="6254496" y="1609344"/>
            <a:ext cx="5385816" cy="3767328"/>
          </a:xfrm>
          <a:prstGeom prst="rect">
            <a:avLst/>
          </a:prstGeom>
          <a:solidFill>
            <a:srgbClr val="F0F0F0"/>
          </a:solidFill>
          <a:ln w="12700">
            <a:solidFill>
              <a:srgbClr val="D0D0D0"/>
            </a:solidFill>
            <a:prstDash val="solid"/>
          </a:ln>
        </p:spPr>
      </p:sp>
      <p:sp>
        <p:nvSpPr>
          <p:cNvPr id="13" name="Text 10"/>
          <p:cNvSpPr/>
          <p:nvPr/>
        </p:nvSpPr>
        <p:spPr>
          <a:xfrm>
            <a:off x="6473952" y="1773936"/>
            <a:ext cx="45720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INTERVIEW QUESTION CATALOG</a:t>
            </a:r>
            <a:endParaRPr lang="en-US" sz="850" dirty="0"/>
          </a:p>
        </p:txBody>
      </p:sp>
      <p:sp>
        <p:nvSpPr>
          <p:cNvPr id="14" name="Text 11"/>
          <p:cNvSpPr/>
          <p:nvPr/>
        </p:nvSpPr>
        <p:spPr>
          <a:xfrm>
            <a:off x="6620256" y="2011680"/>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AI-Extended track</a:t>
            </a:r>
            <a:endParaRPr lang="en-US" sz="1000" dirty="0"/>
          </a:p>
        </p:txBody>
      </p:sp>
      <p:sp>
        <p:nvSpPr>
          <p:cNvPr id="15" name="Text 12"/>
          <p:cNvSpPr/>
          <p:nvPr/>
        </p:nvSpPr>
        <p:spPr>
          <a:xfrm>
            <a:off x="8997696" y="2011680"/>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16" name="Text 13"/>
          <p:cNvSpPr/>
          <p:nvPr/>
        </p:nvSpPr>
        <p:spPr>
          <a:xfrm>
            <a:off x="6620256" y="2286000"/>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Generic track</a:t>
            </a:r>
            <a:endParaRPr lang="en-US" sz="1000" dirty="0"/>
          </a:p>
        </p:txBody>
      </p:sp>
      <p:sp>
        <p:nvSpPr>
          <p:cNvPr id="17" name="Text 14"/>
          <p:cNvSpPr/>
          <p:nvPr/>
        </p:nvSpPr>
        <p:spPr>
          <a:xfrm>
            <a:off x="8997696" y="2286000"/>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18" name="Text 15"/>
          <p:cNvSpPr/>
          <p:nvPr/>
        </p:nvSpPr>
        <p:spPr>
          <a:xfrm>
            <a:off x="6473952" y="2724912"/>
            <a:ext cx="45720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TEMPLATES</a:t>
            </a:r>
            <a:endParaRPr lang="en-US" sz="850" dirty="0"/>
          </a:p>
        </p:txBody>
      </p:sp>
      <p:sp>
        <p:nvSpPr>
          <p:cNvPr id="19" name="Text 16"/>
          <p:cNvSpPr/>
          <p:nvPr/>
        </p:nvSpPr>
        <p:spPr>
          <a:xfrm>
            <a:off x="6620256" y="2962656"/>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Lightweight</a:t>
            </a:r>
            <a:endParaRPr lang="en-US" sz="1000" dirty="0"/>
          </a:p>
        </p:txBody>
      </p:sp>
      <p:sp>
        <p:nvSpPr>
          <p:cNvPr id="20" name="Text 17"/>
          <p:cNvSpPr/>
          <p:nvPr/>
        </p:nvSpPr>
        <p:spPr>
          <a:xfrm>
            <a:off x="8997696" y="2962656"/>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21" name="Text 18"/>
          <p:cNvSpPr/>
          <p:nvPr/>
        </p:nvSpPr>
        <p:spPr>
          <a:xfrm>
            <a:off x="6620256" y="3236976"/>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Standard</a:t>
            </a:r>
            <a:endParaRPr lang="en-US" sz="1000" dirty="0"/>
          </a:p>
        </p:txBody>
      </p:sp>
      <p:sp>
        <p:nvSpPr>
          <p:cNvPr id="22" name="Text 19"/>
          <p:cNvSpPr/>
          <p:nvPr/>
        </p:nvSpPr>
        <p:spPr>
          <a:xfrm>
            <a:off x="8997696" y="3236976"/>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23" name="Text 20"/>
          <p:cNvSpPr/>
          <p:nvPr/>
        </p:nvSpPr>
        <p:spPr>
          <a:xfrm>
            <a:off x="6620256" y="3511296"/>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Exhaustive</a:t>
            </a:r>
            <a:endParaRPr lang="en-US" sz="1000" dirty="0"/>
          </a:p>
        </p:txBody>
      </p:sp>
      <p:sp>
        <p:nvSpPr>
          <p:cNvPr id="24" name="Text 21"/>
          <p:cNvSpPr/>
          <p:nvPr/>
        </p:nvSpPr>
        <p:spPr>
          <a:xfrm>
            <a:off x="8997696" y="3511296"/>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25" name="Text 22"/>
          <p:cNvSpPr/>
          <p:nvPr/>
        </p:nvSpPr>
        <p:spPr>
          <a:xfrm>
            <a:off x="6473952" y="3950208"/>
            <a:ext cx="45720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WORKED EXAMPLES</a:t>
            </a:r>
            <a:endParaRPr lang="en-US" sz="850" dirty="0"/>
          </a:p>
        </p:txBody>
      </p:sp>
      <p:sp>
        <p:nvSpPr>
          <p:cNvPr id="26" name="Text 23"/>
          <p:cNvSpPr/>
          <p:nvPr/>
        </p:nvSpPr>
        <p:spPr>
          <a:xfrm>
            <a:off x="6620256" y="4187952"/>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Lightweight</a:t>
            </a:r>
            <a:endParaRPr lang="en-US" sz="1000" dirty="0"/>
          </a:p>
        </p:txBody>
      </p:sp>
      <p:sp>
        <p:nvSpPr>
          <p:cNvPr id="27" name="Text 24"/>
          <p:cNvSpPr/>
          <p:nvPr/>
        </p:nvSpPr>
        <p:spPr>
          <a:xfrm>
            <a:off x="8997696" y="4187952"/>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28" name="Text 25"/>
          <p:cNvSpPr/>
          <p:nvPr/>
        </p:nvSpPr>
        <p:spPr>
          <a:xfrm>
            <a:off x="6620256" y="4462272"/>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Standard</a:t>
            </a:r>
            <a:endParaRPr lang="en-US" sz="1000" dirty="0"/>
          </a:p>
        </p:txBody>
      </p:sp>
      <p:sp>
        <p:nvSpPr>
          <p:cNvPr id="29" name="Text 26"/>
          <p:cNvSpPr/>
          <p:nvPr/>
        </p:nvSpPr>
        <p:spPr>
          <a:xfrm>
            <a:off x="8997696" y="4462272"/>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30" name="Text 27"/>
          <p:cNvSpPr/>
          <p:nvPr/>
        </p:nvSpPr>
        <p:spPr>
          <a:xfrm>
            <a:off x="6620256" y="4736592"/>
            <a:ext cx="2286000" cy="201168"/>
          </a:xfrm>
          <a:prstGeom prst="rect">
            <a:avLst/>
          </a:prstGeom>
          <a:noFill/>
          <a:ln/>
        </p:spPr>
        <p:txBody>
          <a:bodyPr wrap="square" lIns="0" tIns="0" rIns="0" bIns="0" rtlCol="0" anchor="ctr"/>
          <a:lstStyle/>
          <a:p>
            <a:pPr indent="0" marL="0">
              <a:buNone/>
            </a:pPr>
            <a:r>
              <a:rPr lang="en-US" sz="1000" b="1" dirty="0">
                <a:solidFill>
                  <a:srgbClr val="000000"/>
                </a:solidFill>
                <a:latin typeface="Arial" pitchFamily="34" charset="0"/>
                <a:ea typeface="Arial" pitchFamily="34" charset="-122"/>
                <a:cs typeface="Arial" pitchFamily="34" charset="-120"/>
              </a:rPr>
              <a:t>Exhaustive</a:t>
            </a:r>
            <a:endParaRPr lang="en-US" sz="1000" dirty="0"/>
          </a:p>
        </p:txBody>
      </p:sp>
      <p:sp>
        <p:nvSpPr>
          <p:cNvPr id="31" name="Text 28"/>
          <p:cNvSpPr/>
          <p:nvPr/>
        </p:nvSpPr>
        <p:spPr>
          <a:xfrm>
            <a:off x="8997696" y="4736592"/>
            <a:ext cx="2468880" cy="201168"/>
          </a:xfrm>
          <a:prstGeom prst="rect">
            <a:avLst/>
          </a:prstGeom>
          <a:noFill/>
          <a:ln/>
        </p:spPr>
        <p:txBody>
          <a:bodyPr wrap="square" lIns="0" tIns="0" rIns="0" bIns="0" rtlCol="0" anchor="ctr"/>
          <a:lstStyle/>
          <a:p>
            <a:pPr indent="0" marL="0">
              <a:buNone/>
            </a:pPr>
            <a:r>
              <a:rPr lang="en-US" sz="1000" i="1" dirty="0">
                <a:solidFill>
                  <a:srgbClr val="0B5394"/>
                </a:solidFill>
                <a:latin typeface="Arial" pitchFamily="34" charset="0"/>
                <a:ea typeface="Arial" pitchFamily="34" charset="-122"/>
                <a:cs typeface="Arial" pitchFamily="34" charset="-120"/>
              </a:rPr>
              <a:t>[paste link]</a:t>
            </a:r>
            <a:endParaRPr lang="en-US" sz="1000" dirty="0"/>
          </a:p>
        </p:txBody>
      </p:sp>
      <p:sp>
        <p:nvSpPr>
          <p:cNvPr id="32" name="Shape 29"/>
          <p:cNvSpPr/>
          <p:nvPr/>
        </p:nvSpPr>
        <p:spPr>
          <a:xfrm>
            <a:off x="548640" y="5522976"/>
            <a:ext cx="11091672" cy="603504"/>
          </a:xfrm>
          <a:prstGeom prst="rect">
            <a:avLst/>
          </a:prstGeom>
          <a:solidFill>
            <a:srgbClr val="FFF3F3"/>
          </a:solidFill>
          <a:ln w="12700">
            <a:solidFill>
              <a:srgbClr val="D0D0D0"/>
            </a:solidFill>
            <a:prstDash val="solid"/>
          </a:ln>
        </p:spPr>
      </p:sp>
      <p:sp>
        <p:nvSpPr>
          <p:cNvPr id="33" name="Text 30"/>
          <p:cNvSpPr/>
          <p:nvPr/>
        </p:nvSpPr>
        <p:spPr>
          <a:xfrm>
            <a:off x="749808" y="5632704"/>
            <a:ext cx="10689336" cy="402336"/>
          </a:xfrm>
          <a:prstGeom prst="rect">
            <a:avLst/>
          </a:prstGeom>
          <a:noFill/>
          <a:ln/>
        </p:spPr>
        <p:txBody>
          <a:bodyPr wrap="square" lIns="0" tIns="0" rIns="0" bIns="0" rtlCol="0" anchor="ctr"/>
          <a:lstStyle/>
          <a:p>
            <a:pPr indent="0" marL="0">
              <a:buNone/>
            </a:pPr>
            <a:r>
              <a:rPr lang="en-US" sz="1050" b="1" dirty="0">
                <a:solidFill>
                  <a:srgbClr val="CC0000"/>
                </a:solidFill>
                <a:latin typeface="Arial" pitchFamily="34" charset="0"/>
                <a:ea typeface="Arial" pitchFamily="34" charset="-122"/>
                <a:cs typeface="Arial" pitchFamily="34" charset="-120"/>
              </a:rPr>
              <a:t>Choose the lightest depth that still satisfies your production, regulatory, and audit needs. If an Exhaustive interview feels too long, challenge whether the use case truly needs that depth rather than skipping questions inside it.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STAGE 4: WRITING THE REQUIREMENTS</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EARS: Write Requirements That Can Actually Be Tested</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A requirements discipline from 2009, not an AI technique. It removes the three commonest defects in plain-language requirements: wordiness, ambiguity about when a behaviour applies, and no way to test whether it was met.</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EARS Notation</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9 / 12</a:t>
            </a:r>
            <a:endParaRPr lang="en-US" sz="800" dirty="0"/>
          </a:p>
        </p:txBody>
      </p:sp>
      <p:sp>
        <p:nvSpPr>
          <p:cNvPr id="7" name="Shape 5"/>
          <p:cNvSpPr/>
          <p:nvPr/>
        </p:nvSpPr>
        <p:spPr>
          <a:xfrm>
            <a:off x="548640" y="1664208"/>
            <a:ext cx="5394960" cy="1481328"/>
          </a:xfrm>
          <a:prstGeom prst="rect">
            <a:avLst/>
          </a:prstGeom>
          <a:solidFill>
            <a:srgbClr val="FFF3F3"/>
          </a:solidFill>
          <a:ln w="12700">
            <a:solidFill>
              <a:srgbClr val="D0D0D0"/>
            </a:solidFill>
            <a:prstDash val="solid"/>
          </a:ln>
        </p:spPr>
      </p:sp>
      <p:sp>
        <p:nvSpPr>
          <p:cNvPr id="8" name="Text 6"/>
          <p:cNvSpPr/>
          <p:nvPr/>
        </p:nvSpPr>
        <p:spPr>
          <a:xfrm>
            <a:off x="731520" y="1792224"/>
            <a:ext cx="36576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BEFORE: PLAIN LANGUAGE</a:t>
            </a:r>
            <a:endParaRPr lang="en-US" sz="850" dirty="0"/>
          </a:p>
        </p:txBody>
      </p:sp>
      <p:sp>
        <p:nvSpPr>
          <p:cNvPr id="9" name="Text 7"/>
          <p:cNvSpPr/>
          <p:nvPr/>
        </p:nvSpPr>
        <p:spPr>
          <a:xfrm>
            <a:off x="731520" y="2048256"/>
            <a:ext cx="5029200" cy="822960"/>
          </a:xfrm>
          <a:prstGeom prst="rect">
            <a:avLst/>
          </a:prstGeom>
          <a:noFill/>
          <a:ln/>
        </p:spPr>
        <p:txBody>
          <a:bodyPr wrap="square" lIns="0" tIns="0" rIns="0" bIns="0" rtlCol="0" anchor="ctr"/>
          <a:lstStyle/>
          <a:p>
            <a:pPr indent="0" marL="0">
              <a:lnSpc>
                <a:spcPct val="110000"/>
              </a:lnSpc>
              <a:buNone/>
            </a:pPr>
            <a:r>
              <a:rPr lang="en-US" sz="1150" i="1" dirty="0">
                <a:solidFill>
                  <a:srgbClr val="595959"/>
                </a:solidFill>
                <a:latin typeface="Arial" pitchFamily="34" charset="0"/>
                <a:ea typeface="Arial" pitchFamily="34" charset="-122"/>
                <a:cs typeface="Arial" pitchFamily="34" charset="-120"/>
              </a:rPr>
              <a:t>“Flag any field it cannot locate as ‘not found’ rather than guessing.”</a:t>
            </a:r>
            <a:endParaRPr lang="en-US" sz="1150" dirty="0"/>
          </a:p>
        </p:txBody>
      </p:sp>
      <p:sp>
        <p:nvSpPr>
          <p:cNvPr id="10" name="Text 8"/>
          <p:cNvSpPr/>
          <p:nvPr/>
        </p:nvSpPr>
        <p:spPr>
          <a:xfrm>
            <a:off x="5998464" y="2212848"/>
            <a:ext cx="329184" cy="274320"/>
          </a:xfrm>
          <a:prstGeom prst="rect">
            <a:avLst/>
          </a:prstGeom>
          <a:noFill/>
          <a:ln/>
        </p:spPr>
        <p:txBody>
          <a:bodyPr wrap="square" lIns="0" tIns="0" rIns="0" bIns="0" rtlCol="0" anchor="ctr"/>
          <a:lstStyle/>
          <a:p>
            <a:pPr algn="ctr" indent="0" marL="0">
              <a:buNone/>
            </a:pPr>
            <a:r>
              <a:rPr lang="en-US" sz="1600" b="1" dirty="0">
                <a:solidFill>
                  <a:srgbClr val="D0D0D0"/>
                </a:solidFill>
                <a:latin typeface="Arial" pitchFamily="34" charset="0"/>
                <a:ea typeface="Arial" pitchFamily="34" charset="-122"/>
                <a:cs typeface="Arial" pitchFamily="34" charset="-120"/>
              </a:rPr>
              <a:t>&gt;</a:t>
            </a:r>
            <a:endParaRPr lang="en-US" sz="1600" dirty="0"/>
          </a:p>
        </p:txBody>
      </p:sp>
      <p:sp>
        <p:nvSpPr>
          <p:cNvPr id="11" name="Shape 9"/>
          <p:cNvSpPr/>
          <p:nvPr/>
        </p:nvSpPr>
        <p:spPr>
          <a:xfrm>
            <a:off x="6327648" y="1664208"/>
            <a:ext cx="5312664" cy="1481328"/>
          </a:xfrm>
          <a:prstGeom prst="rect">
            <a:avLst/>
          </a:prstGeom>
          <a:solidFill>
            <a:srgbClr val="EAF1F8"/>
          </a:solidFill>
          <a:ln w="12700">
            <a:solidFill>
              <a:srgbClr val="D0D0D0"/>
            </a:solidFill>
            <a:prstDash val="solid"/>
          </a:ln>
        </p:spPr>
      </p:sp>
      <p:sp>
        <p:nvSpPr>
          <p:cNvPr id="12" name="Text 10"/>
          <p:cNvSpPr/>
          <p:nvPr/>
        </p:nvSpPr>
        <p:spPr>
          <a:xfrm>
            <a:off x="6510528" y="1792224"/>
            <a:ext cx="36576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AFTER: EARS FORM</a:t>
            </a:r>
            <a:endParaRPr lang="en-US" sz="850" dirty="0"/>
          </a:p>
        </p:txBody>
      </p:sp>
      <p:sp>
        <p:nvSpPr>
          <p:cNvPr id="13" name="Text 11"/>
          <p:cNvSpPr/>
          <p:nvPr/>
        </p:nvSpPr>
        <p:spPr>
          <a:xfrm>
            <a:off x="6510528" y="2048256"/>
            <a:ext cx="4937760" cy="914400"/>
          </a:xfrm>
          <a:prstGeom prst="rect">
            <a:avLst/>
          </a:prstGeom>
          <a:noFill/>
          <a:ln/>
        </p:spPr>
        <p:txBody>
          <a:bodyPr wrap="square" lIns="0" tIns="0" rIns="0" bIns="0" rtlCol="0" anchor="ctr"/>
          <a:lstStyle/>
          <a:p>
            <a:pPr indent="0" marL="0">
              <a:lnSpc>
                <a:spcPct val="110000"/>
              </a:lnSpc>
              <a:buNone/>
            </a:pPr>
            <a:r>
              <a:rPr lang="en-US" sz="1050" b="1" dirty="0">
                <a:solidFill>
                  <a:srgbClr val="0B5394"/>
                </a:solidFill>
                <a:latin typeface="Arial" pitchFamily="34" charset="0"/>
                <a:ea typeface="Arial" pitchFamily="34" charset="-122"/>
                <a:cs typeface="Arial" pitchFamily="34" charset="-120"/>
              </a:rPr>
              <a:t>If a mandatory field cannot be located above the confidence floor, then the system shall record it as “not found” and not substitute another field’s value.</a:t>
            </a:r>
            <a:endParaRPr lang="en-US" sz="1050" dirty="0"/>
          </a:p>
        </p:txBody>
      </p:sp>
      <p:sp>
        <p:nvSpPr>
          <p:cNvPr id="14" name="Text 12"/>
          <p:cNvSpPr/>
          <p:nvPr/>
        </p:nvSpPr>
        <p:spPr>
          <a:xfrm>
            <a:off x="548640" y="3236976"/>
            <a:ext cx="11091672" cy="237744"/>
          </a:xfrm>
          <a:prstGeom prst="rect">
            <a:avLst/>
          </a:prstGeom>
          <a:noFill/>
          <a:ln/>
        </p:spPr>
        <p:txBody>
          <a:bodyPr wrap="square" lIns="0" tIns="0" rIns="0" bIns="0" rtlCol="0" anchor="ctr"/>
          <a:lstStyle/>
          <a:p>
            <a:pPr indent="0" marL="0">
              <a:buNone/>
            </a:pPr>
            <a:r>
              <a:rPr lang="en-US" sz="1000" i="1" dirty="0">
                <a:solidFill>
                  <a:srgbClr val="595959"/>
                </a:solidFill>
                <a:latin typeface="Arial" pitchFamily="34" charset="0"/>
                <a:ea typeface="Arial" pitchFamily="34" charset="-122"/>
                <a:cs typeface="Arial" pitchFamily="34" charset="-120"/>
              </a:rPr>
              <a:t>Now there is a trigger, a system, and a response. A tester can write a test for it. Before, they could not.</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803904"/>
          <a:ext cx="11091672" cy="914400"/>
        </p:xfrm>
        <a:graphic>
          <a:graphicData uri="http://schemas.openxmlformats.org/drawingml/2006/table">
            <a:tbl>
              <a:tblPr/>
              <a:tblGrid>
                <a:gridCol w="2148840"/>
                <a:gridCol w="3931920"/>
                <a:gridCol w="5010912"/>
              </a:tblGrid>
              <a:tr h="274320">
                <a:tc>
                  <a:txBody>
                    <a:bodyPr/>
                    <a:lstStyle/>
                    <a:p>
                      <a:pPr indent="0" marL="0">
                        <a:buNone/>
                      </a:pPr>
                      <a:r>
                        <a:rPr lang="en-US" sz="900" b="1" dirty="0">
                          <a:solidFill>
                            <a:srgbClr val="000000"/>
                          </a:solidFill>
                          <a:latin typeface="Arial" pitchFamily="34" charset="0"/>
                          <a:ea typeface="Arial" pitchFamily="34" charset="-122"/>
                          <a:cs typeface="Arial" pitchFamily="34" charset="-120"/>
                        </a:rPr>
                        <a:t>Pattern</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900" b="1" dirty="0">
                          <a:solidFill>
                            <a:srgbClr val="000000"/>
                          </a:solidFill>
                          <a:latin typeface="Arial" pitchFamily="34" charset="0"/>
                          <a:ea typeface="Arial" pitchFamily="34" charset="-122"/>
                          <a:cs typeface="Arial" pitchFamily="34" charset="-120"/>
                        </a:rPr>
                        <a:t>Template</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900" b="1" dirty="0">
                          <a:solidFill>
                            <a:srgbClr val="000000"/>
                          </a:solidFill>
                          <a:latin typeface="Arial" pitchFamily="34" charset="0"/>
                          <a:ea typeface="Arial" pitchFamily="34" charset="-122"/>
                          <a:cs typeface="Arial" pitchFamily="34" charset="-120"/>
                        </a:rPr>
                        <a:t>Example</a:t>
                      </a:r>
                      <a:endParaRPr lang="en-US" sz="90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Ubiquitous</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0B5394"/>
                          </a:solidFill>
                          <a:latin typeface="Arial" pitchFamily="34" charset="0"/>
                          <a:ea typeface="Arial" pitchFamily="34" charset="-122"/>
                          <a:cs typeface="Arial" pitchFamily="34" charset="-120"/>
                        </a:rPr>
                        <a:t>The &lt;system&gt; shall &lt;response&gt;</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595959"/>
                          </a:solidFill>
                          <a:latin typeface="Arial" pitchFamily="34" charset="0"/>
                          <a:ea typeface="Arial" pitchFamily="34" charset="-122"/>
                          <a:cs typeface="Arial" pitchFamily="34" charset="-120"/>
                        </a:rPr>
                        <a:t>The system shall record confidence for every field.</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Event-driven (When)</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0B5394"/>
                          </a:solidFill>
                          <a:latin typeface="Arial" pitchFamily="34" charset="0"/>
                          <a:ea typeface="Arial" pitchFamily="34" charset="-122"/>
                          <a:cs typeface="Arial" pitchFamily="34" charset="-120"/>
                        </a:rPr>
                        <a:t>When &lt;trigger&gt;, the &lt;system&gt; shall &lt;response&gt;</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595959"/>
                          </a:solidFill>
                          <a:latin typeface="Arial" pitchFamily="34" charset="0"/>
                          <a:ea typeface="Arial" pitchFamily="34" charset="-122"/>
                          <a:cs typeface="Arial" pitchFamily="34" charset="-120"/>
                        </a:rPr>
                        <a:t>When a filing is ingested, the system shall detect its reporting standard.</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State-driven (While)</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0B5394"/>
                          </a:solidFill>
                          <a:latin typeface="Arial" pitchFamily="34" charset="0"/>
                          <a:ea typeface="Arial" pitchFamily="34" charset="-122"/>
                          <a:cs typeface="Arial" pitchFamily="34" charset="-120"/>
                        </a:rPr>
                        <a:t>While &lt;precondition&gt;, the &lt;system&gt; shall &lt;response&gt;</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595959"/>
                          </a:solidFill>
                          <a:latin typeface="Arial" pitchFamily="34" charset="0"/>
                          <a:ea typeface="Arial" pitchFamily="34" charset="-122"/>
                          <a:cs typeface="Arial" pitchFamily="34" charset="-120"/>
                        </a:rPr>
                        <a:t>While a filing is under review, the system shall withhold it from load.</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Optional feature (Where)</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0B5394"/>
                          </a:solidFill>
                          <a:latin typeface="Arial" pitchFamily="34" charset="0"/>
                          <a:ea typeface="Arial" pitchFamily="34" charset="-122"/>
                          <a:cs typeface="Arial" pitchFamily="34" charset="-120"/>
                        </a:rPr>
                        <a:t>Where &lt;feature is included&gt;, the &lt;system&gt; shall &lt;response&gt;</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595959"/>
                          </a:solidFill>
                          <a:latin typeface="Arial" pitchFamily="34" charset="0"/>
                          <a:ea typeface="Arial" pitchFamily="34" charset="-122"/>
                          <a:cs typeface="Arial" pitchFamily="34" charset="-120"/>
                        </a:rPr>
                        <a:t>Where chart extraction is enabled, the system shall apply its confidence floor.</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Unwanted behaviour (If / Then)</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0B5394"/>
                          </a:solidFill>
                          <a:latin typeface="Arial" pitchFamily="34" charset="0"/>
                          <a:ea typeface="Arial" pitchFamily="34" charset="-122"/>
                          <a:cs typeface="Arial" pitchFamily="34" charset="-120"/>
                        </a:rPr>
                        <a:t>If &lt;trigger&gt;, then the &lt;system&gt; shall &lt;response&gt;</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595959"/>
                          </a:solidFill>
                          <a:latin typeface="Arial" pitchFamily="34" charset="0"/>
                          <a:ea typeface="Arial" pitchFamily="34" charset="-122"/>
                          <a:cs typeface="Arial" pitchFamily="34" charset="-120"/>
                        </a:rPr>
                        <a:t>If a field resolves only via fallback, then the system shall flag it for review.</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Complex</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0B5394"/>
                          </a:solidFill>
                          <a:latin typeface="Arial" pitchFamily="34" charset="0"/>
                          <a:ea typeface="Arial" pitchFamily="34" charset="-122"/>
                          <a:cs typeface="Arial" pitchFamily="34" charset="-120"/>
                        </a:rPr>
                        <a:t>Combines two or more keywords</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850" dirty="0">
                          <a:solidFill>
                            <a:srgbClr val="595959"/>
                          </a:solidFill>
                          <a:latin typeface="Arial" pitchFamily="34" charset="0"/>
                          <a:ea typeface="Arial" pitchFamily="34" charset="-122"/>
                          <a:cs typeface="Arial" pitchFamily="34" charset="-120"/>
                        </a:rPr>
                        <a:t>While under review, when a new value arrives, the system shall re-validate.</a:t>
                      </a:r>
                      <a:endParaRPr lang="en-US" sz="850" dirty="0">
                        <a:latin typeface="Arial" charset="0"/>
                        <a:ea typeface="Arial" charset="0"/>
                        <a:cs typeface="Arial" charset="0"/>
                      </a:endParaRPr>
                    </a:p>
                  </a:txBody>
                  <a:tcPr marL="73152" marR="73152" marT="27432" marB="27432"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
        <p:nvSpPr>
          <p:cNvPr id="16" name="Shape 13"/>
          <p:cNvSpPr/>
          <p:nvPr/>
        </p:nvSpPr>
        <p:spPr>
          <a:xfrm>
            <a:off x="548640" y="5742432"/>
            <a:ext cx="11091672" cy="548640"/>
          </a:xfrm>
          <a:prstGeom prst="rect">
            <a:avLst/>
          </a:prstGeom>
          <a:solidFill>
            <a:srgbClr val="FFF3F3"/>
          </a:solidFill>
          <a:ln w="12700">
            <a:solidFill>
              <a:srgbClr val="D0D0D0"/>
            </a:solidFill>
            <a:prstDash val="solid"/>
          </a:ln>
        </p:spPr>
      </p:sp>
      <p:sp>
        <p:nvSpPr>
          <p:cNvPr id="17" name="Text 14"/>
          <p:cNvSpPr/>
          <p:nvPr/>
        </p:nvSpPr>
        <p:spPr>
          <a:xfrm>
            <a:off x="749808" y="5833872"/>
            <a:ext cx="10689336" cy="365760"/>
          </a:xfrm>
          <a:prstGeom prst="rect">
            <a:avLst/>
          </a:prstGeom>
          <a:noFill/>
          <a:ln/>
        </p:spPr>
        <p:txBody>
          <a:bodyPr wrap="square" lIns="0" tIns="0" rIns="0" bIns="0" rtlCol="0" anchor="ctr"/>
          <a:lstStyle/>
          <a:p>
            <a:pPr indent="0" marL="0">
              <a:buNone/>
            </a:pPr>
            <a:r>
              <a:rPr lang="en-US" sz="950" b="1" dirty="0">
                <a:solidFill>
                  <a:srgbClr val="CC0000"/>
                </a:solidFill>
                <a:latin typeface="Arial" pitchFamily="34" charset="0"/>
                <a:ea typeface="Arial" pitchFamily="34" charset="-122"/>
                <a:cs typeface="Arial" pitchFamily="34" charset="-120"/>
              </a:rPr>
              <a:t>Required at every depth. The Functional Requirements table asks for EARS form at Lightweight too, because a requirement nobody can test is not cheaper to write, only cheaper to skip.        Full specification: alistairmavin.com/ears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BACKGROUND</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What Fagan Inspection Is, and Where It Fits</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A formal defect-detection technique from 1976, not a Spec Kit feature. It predates spec-driven development by about fifty years.</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Fagan Inspection</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10 / 12</a:t>
            </a:r>
            <a:endParaRPr lang="en-US" sz="800" dirty="0"/>
          </a:p>
        </p:txBody>
      </p:sp>
      <p:sp>
        <p:nvSpPr>
          <p:cNvPr id="7" name="Shape 5"/>
          <p:cNvSpPr/>
          <p:nvPr/>
        </p:nvSpPr>
        <p:spPr>
          <a:xfrm>
            <a:off x="548640" y="1572768"/>
            <a:ext cx="11091672" cy="1152144"/>
          </a:xfrm>
          <a:prstGeom prst="rect">
            <a:avLst/>
          </a:prstGeom>
          <a:solidFill>
            <a:srgbClr val="F0F0F0"/>
          </a:solidFill>
          <a:ln w="12700">
            <a:solidFill>
              <a:srgbClr val="D0D0D0"/>
            </a:solidFill>
            <a:prstDash val="solid"/>
          </a:ln>
        </p:spPr>
      </p:sp>
      <p:sp>
        <p:nvSpPr>
          <p:cNvPr id="8" name="Text 6"/>
          <p:cNvSpPr/>
          <p:nvPr/>
        </p:nvSpPr>
        <p:spPr>
          <a:xfrm>
            <a:off x="749808" y="1682496"/>
            <a:ext cx="3657600" cy="237744"/>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Michael Fagan, IBM, 1976</a:t>
            </a:r>
            <a:endParaRPr lang="en-US" sz="1150" dirty="0"/>
          </a:p>
        </p:txBody>
      </p:sp>
      <p:sp>
        <p:nvSpPr>
          <p:cNvPr id="9" name="Text 7"/>
          <p:cNvSpPr/>
          <p:nvPr/>
        </p:nvSpPr>
        <p:spPr>
          <a:xfrm>
            <a:off x="749808" y="1956816"/>
            <a:ext cx="10689336" cy="676656"/>
          </a:xfrm>
          <a:prstGeom prst="rect">
            <a:avLst/>
          </a:prstGeom>
          <a:noFill/>
          <a:ln/>
        </p:spPr>
        <p:txBody>
          <a:bodyPr wrap="square" lIns="0" tIns="0" rIns="0" bIns="0" rtlCol="0" anchor="ctr"/>
          <a:lstStyle/>
          <a:p>
            <a:pPr indent="0" marL="0">
              <a:lnSpc>
                <a:spcPct val="110000"/>
              </a:lnSpc>
              <a:buNone/>
            </a:pPr>
            <a:r>
              <a:rPr lang="en-US" sz="1000" dirty="0">
                <a:solidFill>
                  <a:srgbClr val="595959"/>
                </a:solidFill>
                <a:latin typeface="Arial" pitchFamily="34" charset="0"/>
                <a:ea typeface="Arial" pitchFamily="34" charset="-122"/>
                <a:cs typeface="Arial" pitchFamily="34" charset="-120"/>
              </a:rPr>
              <a:t>An independent reader, never the document’s author, reads it alone first and logs defects against a checklist before any group discussion happens. Only then does a structured meeting reconcile findings. The value is comprehension divergence: two competent readers forming different understandings of text that triggers no uncertainty in either one alone.</a:t>
            </a:r>
            <a:endParaRPr lang="en-US" sz="1000" dirty="0"/>
          </a:p>
        </p:txBody>
      </p:sp>
      <p:sp>
        <p:nvSpPr>
          <p:cNvPr id="10" name="Text 8"/>
          <p:cNvSpPr/>
          <p:nvPr/>
        </p:nvSpPr>
        <p:spPr>
          <a:xfrm>
            <a:off x="548640" y="2889504"/>
            <a:ext cx="54864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WHERE IT IS USED</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91672" cy="914400"/>
        </p:xfrm>
        <a:graphic>
          <a:graphicData uri="http://schemas.openxmlformats.org/drawingml/2006/table">
            <a:tbl>
              <a:tblPr/>
              <a:tblGrid>
                <a:gridCol w="1417320"/>
                <a:gridCol w="3200400"/>
                <a:gridCol w="3200400"/>
                <a:gridCol w="3273552"/>
              </a:tblGrid>
              <a:tr h="731520">
                <a:tc>
                  <a:txBody>
                    <a:bodyPr/>
                    <a:lstStyle/>
                    <a:p>
                      <a:pPr indent="0" marL="0">
                        <a:buNone/>
                      </a:pPr>
                      <a:r>
                        <a:rPr lang="en-US" sz="900" b="1" dirty="0">
                          <a:solidFill>
                            <a:srgbClr val="000000"/>
                          </a:solidFill>
                          <a:latin typeface="Arial" pitchFamily="34" charset="0"/>
                          <a:ea typeface="Arial" pitchFamily="34" charset="-122"/>
                          <a:cs typeface="Arial" pitchFamily="34" charset="-120"/>
                        </a:rPr>
                        <a:t>Stage</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900" b="1" dirty="0">
                          <a:solidFill>
                            <a:srgbClr val="000000"/>
                          </a:solidFill>
                          <a:latin typeface="Arial" pitchFamily="34" charset="0"/>
                          <a:ea typeface="Arial" pitchFamily="34" charset="-122"/>
                          <a:cs typeface="Arial" pitchFamily="34" charset="-120"/>
                        </a:rPr>
                        <a:t>AI agent alone</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900" b="1" dirty="0">
                          <a:solidFill>
                            <a:srgbClr val="000000"/>
                          </a:solidFill>
                          <a:latin typeface="Arial" pitchFamily="34" charset="0"/>
                          <a:ea typeface="Arial" pitchFamily="34" charset="-122"/>
                          <a:cs typeface="Arial" pitchFamily="34" charset="-120"/>
                        </a:rPr>
                        <a:t>Human required</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c>
                  <a:txBody>
                    <a:bodyPr/>
                    <a:lstStyle/>
                    <a:p>
                      <a:pPr indent="0" marL="0">
                        <a:buNone/>
                      </a:pPr>
                      <a:r>
                        <a:rPr lang="en-US" sz="900" b="1" dirty="0">
                          <a:solidFill>
                            <a:srgbClr val="000000"/>
                          </a:solidFill>
                          <a:latin typeface="Arial" pitchFamily="34" charset="0"/>
                          <a:ea typeface="Arial" pitchFamily="34" charset="-122"/>
                          <a:cs typeface="Arial" pitchFamily="34" charset="-120"/>
                        </a:rPr>
                        <a:t>What it catches</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E8E8"/>
                    </a:solidFill>
                  </a:tcPr>
                </a:tc>
              </a:tr>
              <a:tr h="731520">
                <a:tc>
                  <a:txBody>
                    <a:bodyPr/>
                    <a:lstStyle/>
                    <a:p>
                      <a:pPr indent="0" marL="0">
                        <a:buNone/>
                      </a:pPr>
                      <a:r>
                        <a:rPr lang="en-US" sz="900" b="1" dirty="0">
                          <a:solidFill>
                            <a:srgbClr val="000000"/>
                          </a:solidFill>
                          <a:latin typeface="Arial" pitchFamily="34" charset="0"/>
                          <a:ea typeface="Arial" pitchFamily="34" charset="-122"/>
                          <a:cs typeface="Arial" pitchFamily="34" charset="-120"/>
                        </a:rPr>
                        <a:t>Requirements</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Rubric checks only: untestable requirement, orphan scenario, term drift</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Yes, at Exhaustive depth. Comprehension defects need a genuinely independent reader</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0B5394"/>
                          </a:solidFill>
                          <a:latin typeface="Arial" pitchFamily="34" charset="0"/>
                          <a:ea typeface="Arial" pitchFamily="34" charset="-122"/>
                          <a:cs typeface="Arial" pitchFamily="34" charset="-120"/>
                        </a:rPr>
                        <a:t>Confident misreads: text that is clear but means two different things to two readers</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731520">
                <a:tc>
                  <a:txBody>
                    <a:bodyPr/>
                    <a:lstStyle/>
                    <a:p>
                      <a:pPr indent="0" marL="0">
                        <a:buNone/>
                      </a:pPr>
                      <a:r>
                        <a:rPr lang="en-US" sz="900" b="1" dirty="0">
                          <a:solidFill>
                            <a:srgbClr val="000000"/>
                          </a:solidFill>
                          <a:latin typeface="Arial" pitchFamily="34" charset="0"/>
                          <a:ea typeface="Arial" pitchFamily="34" charset="-122"/>
                          <a:cs typeface="Arial" pitchFamily="34" charset="-120"/>
                        </a:rPr>
                        <a:t>Design / ADR</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Partial. Surfaces disagreement well, weaker at resolving which reading is correct</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Yes. Domain-intent calls need someone who knows the business</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0B5394"/>
                          </a:solidFill>
                          <a:latin typeface="Arial" pitchFamily="34" charset="0"/>
                          <a:ea typeface="Arial" pitchFamily="34" charset="-122"/>
                          <a:cs typeface="Arial" pitchFamily="34" charset="-120"/>
                        </a:rPr>
                        <a:t>Two engineers silently building to different contract assumptions</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731520">
                <a:tc>
                  <a:txBody>
                    <a:bodyPr/>
                    <a:lstStyle/>
                    <a:p>
                      <a:pPr indent="0" marL="0">
                        <a:buNone/>
                      </a:pPr>
                      <a:r>
                        <a:rPr lang="en-US" sz="900" b="1" dirty="0">
                          <a:solidFill>
                            <a:srgbClr val="000000"/>
                          </a:solidFill>
                          <a:latin typeface="Arial" pitchFamily="34" charset="0"/>
                          <a:ea typeface="Arial" pitchFamily="34" charset="-122"/>
                          <a:cs typeface="Arial" pitchFamily="34" charset="-120"/>
                        </a:rPr>
                        <a:t>Implementation</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Strongest fit. Closest to a factual correctness check</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595959"/>
                          </a:solidFill>
                          <a:latin typeface="Arial" pitchFamily="34" charset="0"/>
                          <a:ea typeface="Arial" pitchFamily="34" charset="-122"/>
                          <a:cs typeface="Arial" pitchFamily="34" charset="-120"/>
                        </a:rPr>
                        <a:t>Still signs off at Exhaustive depth, but AI carries most of the detection load</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0B5394"/>
                          </a:solidFill>
                          <a:latin typeface="Arial" pitchFamily="34" charset="0"/>
                          <a:ea typeface="Arial" pitchFamily="34" charset="-122"/>
                          <a:cs typeface="Arial" pitchFamily="34" charset="-120"/>
                        </a:rPr>
                        <a:t>Code that passes every anticipated test but does something the spec never said</a:t>
                      </a:r>
                      <a:endParaRPr lang="en-US" sz="900" dirty="0">
                        <a:latin typeface="Arial" charset="0"/>
                        <a:ea typeface="Arial" charset="0"/>
                        <a:cs typeface="Arial" charset="0"/>
                      </a:endParaRPr>
                    </a:p>
                  </a:txBody>
                  <a:tcPr marL="73152" marR="73152" marT="54864" marB="54864"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CLOSING THE GAP</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The Full Sequence: Specify to Plan, With Two Independent Reads</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Five steps end to end. The two added commands only make sense in relation to the ones they sit between.</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Independent Read Commands</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11 / 12</a:t>
            </a:r>
            <a:endParaRPr lang="en-US" sz="800" dirty="0"/>
          </a:p>
        </p:txBody>
      </p:sp>
      <p:sp>
        <p:nvSpPr>
          <p:cNvPr id="7" name="Shape 5"/>
          <p:cNvSpPr/>
          <p:nvPr/>
        </p:nvSpPr>
        <p:spPr>
          <a:xfrm>
            <a:off x="548640" y="1609344"/>
            <a:ext cx="2121408" cy="4023360"/>
          </a:xfrm>
          <a:prstGeom prst="rect">
            <a:avLst/>
          </a:prstGeom>
          <a:solidFill>
            <a:srgbClr val="F0F0F0"/>
          </a:solidFill>
          <a:ln w="12700">
            <a:solidFill>
              <a:srgbClr val="D0D0D0"/>
            </a:solidFill>
            <a:prstDash val="solid"/>
          </a:ln>
        </p:spPr>
      </p:sp>
      <p:sp>
        <p:nvSpPr>
          <p:cNvPr id="8" name="Text 6"/>
          <p:cNvSpPr/>
          <p:nvPr/>
        </p:nvSpPr>
        <p:spPr>
          <a:xfrm>
            <a:off x="694944" y="1773936"/>
            <a:ext cx="1828800" cy="694944"/>
          </a:xfrm>
          <a:prstGeom prst="rect">
            <a:avLst/>
          </a:prstGeom>
          <a:noFill/>
          <a:ln/>
        </p:spPr>
        <p:txBody>
          <a:bodyPr wrap="square" lIns="0" tIns="0" rIns="0" bIns="0" rtlCol="0" anchor="ctr"/>
          <a:lstStyle/>
          <a:p>
            <a:pPr indent="0" marL="0">
              <a:lnSpc>
                <a:spcPct val="105000"/>
              </a:lnSpc>
              <a:buNone/>
            </a:pPr>
            <a:r>
              <a:rPr lang="en-US" sz="1000" b="1" dirty="0">
                <a:solidFill>
                  <a:srgbClr val="0B5394"/>
                </a:solidFill>
                <a:latin typeface="Arial" pitchFamily="34" charset="0"/>
                <a:ea typeface="Arial" pitchFamily="34" charset="-122"/>
                <a:cs typeface="Arial" pitchFamily="34" charset="-120"/>
              </a:rPr>
              <a:t>/speckit.specify</a:t>
            </a:r>
            <a:endParaRPr lang="en-US" sz="1000" dirty="0"/>
          </a:p>
        </p:txBody>
      </p:sp>
      <p:sp>
        <p:nvSpPr>
          <p:cNvPr id="9" name="Text 7"/>
          <p:cNvSpPr/>
          <p:nvPr/>
        </p:nvSpPr>
        <p:spPr>
          <a:xfrm>
            <a:off x="694944" y="2542032"/>
            <a:ext cx="18288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WHY THIS STEP</a:t>
            </a:r>
            <a:endParaRPr lang="en-US" sz="850" dirty="0"/>
          </a:p>
        </p:txBody>
      </p:sp>
      <p:sp>
        <p:nvSpPr>
          <p:cNvPr id="10" name="Text 8"/>
          <p:cNvSpPr/>
          <p:nvPr/>
        </p:nvSpPr>
        <p:spPr>
          <a:xfrm>
            <a:off x="694944" y="2761488"/>
            <a:ext cx="1828800" cy="2651760"/>
          </a:xfrm>
          <a:prstGeom prst="rect">
            <a:avLst/>
          </a:prstGeom>
          <a:noFill/>
          <a:ln/>
        </p:spPr>
        <p:txBody>
          <a:bodyPr wrap="square" lIns="0" tIns="0" rIns="0" bIns="0" rtlCol="0" anchor="ctr"/>
          <a:lstStyle/>
          <a:p>
            <a:pPr indent="0" marL="0">
              <a:lnSpc>
                <a:spcPct val="110000"/>
              </a:lnSpc>
              <a:buNone/>
            </a:pPr>
            <a:r>
              <a:rPr lang="en-US" sz="850" dirty="0">
                <a:solidFill>
                  <a:srgbClr val="595959"/>
                </a:solidFill>
                <a:latin typeface="Arial" pitchFamily="34" charset="0"/>
                <a:ea typeface="Arial" pitchFamily="34" charset="-122"/>
                <a:cs typeface="Arial" pitchFamily="34" charset="-120"/>
              </a:rPr>
              <a:t>Creates the branch and folder every later command reads from. Its authoring behaviour must stay off here: a completed interview document already exists, so call create-new-feature.sh directly rather than let it draft from a description.</a:t>
            </a:r>
            <a:endParaRPr lang="en-US" sz="850" dirty="0"/>
          </a:p>
        </p:txBody>
      </p:sp>
      <p:sp>
        <p:nvSpPr>
          <p:cNvPr id="11" name="Text 9"/>
          <p:cNvSpPr/>
          <p:nvPr/>
        </p:nvSpPr>
        <p:spPr>
          <a:xfrm>
            <a:off x="2670048" y="3438144"/>
            <a:ext cx="182880" cy="274320"/>
          </a:xfrm>
          <a:prstGeom prst="rect">
            <a:avLst/>
          </a:prstGeom>
          <a:noFill/>
          <a:ln/>
        </p:spPr>
        <p:txBody>
          <a:bodyPr wrap="square" lIns="0" tIns="0" rIns="0" bIns="0" rtlCol="0" anchor="ctr"/>
          <a:lstStyle/>
          <a:p>
            <a:pPr algn="ctr" indent="0" marL="0">
              <a:buNone/>
            </a:pPr>
            <a:r>
              <a:rPr lang="en-US" sz="1400" b="1" dirty="0">
                <a:solidFill>
                  <a:srgbClr val="D0D0D0"/>
                </a:solidFill>
                <a:latin typeface="Arial" pitchFamily="34" charset="0"/>
                <a:ea typeface="Arial" pitchFamily="34" charset="-122"/>
                <a:cs typeface="Arial" pitchFamily="34" charset="-120"/>
              </a:rPr>
              <a:t>&gt;</a:t>
            </a:r>
            <a:endParaRPr lang="en-US" sz="1400" dirty="0"/>
          </a:p>
        </p:txBody>
      </p:sp>
      <p:sp>
        <p:nvSpPr>
          <p:cNvPr id="12" name="Shape 10"/>
          <p:cNvSpPr/>
          <p:nvPr/>
        </p:nvSpPr>
        <p:spPr>
          <a:xfrm>
            <a:off x="2862072" y="1609344"/>
            <a:ext cx="2121408" cy="4023360"/>
          </a:xfrm>
          <a:prstGeom prst="rect">
            <a:avLst/>
          </a:prstGeom>
          <a:solidFill>
            <a:srgbClr val="FFF3F3"/>
          </a:solidFill>
          <a:ln w="12700">
            <a:solidFill>
              <a:srgbClr val="D0D0D0"/>
            </a:solidFill>
            <a:prstDash val="solid"/>
          </a:ln>
        </p:spPr>
      </p:sp>
      <p:sp>
        <p:nvSpPr>
          <p:cNvPr id="13" name="Text 11"/>
          <p:cNvSpPr/>
          <p:nvPr/>
        </p:nvSpPr>
        <p:spPr>
          <a:xfrm>
            <a:off x="3008376" y="1773936"/>
            <a:ext cx="1828800" cy="694944"/>
          </a:xfrm>
          <a:prstGeom prst="rect">
            <a:avLst/>
          </a:prstGeom>
          <a:noFill/>
          <a:ln/>
        </p:spPr>
        <p:txBody>
          <a:bodyPr wrap="square" lIns="0" tIns="0" rIns="0" bIns="0" rtlCol="0" anchor="ctr"/>
          <a:lstStyle/>
          <a:p>
            <a:pPr indent="0" marL="0">
              <a:lnSpc>
                <a:spcPct val="105000"/>
              </a:lnSpc>
              <a:buNone/>
            </a:pPr>
            <a:r>
              <a:rPr lang="en-US" sz="1000" b="1" dirty="0">
                <a:solidFill>
                  <a:srgbClr val="E60000"/>
                </a:solidFill>
                <a:latin typeface="Arial" pitchFamily="34" charset="0"/>
                <a:ea typeface="Arial" pitchFamily="34" charset="-122"/>
                <a:cs typeface="Arial" pitchFamily="34" charset="-120"/>
              </a:rPr>
              <a:t>/speckit.ext.independent-read</a:t>
            </a:r>
            <a:endParaRPr lang="en-US" sz="1000" dirty="0"/>
          </a:p>
        </p:txBody>
      </p:sp>
      <p:sp>
        <p:nvSpPr>
          <p:cNvPr id="14" name="Text 12"/>
          <p:cNvSpPr/>
          <p:nvPr/>
        </p:nvSpPr>
        <p:spPr>
          <a:xfrm>
            <a:off x="3008376" y="2542032"/>
            <a:ext cx="18288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WHY THIS STEP</a:t>
            </a:r>
            <a:endParaRPr lang="en-US" sz="850" dirty="0"/>
          </a:p>
        </p:txBody>
      </p:sp>
      <p:sp>
        <p:nvSpPr>
          <p:cNvPr id="15" name="Text 13"/>
          <p:cNvSpPr/>
          <p:nvPr/>
        </p:nvSpPr>
        <p:spPr>
          <a:xfrm>
            <a:off x="3008376" y="2761488"/>
            <a:ext cx="1828800" cy="2651760"/>
          </a:xfrm>
          <a:prstGeom prst="rect">
            <a:avLst/>
          </a:prstGeom>
          <a:noFill/>
          <a:ln/>
        </p:spPr>
        <p:txBody>
          <a:bodyPr wrap="square" lIns="0" tIns="0" rIns="0" bIns="0" rtlCol="0" anchor="ctr"/>
          <a:lstStyle/>
          <a:p>
            <a:pPr indent="0" marL="0">
              <a:lnSpc>
                <a:spcPct val="110000"/>
              </a:lnSpc>
              <a:buNone/>
            </a:pPr>
            <a:r>
              <a:rPr lang="en-US" sz="850" dirty="0">
                <a:solidFill>
                  <a:srgbClr val="595959"/>
                </a:solidFill>
                <a:latin typeface="Arial" pitchFamily="34" charset="0"/>
                <a:ea typeface="Arial" pitchFamily="34" charset="-122"/>
                <a:cs typeface="Arial" pitchFamily="34" charset="-120"/>
              </a:rPr>
              <a:t>Runs before clarify, not after, so it sees the draft before any questions touch it. Paraphrases each requirement and its scenario in isolation, then diffs them, catching confident misreads that clarify’s own uncertainty-driven loop never surfaces.</a:t>
            </a:r>
            <a:endParaRPr lang="en-US" sz="850" dirty="0"/>
          </a:p>
        </p:txBody>
      </p:sp>
      <p:sp>
        <p:nvSpPr>
          <p:cNvPr id="16" name="Text 14"/>
          <p:cNvSpPr/>
          <p:nvPr/>
        </p:nvSpPr>
        <p:spPr>
          <a:xfrm>
            <a:off x="4983480" y="3438144"/>
            <a:ext cx="182880" cy="274320"/>
          </a:xfrm>
          <a:prstGeom prst="rect">
            <a:avLst/>
          </a:prstGeom>
          <a:noFill/>
          <a:ln/>
        </p:spPr>
        <p:txBody>
          <a:bodyPr wrap="square" lIns="0" tIns="0" rIns="0" bIns="0" rtlCol="0" anchor="ctr"/>
          <a:lstStyle/>
          <a:p>
            <a:pPr algn="ctr" indent="0" marL="0">
              <a:buNone/>
            </a:pPr>
            <a:r>
              <a:rPr lang="en-US" sz="1400" b="1" dirty="0">
                <a:solidFill>
                  <a:srgbClr val="D0D0D0"/>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175504" y="1609344"/>
            <a:ext cx="2121408" cy="4023360"/>
          </a:xfrm>
          <a:prstGeom prst="rect">
            <a:avLst/>
          </a:prstGeom>
          <a:solidFill>
            <a:srgbClr val="F0F0F0"/>
          </a:solidFill>
          <a:ln w="12700">
            <a:solidFill>
              <a:srgbClr val="D0D0D0"/>
            </a:solidFill>
            <a:prstDash val="solid"/>
          </a:ln>
        </p:spPr>
      </p:sp>
      <p:sp>
        <p:nvSpPr>
          <p:cNvPr id="18" name="Text 16"/>
          <p:cNvSpPr/>
          <p:nvPr/>
        </p:nvSpPr>
        <p:spPr>
          <a:xfrm>
            <a:off x="5321808" y="1773936"/>
            <a:ext cx="1828800" cy="694944"/>
          </a:xfrm>
          <a:prstGeom prst="rect">
            <a:avLst/>
          </a:prstGeom>
          <a:noFill/>
          <a:ln/>
        </p:spPr>
        <p:txBody>
          <a:bodyPr wrap="square" lIns="0" tIns="0" rIns="0" bIns="0" rtlCol="0" anchor="ctr"/>
          <a:lstStyle/>
          <a:p>
            <a:pPr indent="0" marL="0">
              <a:lnSpc>
                <a:spcPct val="105000"/>
              </a:lnSpc>
              <a:buNone/>
            </a:pPr>
            <a:r>
              <a:rPr lang="en-US" sz="1000" b="1" dirty="0">
                <a:solidFill>
                  <a:srgbClr val="0B5394"/>
                </a:solidFill>
                <a:latin typeface="Arial" pitchFamily="34" charset="0"/>
                <a:ea typeface="Arial" pitchFamily="34" charset="-122"/>
                <a:cs typeface="Arial" pitchFamily="34" charset="-120"/>
              </a:rPr>
              <a:t>/speckit.clarify</a:t>
            </a:r>
            <a:endParaRPr lang="en-US" sz="1000" dirty="0"/>
          </a:p>
        </p:txBody>
      </p:sp>
      <p:sp>
        <p:nvSpPr>
          <p:cNvPr id="19" name="Text 17"/>
          <p:cNvSpPr/>
          <p:nvPr/>
        </p:nvSpPr>
        <p:spPr>
          <a:xfrm>
            <a:off x="5321808" y="2542032"/>
            <a:ext cx="18288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WHY THIS STEP</a:t>
            </a:r>
            <a:endParaRPr lang="en-US" sz="850" dirty="0"/>
          </a:p>
        </p:txBody>
      </p:sp>
      <p:sp>
        <p:nvSpPr>
          <p:cNvPr id="20" name="Text 18"/>
          <p:cNvSpPr/>
          <p:nvPr/>
        </p:nvSpPr>
        <p:spPr>
          <a:xfrm>
            <a:off x="5321808" y="2761488"/>
            <a:ext cx="1828800" cy="2651760"/>
          </a:xfrm>
          <a:prstGeom prst="rect">
            <a:avLst/>
          </a:prstGeom>
          <a:noFill/>
          <a:ln/>
        </p:spPr>
        <p:txBody>
          <a:bodyPr wrap="square" lIns="0" tIns="0" rIns="0" bIns="0" rtlCol="0" anchor="ctr"/>
          <a:lstStyle/>
          <a:p>
            <a:pPr indent="0" marL="0">
              <a:lnSpc>
                <a:spcPct val="110000"/>
              </a:lnSpc>
              <a:buNone/>
            </a:pPr>
            <a:r>
              <a:rPr lang="en-US" sz="850" dirty="0">
                <a:solidFill>
                  <a:srgbClr val="595959"/>
                </a:solidFill>
                <a:latin typeface="Arial" pitchFamily="34" charset="0"/>
                <a:ea typeface="Arial" pitchFamily="34" charset="-122"/>
                <a:cs typeface="Arial" pitchFamily="34" charset="-120"/>
              </a:rPr>
              <a:t>Now reconciles two independent sources, not one: its own generated questions, plus the findings just logged. Skip the read first and clarify only ever notices what it is itself unsure about, a narrower net than an independent restatement.</a:t>
            </a:r>
            <a:endParaRPr lang="en-US" sz="850" dirty="0"/>
          </a:p>
        </p:txBody>
      </p:sp>
      <p:sp>
        <p:nvSpPr>
          <p:cNvPr id="21" name="Text 19"/>
          <p:cNvSpPr/>
          <p:nvPr/>
        </p:nvSpPr>
        <p:spPr>
          <a:xfrm>
            <a:off x="7296912" y="3438144"/>
            <a:ext cx="182880" cy="274320"/>
          </a:xfrm>
          <a:prstGeom prst="rect">
            <a:avLst/>
          </a:prstGeom>
          <a:noFill/>
          <a:ln/>
        </p:spPr>
        <p:txBody>
          <a:bodyPr wrap="square" lIns="0" tIns="0" rIns="0" bIns="0" rtlCol="0" anchor="ctr"/>
          <a:lstStyle/>
          <a:p>
            <a:pPr algn="ctr" indent="0" marL="0">
              <a:buNone/>
            </a:pPr>
            <a:r>
              <a:rPr lang="en-US" sz="1400" b="1" dirty="0">
                <a:solidFill>
                  <a:srgbClr val="D0D0D0"/>
                </a:solidFill>
                <a:latin typeface="Arial" pitchFamily="34" charset="0"/>
                <a:ea typeface="Arial" pitchFamily="34" charset="-122"/>
                <a:cs typeface="Arial" pitchFamily="34" charset="-120"/>
              </a:rPr>
              <a:t>&gt;</a:t>
            </a:r>
            <a:endParaRPr lang="en-US" sz="1400" dirty="0"/>
          </a:p>
        </p:txBody>
      </p:sp>
      <p:sp>
        <p:nvSpPr>
          <p:cNvPr id="22" name="Shape 20"/>
          <p:cNvSpPr/>
          <p:nvPr/>
        </p:nvSpPr>
        <p:spPr>
          <a:xfrm>
            <a:off x="7488936" y="1609344"/>
            <a:ext cx="2121408" cy="4023360"/>
          </a:xfrm>
          <a:prstGeom prst="rect">
            <a:avLst/>
          </a:prstGeom>
          <a:solidFill>
            <a:srgbClr val="FFF3F3"/>
          </a:solidFill>
          <a:ln w="12700">
            <a:solidFill>
              <a:srgbClr val="D0D0D0"/>
            </a:solidFill>
            <a:prstDash val="solid"/>
          </a:ln>
        </p:spPr>
      </p:sp>
      <p:sp>
        <p:nvSpPr>
          <p:cNvPr id="23" name="Text 21"/>
          <p:cNvSpPr/>
          <p:nvPr/>
        </p:nvSpPr>
        <p:spPr>
          <a:xfrm>
            <a:off x="7635240" y="1773936"/>
            <a:ext cx="1828800" cy="694944"/>
          </a:xfrm>
          <a:prstGeom prst="rect">
            <a:avLst/>
          </a:prstGeom>
          <a:noFill/>
          <a:ln/>
        </p:spPr>
        <p:txBody>
          <a:bodyPr wrap="square" lIns="0" tIns="0" rIns="0" bIns="0" rtlCol="0" anchor="ctr"/>
          <a:lstStyle/>
          <a:p>
            <a:pPr indent="0" marL="0">
              <a:lnSpc>
                <a:spcPct val="105000"/>
              </a:lnSpc>
              <a:buNone/>
            </a:pPr>
            <a:r>
              <a:rPr lang="en-US" sz="1000" b="1" dirty="0">
                <a:solidFill>
                  <a:srgbClr val="E60000"/>
                </a:solidFill>
                <a:latin typeface="Arial" pitchFamily="34" charset="0"/>
                <a:ea typeface="Arial" pitchFamily="34" charset="-122"/>
                <a:cs typeface="Arial" pitchFamily="34" charset="-120"/>
              </a:rPr>
              <a:t>/speckit.ext.independent-read --verify</a:t>
            </a:r>
            <a:endParaRPr lang="en-US" sz="1000" dirty="0"/>
          </a:p>
        </p:txBody>
      </p:sp>
      <p:sp>
        <p:nvSpPr>
          <p:cNvPr id="24" name="Text 22"/>
          <p:cNvSpPr/>
          <p:nvPr/>
        </p:nvSpPr>
        <p:spPr>
          <a:xfrm>
            <a:off x="7635240" y="2542032"/>
            <a:ext cx="18288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WHY THIS STEP</a:t>
            </a:r>
            <a:endParaRPr lang="en-US" sz="850" dirty="0"/>
          </a:p>
        </p:txBody>
      </p:sp>
      <p:sp>
        <p:nvSpPr>
          <p:cNvPr id="25" name="Text 23"/>
          <p:cNvSpPr/>
          <p:nvPr/>
        </p:nvSpPr>
        <p:spPr>
          <a:xfrm>
            <a:off x="7635240" y="2761488"/>
            <a:ext cx="1828800" cy="2651760"/>
          </a:xfrm>
          <a:prstGeom prst="rect">
            <a:avLst/>
          </a:prstGeom>
          <a:noFill/>
          <a:ln/>
        </p:spPr>
        <p:txBody>
          <a:bodyPr wrap="square" lIns="0" tIns="0" rIns="0" bIns="0" rtlCol="0" anchor="ctr"/>
          <a:lstStyle/>
          <a:p>
            <a:pPr indent="0" marL="0">
              <a:lnSpc>
                <a:spcPct val="110000"/>
              </a:lnSpc>
              <a:buNone/>
            </a:pPr>
            <a:r>
              <a:rPr lang="en-US" sz="850" dirty="0">
                <a:solidFill>
                  <a:srgbClr val="595959"/>
                </a:solidFill>
                <a:latin typeface="Arial" pitchFamily="34" charset="0"/>
                <a:ea typeface="Arial" pitchFamily="34" charset="-122"/>
                <a:cs typeface="Arial" pitchFamily="34" charset="-120"/>
              </a:rPr>
              <a:t>Fagan’s follow-up phase: confirms a logged defect actually closed, not just that the file changed. Re-paraphrases only the flagged requirements against their post-clarify text and marks each resolved or failed before anything proceeds.</a:t>
            </a:r>
            <a:endParaRPr lang="en-US" sz="850" dirty="0"/>
          </a:p>
        </p:txBody>
      </p:sp>
      <p:sp>
        <p:nvSpPr>
          <p:cNvPr id="26" name="Text 24"/>
          <p:cNvSpPr/>
          <p:nvPr/>
        </p:nvSpPr>
        <p:spPr>
          <a:xfrm>
            <a:off x="9610344" y="3438144"/>
            <a:ext cx="182880" cy="274320"/>
          </a:xfrm>
          <a:prstGeom prst="rect">
            <a:avLst/>
          </a:prstGeom>
          <a:noFill/>
          <a:ln/>
        </p:spPr>
        <p:txBody>
          <a:bodyPr wrap="square" lIns="0" tIns="0" rIns="0" bIns="0" rtlCol="0" anchor="ctr"/>
          <a:lstStyle/>
          <a:p>
            <a:pPr algn="ctr" indent="0" marL="0">
              <a:buNone/>
            </a:pPr>
            <a:r>
              <a:rPr lang="en-US" sz="1400" b="1" dirty="0">
                <a:solidFill>
                  <a:srgbClr val="D0D0D0"/>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9802368" y="1609344"/>
            <a:ext cx="2121408" cy="4023360"/>
          </a:xfrm>
          <a:prstGeom prst="rect">
            <a:avLst/>
          </a:prstGeom>
          <a:solidFill>
            <a:srgbClr val="F0F0F0"/>
          </a:solidFill>
          <a:ln w="12700">
            <a:solidFill>
              <a:srgbClr val="D0D0D0"/>
            </a:solidFill>
            <a:prstDash val="solid"/>
          </a:ln>
        </p:spPr>
      </p:sp>
      <p:sp>
        <p:nvSpPr>
          <p:cNvPr id="28" name="Text 26"/>
          <p:cNvSpPr/>
          <p:nvPr/>
        </p:nvSpPr>
        <p:spPr>
          <a:xfrm>
            <a:off x="9948672" y="1773936"/>
            <a:ext cx="1828800" cy="694944"/>
          </a:xfrm>
          <a:prstGeom prst="rect">
            <a:avLst/>
          </a:prstGeom>
          <a:noFill/>
          <a:ln/>
        </p:spPr>
        <p:txBody>
          <a:bodyPr wrap="square" lIns="0" tIns="0" rIns="0" bIns="0" rtlCol="0" anchor="ctr"/>
          <a:lstStyle/>
          <a:p>
            <a:pPr indent="0" marL="0">
              <a:lnSpc>
                <a:spcPct val="105000"/>
              </a:lnSpc>
              <a:buNone/>
            </a:pPr>
            <a:r>
              <a:rPr lang="en-US" sz="1000" b="1" dirty="0">
                <a:solidFill>
                  <a:srgbClr val="0B5394"/>
                </a:solidFill>
                <a:latin typeface="Arial" pitchFamily="34" charset="0"/>
                <a:ea typeface="Arial" pitchFamily="34" charset="-122"/>
                <a:cs typeface="Arial" pitchFamily="34" charset="-120"/>
              </a:rPr>
              <a:t>/speckit.plan</a:t>
            </a:r>
            <a:endParaRPr lang="en-US" sz="1000" dirty="0"/>
          </a:p>
        </p:txBody>
      </p:sp>
      <p:sp>
        <p:nvSpPr>
          <p:cNvPr id="29" name="Text 27"/>
          <p:cNvSpPr/>
          <p:nvPr/>
        </p:nvSpPr>
        <p:spPr>
          <a:xfrm>
            <a:off x="9948672" y="2542032"/>
            <a:ext cx="1828800" cy="182880"/>
          </a:xfrm>
          <a:prstGeom prst="rect">
            <a:avLst/>
          </a:prstGeom>
          <a:noFill/>
          <a:ln/>
        </p:spPr>
        <p:txBody>
          <a:bodyPr wrap="square" lIns="0" tIns="0" rIns="0" bIns="0" rtlCol="0" anchor="ctr"/>
          <a:lstStyle/>
          <a:p>
            <a:pPr indent="0" marL="0">
              <a:buNone/>
            </a:pPr>
            <a:r>
              <a:rPr lang="en-US" sz="850" b="1" spc="130" kern="0" dirty="0">
                <a:solidFill>
                  <a:srgbClr val="595959"/>
                </a:solidFill>
                <a:latin typeface="Arial" pitchFamily="34" charset="0"/>
                <a:ea typeface="Arial" pitchFamily="34" charset="-122"/>
                <a:cs typeface="Arial" pitchFamily="34" charset="-120"/>
              </a:rPr>
              <a:t>WHY THIS STEP</a:t>
            </a:r>
            <a:endParaRPr lang="en-US" sz="850" dirty="0"/>
          </a:p>
        </p:txBody>
      </p:sp>
      <p:sp>
        <p:nvSpPr>
          <p:cNvPr id="30" name="Text 28"/>
          <p:cNvSpPr/>
          <p:nvPr/>
        </p:nvSpPr>
        <p:spPr>
          <a:xfrm>
            <a:off x="9948672" y="2761488"/>
            <a:ext cx="1828800" cy="2651760"/>
          </a:xfrm>
          <a:prstGeom prst="rect">
            <a:avLst/>
          </a:prstGeom>
          <a:noFill/>
          <a:ln/>
        </p:spPr>
        <p:txBody>
          <a:bodyPr wrap="square" lIns="0" tIns="0" rIns="0" bIns="0" rtlCol="0" anchor="ctr"/>
          <a:lstStyle/>
          <a:p>
            <a:pPr indent="0" marL="0">
              <a:lnSpc>
                <a:spcPct val="110000"/>
              </a:lnSpc>
              <a:buNone/>
            </a:pPr>
            <a:r>
              <a:rPr lang="en-US" sz="850" dirty="0">
                <a:solidFill>
                  <a:srgbClr val="595959"/>
                </a:solidFill>
                <a:latin typeface="Arial" pitchFamily="34" charset="0"/>
                <a:ea typeface="Arial" pitchFamily="34" charset="-122"/>
                <a:cs typeface="Arial" pitchFamily="34" charset="-120"/>
              </a:rPr>
              <a:t>The real destination. Architecture, tasks, and code are only as trustworthy as the spec beneath them, and by this point it has been paraphrased, diffed, clarified, and re-verified, not just drafted and glanced at once.</a:t>
            </a:r>
            <a:endParaRPr lang="en-US" sz="850" dirty="0"/>
          </a:p>
        </p:txBody>
      </p:sp>
      <p:sp>
        <p:nvSpPr>
          <p:cNvPr id="31" name="Shape 29"/>
          <p:cNvSpPr/>
          <p:nvPr/>
        </p:nvSpPr>
        <p:spPr>
          <a:xfrm>
            <a:off x="548640" y="5760720"/>
            <a:ext cx="11091672" cy="530352"/>
          </a:xfrm>
          <a:prstGeom prst="rect">
            <a:avLst/>
          </a:prstGeom>
          <a:solidFill>
            <a:srgbClr val="EAF1F8"/>
          </a:solidFill>
          <a:ln w="12700">
            <a:solidFill>
              <a:srgbClr val="D0D0D0"/>
            </a:solidFill>
            <a:prstDash val="solid"/>
          </a:ln>
        </p:spPr>
      </p:sp>
      <p:sp>
        <p:nvSpPr>
          <p:cNvPr id="32" name="Text 30"/>
          <p:cNvSpPr/>
          <p:nvPr/>
        </p:nvSpPr>
        <p:spPr>
          <a:xfrm>
            <a:off x="749808" y="5852160"/>
            <a:ext cx="10689336" cy="329184"/>
          </a:xfrm>
          <a:prstGeom prst="rect">
            <a:avLst/>
          </a:prstGeom>
          <a:noFill/>
          <a:ln/>
        </p:spPr>
        <p:txBody>
          <a:bodyPr wrap="square" lIns="0" tIns="0" rIns="0" bIns="0" rtlCol="0" anchor="ctr"/>
          <a:lstStyle/>
          <a:p>
            <a:pPr indent="0" marL="0">
              <a:buNone/>
            </a:pPr>
            <a:r>
              <a:rPr lang="en-US" sz="950" dirty="0">
                <a:solidFill>
                  <a:srgbClr val="0B5394"/>
                </a:solidFill>
                <a:latin typeface="Arial" pitchFamily="34" charset="0"/>
                <a:ea typeface="Arial" pitchFamily="34" charset="-122"/>
                <a:cs typeface="Arial" pitchFamily="34" charset="-120"/>
              </a:rPr>
              <a:t>The two red commands are our own additions. The three blue ones are stock Spec Kit, used unchanged.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01168"/>
          </a:xfrm>
          <a:prstGeom prst="rect">
            <a:avLst/>
          </a:prstGeom>
          <a:noFill/>
          <a:ln/>
        </p:spPr>
        <p:txBody>
          <a:bodyPr wrap="square" lIns="0" tIns="0" rIns="0" bIns="0" rtlCol="0" anchor="ctr"/>
          <a:lstStyle/>
          <a:p>
            <a:pPr indent="0" marL="0">
              <a:buNone/>
            </a:pPr>
            <a:r>
              <a:rPr lang="en-US" sz="950" b="1" spc="200" kern="0" dirty="0">
                <a:solidFill>
                  <a:srgbClr val="E60000"/>
                </a:solidFill>
                <a:latin typeface="Arial" pitchFamily="34" charset="0"/>
                <a:ea typeface="Arial" pitchFamily="34" charset="-122"/>
                <a:cs typeface="Arial" pitchFamily="34" charset="-120"/>
              </a:rPr>
              <a:t>HOW THE INTERVIEW BECOMES A DOCUMENT</a:t>
            </a:r>
            <a:endParaRPr lang="en-US" sz="950" dirty="0"/>
          </a:p>
        </p:txBody>
      </p:sp>
      <p:sp>
        <p:nvSpPr>
          <p:cNvPr id="3" name="Text 1"/>
          <p:cNvSpPr/>
          <p:nvPr/>
        </p:nvSpPr>
        <p:spPr>
          <a:xfrm>
            <a:off x="548640" y="530352"/>
            <a:ext cx="11091672" cy="384048"/>
          </a:xfrm>
          <a:prstGeom prst="rect">
            <a:avLst/>
          </a:prstGeom>
          <a:noFill/>
          <a:ln/>
        </p:spPr>
        <p:txBody>
          <a:bodyPr wrap="square" lIns="0" tIns="0" rIns="0" bIns="0" rtlCol="0" anchor="ctr"/>
          <a:lstStyle/>
          <a:p>
            <a:pPr indent="0" marL="0">
              <a:buNone/>
            </a:pPr>
            <a:r>
              <a:rPr lang="en-US" sz="2500" b="1" dirty="0">
                <a:solidFill>
                  <a:srgbClr val="000000"/>
                </a:solidFill>
                <a:latin typeface="Arial" pitchFamily="34" charset="0"/>
                <a:ea typeface="Arial" pitchFamily="34" charset="-122"/>
                <a:cs typeface="Arial" pitchFamily="34" charset="-120"/>
              </a:rPr>
              <a:t>Teams Copilot, Driven by a Prompt. Nothing to Build.</a:t>
            </a:r>
            <a:endParaRPr lang="en-US" sz="2500" dirty="0"/>
          </a:p>
        </p:txBody>
      </p:sp>
      <p:sp>
        <p:nvSpPr>
          <p:cNvPr id="4" name="Text 2"/>
          <p:cNvSpPr/>
          <p:nvPr/>
        </p:nvSpPr>
        <p:spPr>
          <a:xfrm>
            <a:off x="548640" y="950976"/>
            <a:ext cx="11091672" cy="310896"/>
          </a:xfrm>
          <a:prstGeom prst="rect">
            <a:avLst/>
          </a:prstGeom>
          <a:noFill/>
          <a:ln/>
        </p:spPr>
        <p:txBody>
          <a:bodyPr wrap="square" lIns="0" tIns="0" rIns="0" bIns="0" rtlCol="0" anchor="ctr"/>
          <a:lstStyle/>
          <a:p>
            <a:pPr indent="0" marL="0">
              <a:buNone/>
            </a:pPr>
            <a:r>
              <a:rPr lang="en-US" sz="1150" dirty="0">
                <a:solidFill>
                  <a:srgbClr val="595959"/>
                </a:solidFill>
                <a:latin typeface="Arial" pitchFamily="34" charset="0"/>
                <a:ea typeface="Arial" pitchFamily="34" charset="-122"/>
                <a:cs typeface="Arial" pitchFamily="34" charset="-120"/>
              </a:rPr>
              <a:t>No agent, no new application, no IT project. It is a saved prompt pasted into a tool you already have.</a:t>
            </a:r>
            <a:endParaRPr lang="en-US" sz="1150" dirty="0"/>
          </a:p>
        </p:txBody>
      </p:sp>
      <p:sp>
        <p:nvSpPr>
          <p:cNvPr id="5" name="Text 3"/>
          <p:cNvSpPr/>
          <p:nvPr/>
        </p:nvSpPr>
        <p:spPr>
          <a:xfrm>
            <a:off x="548640" y="6446520"/>
            <a:ext cx="7315200" cy="201168"/>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Use Case to Requirements Specification  |  Teams Copilot Mechanics</a:t>
            </a:r>
            <a:endParaRPr lang="en-US" sz="800" dirty="0"/>
          </a:p>
        </p:txBody>
      </p:sp>
      <p:sp>
        <p:nvSpPr>
          <p:cNvPr id="6" name="Text 4"/>
          <p:cNvSpPr/>
          <p:nvPr/>
        </p:nvSpPr>
        <p:spPr>
          <a:xfrm>
            <a:off x="10058400" y="6446520"/>
            <a:ext cx="1581912"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Page 12 / 12</a:t>
            </a:r>
            <a:endParaRPr lang="en-US" sz="800" dirty="0"/>
          </a:p>
        </p:txBody>
      </p:sp>
      <p:sp>
        <p:nvSpPr>
          <p:cNvPr id="7" name="Shape 5"/>
          <p:cNvSpPr/>
          <p:nvPr/>
        </p:nvSpPr>
        <p:spPr>
          <a:xfrm>
            <a:off x="548640" y="1572768"/>
            <a:ext cx="2615184" cy="1810512"/>
          </a:xfrm>
          <a:prstGeom prst="rect">
            <a:avLst/>
          </a:prstGeom>
          <a:solidFill>
            <a:srgbClr val="F0F0F0"/>
          </a:solidFill>
          <a:ln w="12700">
            <a:solidFill>
              <a:srgbClr val="D0D0D0"/>
            </a:solidFill>
            <a:prstDash val="solid"/>
          </a:ln>
        </p:spPr>
      </p:sp>
      <p:sp>
        <p:nvSpPr>
          <p:cNvPr id="8" name="Shape 6"/>
          <p:cNvSpPr/>
          <p:nvPr/>
        </p:nvSpPr>
        <p:spPr>
          <a:xfrm>
            <a:off x="713232" y="1737360"/>
            <a:ext cx="329184" cy="329184"/>
          </a:xfrm>
          <a:prstGeom prst="ellipse">
            <a:avLst/>
          </a:prstGeom>
          <a:solidFill>
            <a:srgbClr val="0B5394"/>
          </a:solidFill>
          <a:ln w="12700">
            <a:solidFill>
              <a:srgbClr val="0B5394"/>
            </a:solidFill>
            <a:prstDash val="solid"/>
          </a:ln>
        </p:spPr>
      </p:sp>
      <p:sp>
        <p:nvSpPr>
          <p:cNvPr id="9" name="Text 7"/>
          <p:cNvSpPr/>
          <p:nvPr/>
        </p:nvSpPr>
        <p:spPr>
          <a:xfrm>
            <a:off x="713232" y="1783080"/>
            <a:ext cx="32918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713232" y="2139696"/>
            <a:ext cx="2286000" cy="402336"/>
          </a:xfrm>
          <a:prstGeom prst="rect">
            <a:avLst/>
          </a:prstGeom>
          <a:noFill/>
          <a:ln/>
        </p:spPr>
        <p:txBody>
          <a:bodyPr wrap="square" lIns="0" tIns="0" rIns="0" bIns="0" rtlCol="0" anchor="ctr"/>
          <a:lstStyle/>
          <a:p>
            <a:pPr indent="0" marL="0">
              <a:buNone/>
            </a:pPr>
            <a:r>
              <a:rPr lang="en-US" sz="1100" b="1" dirty="0">
                <a:solidFill>
                  <a:srgbClr val="000000"/>
                </a:solidFill>
                <a:latin typeface="Arial" pitchFamily="34" charset="0"/>
                <a:ea typeface="Arial" pitchFamily="34" charset="-122"/>
                <a:cs typeface="Arial" pitchFamily="34" charset="-120"/>
              </a:rPr>
              <a:t>Interview in Teams</a:t>
            </a:r>
            <a:endParaRPr lang="en-US" sz="1100" dirty="0"/>
          </a:p>
        </p:txBody>
      </p:sp>
      <p:sp>
        <p:nvSpPr>
          <p:cNvPr id="11" name="Text 9"/>
          <p:cNvSpPr/>
          <p:nvPr/>
        </p:nvSpPr>
        <p:spPr>
          <a:xfrm>
            <a:off x="713232" y="2560320"/>
            <a:ext cx="2286000" cy="749808"/>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Transcription must be ON. Without it, Copilot sees only the meeting chat, not what was actually said. The organiser sets this in meeting options.</a:t>
            </a:r>
            <a:endParaRPr lang="en-US" sz="850" dirty="0"/>
          </a:p>
        </p:txBody>
      </p:sp>
      <p:sp>
        <p:nvSpPr>
          <p:cNvPr id="12" name="Shape 10"/>
          <p:cNvSpPr/>
          <p:nvPr/>
        </p:nvSpPr>
        <p:spPr>
          <a:xfrm>
            <a:off x="3383280" y="1572768"/>
            <a:ext cx="2615184" cy="1810512"/>
          </a:xfrm>
          <a:prstGeom prst="rect">
            <a:avLst/>
          </a:prstGeom>
          <a:solidFill>
            <a:srgbClr val="F0F0F0"/>
          </a:solidFill>
          <a:ln w="12700">
            <a:solidFill>
              <a:srgbClr val="D0D0D0"/>
            </a:solidFill>
            <a:prstDash val="solid"/>
          </a:ln>
        </p:spPr>
      </p:sp>
      <p:sp>
        <p:nvSpPr>
          <p:cNvPr id="13" name="Shape 11"/>
          <p:cNvSpPr/>
          <p:nvPr/>
        </p:nvSpPr>
        <p:spPr>
          <a:xfrm>
            <a:off x="3547872" y="1737360"/>
            <a:ext cx="329184" cy="329184"/>
          </a:xfrm>
          <a:prstGeom prst="ellipse">
            <a:avLst/>
          </a:prstGeom>
          <a:solidFill>
            <a:srgbClr val="0B5394"/>
          </a:solidFill>
          <a:ln w="12700">
            <a:solidFill>
              <a:srgbClr val="0B5394"/>
            </a:solidFill>
            <a:prstDash val="solid"/>
          </a:ln>
        </p:spPr>
      </p:sp>
      <p:sp>
        <p:nvSpPr>
          <p:cNvPr id="14" name="Text 12"/>
          <p:cNvSpPr/>
          <p:nvPr/>
        </p:nvSpPr>
        <p:spPr>
          <a:xfrm>
            <a:off x="3547872" y="1783080"/>
            <a:ext cx="32918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3"/>
          <p:cNvSpPr/>
          <p:nvPr/>
        </p:nvSpPr>
        <p:spPr>
          <a:xfrm>
            <a:off x="3547872" y="2139696"/>
            <a:ext cx="2286000" cy="402336"/>
          </a:xfrm>
          <a:prstGeom prst="rect">
            <a:avLst/>
          </a:prstGeom>
          <a:noFill/>
          <a:ln/>
        </p:spPr>
        <p:txBody>
          <a:bodyPr wrap="square" lIns="0" tIns="0" rIns="0" bIns="0" rtlCol="0" anchor="ctr"/>
          <a:lstStyle/>
          <a:p>
            <a:pPr indent="0" marL="0">
              <a:buNone/>
            </a:pPr>
            <a:r>
              <a:rPr lang="en-US" sz="1100" b="1" dirty="0">
                <a:solidFill>
                  <a:srgbClr val="000000"/>
                </a:solidFill>
                <a:latin typeface="Arial" pitchFamily="34" charset="0"/>
                <a:ea typeface="Arial" pitchFamily="34" charset="-122"/>
                <a:cs typeface="Arial" pitchFamily="34" charset="-120"/>
              </a:rPr>
              <a:t>Open Recap, then Copilot</a:t>
            </a:r>
            <a:endParaRPr lang="en-US" sz="1100" dirty="0"/>
          </a:p>
        </p:txBody>
      </p:sp>
      <p:sp>
        <p:nvSpPr>
          <p:cNvPr id="16" name="Text 14"/>
          <p:cNvSpPr/>
          <p:nvPr/>
        </p:nvSpPr>
        <p:spPr>
          <a:xfrm>
            <a:off x="3547872" y="2560320"/>
            <a:ext cx="2286000" cy="749808"/>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After the meeting ends, the Recap tab has a Copilot pane with a compose box that can read the full transcript.</a:t>
            </a:r>
            <a:endParaRPr lang="en-US" sz="850" dirty="0"/>
          </a:p>
        </p:txBody>
      </p:sp>
      <p:sp>
        <p:nvSpPr>
          <p:cNvPr id="17" name="Shape 15"/>
          <p:cNvSpPr/>
          <p:nvPr/>
        </p:nvSpPr>
        <p:spPr>
          <a:xfrm>
            <a:off x="6217920" y="1572768"/>
            <a:ext cx="2615184" cy="1810512"/>
          </a:xfrm>
          <a:prstGeom prst="rect">
            <a:avLst/>
          </a:prstGeom>
          <a:solidFill>
            <a:srgbClr val="F0F0F0"/>
          </a:solidFill>
          <a:ln w="12700">
            <a:solidFill>
              <a:srgbClr val="D0D0D0"/>
            </a:solidFill>
            <a:prstDash val="solid"/>
          </a:ln>
        </p:spPr>
      </p:sp>
      <p:sp>
        <p:nvSpPr>
          <p:cNvPr id="18" name="Shape 16"/>
          <p:cNvSpPr/>
          <p:nvPr/>
        </p:nvSpPr>
        <p:spPr>
          <a:xfrm>
            <a:off x="6382512" y="1737360"/>
            <a:ext cx="329184" cy="329184"/>
          </a:xfrm>
          <a:prstGeom prst="ellipse">
            <a:avLst/>
          </a:prstGeom>
          <a:solidFill>
            <a:srgbClr val="0B5394"/>
          </a:solidFill>
          <a:ln w="12700">
            <a:solidFill>
              <a:srgbClr val="0B5394"/>
            </a:solidFill>
            <a:prstDash val="solid"/>
          </a:ln>
        </p:spPr>
      </p:sp>
      <p:sp>
        <p:nvSpPr>
          <p:cNvPr id="19" name="Text 17"/>
          <p:cNvSpPr/>
          <p:nvPr/>
        </p:nvSpPr>
        <p:spPr>
          <a:xfrm>
            <a:off x="6382512" y="1783080"/>
            <a:ext cx="32918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0" name="Text 18"/>
          <p:cNvSpPr/>
          <p:nvPr/>
        </p:nvSpPr>
        <p:spPr>
          <a:xfrm>
            <a:off x="6382512" y="2139696"/>
            <a:ext cx="2286000" cy="402336"/>
          </a:xfrm>
          <a:prstGeom prst="rect">
            <a:avLst/>
          </a:prstGeom>
          <a:noFill/>
          <a:ln/>
        </p:spPr>
        <p:txBody>
          <a:bodyPr wrap="square" lIns="0" tIns="0" rIns="0" bIns="0" rtlCol="0" anchor="ctr"/>
          <a:lstStyle/>
          <a:p>
            <a:pPr indent="0" marL="0">
              <a:buNone/>
            </a:pPr>
            <a:r>
              <a:rPr lang="en-US" sz="1100" b="1" dirty="0">
                <a:solidFill>
                  <a:srgbClr val="000000"/>
                </a:solidFill>
                <a:latin typeface="Arial" pitchFamily="34" charset="0"/>
                <a:ea typeface="Arial" pitchFamily="34" charset="-122"/>
                <a:cs typeface="Arial" pitchFamily="34" charset="-120"/>
              </a:rPr>
              <a:t>Paste the prompt for your rung</a:t>
            </a:r>
            <a:endParaRPr lang="en-US" sz="1100" dirty="0"/>
          </a:p>
        </p:txBody>
      </p:sp>
      <p:sp>
        <p:nvSpPr>
          <p:cNvPr id="21" name="Text 19"/>
          <p:cNvSpPr/>
          <p:nvPr/>
        </p:nvSpPr>
        <p:spPr>
          <a:xfrm>
            <a:off x="6382512" y="2560320"/>
            <a:ext cx="2286000" cy="749808"/>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Three saved prompts: one for the first Lightweight interview, one for the Standard extension, one for the Exhaustive extension.</a:t>
            </a:r>
            <a:endParaRPr lang="en-US" sz="850" dirty="0"/>
          </a:p>
        </p:txBody>
      </p:sp>
      <p:sp>
        <p:nvSpPr>
          <p:cNvPr id="22" name="Shape 20"/>
          <p:cNvSpPr/>
          <p:nvPr/>
        </p:nvSpPr>
        <p:spPr>
          <a:xfrm>
            <a:off x="9052560" y="1572768"/>
            <a:ext cx="2615184" cy="1810512"/>
          </a:xfrm>
          <a:prstGeom prst="rect">
            <a:avLst/>
          </a:prstGeom>
          <a:solidFill>
            <a:srgbClr val="F0F0F0"/>
          </a:solidFill>
          <a:ln w="12700">
            <a:solidFill>
              <a:srgbClr val="D0D0D0"/>
            </a:solidFill>
            <a:prstDash val="solid"/>
          </a:ln>
        </p:spPr>
      </p:sp>
      <p:sp>
        <p:nvSpPr>
          <p:cNvPr id="23" name="Shape 21"/>
          <p:cNvSpPr/>
          <p:nvPr/>
        </p:nvSpPr>
        <p:spPr>
          <a:xfrm>
            <a:off x="9217152" y="1737360"/>
            <a:ext cx="329184" cy="329184"/>
          </a:xfrm>
          <a:prstGeom prst="ellipse">
            <a:avLst/>
          </a:prstGeom>
          <a:solidFill>
            <a:srgbClr val="0B5394"/>
          </a:solidFill>
          <a:ln w="12700">
            <a:solidFill>
              <a:srgbClr val="0B5394"/>
            </a:solidFill>
            <a:prstDash val="solid"/>
          </a:ln>
        </p:spPr>
      </p:sp>
      <p:sp>
        <p:nvSpPr>
          <p:cNvPr id="24" name="Text 22"/>
          <p:cNvSpPr/>
          <p:nvPr/>
        </p:nvSpPr>
        <p:spPr>
          <a:xfrm>
            <a:off x="9217152" y="1783080"/>
            <a:ext cx="32918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5" name="Text 23"/>
          <p:cNvSpPr/>
          <p:nvPr/>
        </p:nvSpPr>
        <p:spPr>
          <a:xfrm>
            <a:off x="9217152" y="2139696"/>
            <a:ext cx="2286000" cy="402336"/>
          </a:xfrm>
          <a:prstGeom prst="rect">
            <a:avLst/>
          </a:prstGeom>
          <a:noFill/>
          <a:ln/>
        </p:spPr>
        <p:txBody>
          <a:bodyPr wrap="square" lIns="0" tIns="0" rIns="0" bIns="0" rtlCol="0" anchor="ctr"/>
          <a:lstStyle/>
          <a:p>
            <a:pPr indent="0" marL="0">
              <a:buNone/>
            </a:pPr>
            <a:r>
              <a:rPr lang="en-US" sz="1100" b="1" dirty="0">
                <a:solidFill>
                  <a:srgbClr val="000000"/>
                </a:solidFill>
                <a:latin typeface="Arial" pitchFamily="34" charset="0"/>
                <a:ea typeface="Arial" pitchFamily="34" charset="-122"/>
                <a:cs typeface="Arial" pitchFamily="34" charset="-120"/>
              </a:rPr>
              <a:t>Get a marked-up draft</a:t>
            </a:r>
            <a:endParaRPr lang="en-US" sz="1100" dirty="0"/>
          </a:p>
        </p:txBody>
      </p:sp>
      <p:sp>
        <p:nvSpPr>
          <p:cNvPr id="26" name="Text 24"/>
          <p:cNvSpPr/>
          <p:nvPr/>
        </p:nvSpPr>
        <p:spPr>
          <a:xfrm>
            <a:off x="9217152" y="2560320"/>
            <a:ext cx="2286000" cy="749808"/>
          </a:xfrm>
          <a:prstGeom prst="rect">
            <a:avLst/>
          </a:prstGeom>
          <a:noFill/>
          <a:ln/>
        </p:spPr>
        <p:txBody>
          <a:bodyPr wrap="square" lIns="0" tIns="0" rIns="0" bIns="0" rtlCol="0" anchor="ctr"/>
          <a:lstStyle/>
          <a:p>
            <a:pPr indent="0" marL="0">
              <a:lnSpc>
                <a:spcPct val="108000"/>
              </a:lnSpc>
              <a:buNone/>
            </a:pPr>
            <a:r>
              <a:rPr lang="en-US" sz="850" dirty="0">
                <a:solidFill>
                  <a:srgbClr val="595959"/>
                </a:solidFill>
                <a:latin typeface="Arial" pitchFamily="34" charset="0"/>
                <a:ea typeface="Arial" pitchFamily="34" charset="-122"/>
                <a:cs typeface="Arial" pitchFamily="34" charset="-120"/>
              </a:rPr>
              <a:t>Populated sections, and NO ANSWER IN TRANSCRIPT wherever the conversation never actually covered one.</a:t>
            </a:r>
            <a:endParaRPr lang="en-US" sz="850" dirty="0"/>
          </a:p>
        </p:txBody>
      </p:sp>
      <p:sp>
        <p:nvSpPr>
          <p:cNvPr id="27" name="Shape 25"/>
          <p:cNvSpPr/>
          <p:nvPr/>
        </p:nvSpPr>
        <p:spPr>
          <a:xfrm>
            <a:off x="548640" y="3584448"/>
            <a:ext cx="11091672" cy="1481328"/>
          </a:xfrm>
          <a:prstGeom prst="rect">
            <a:avLst/>
          </a:prstGeom>
          <a:solidFill>
            <a:srgbClr val="FFF3F3"/>
          </a:solidFill>
          <a:ln w="12700">
            <a:solidFill>
              <a:srgbClr val="D0D0D0"/>
            </a:solidFill>
            <a:prstDash val="solid"/>
          </a:ln>
        </p:spPr>
      </p:sp>
      <p:sp>
        <p:nvSpPr>
          <p:cNvPr id="28" name="Text 26"/>
          <p:cNvSpPr/>
          <p:nvPr/>
        </p:nvSpPr>
        <p:spPr>
          <a:xfrm>
            <a:off x="749808" y="3675888"/>
            <a:ext cx="10689336" cy="237744"/>
          </a:xfrm>
          <a:prstGeom prst="rect">
            <a:avLst/>
          </a:prstGeom>
          <a:noFill/>
          <a:ln/>
        </p:spPr>
        <p:txBody>
          <a:bodyPr wrap="square" lIns="0" tIns="0" rIns="0" bIns="0" rtlCol="0" anchor="ctr"/>
          <a:lstStyle/>
          <a:p>
            <a:pPr indent="0" marL="0">
              <a:buNone/>
            </a:pPr>
            <a:r>
              <a:rPr lang="en-US" sz="1150" b="1" dirty="0">
                <a:solidFill>
                  <a:srgbClr val="CC0000"/>
                </a:solidFill>
                <a:latin typeface="Arial" pitchFamily="34" charset="0"/>
                <a:ea typeface="Arial" pitchFamily="34" charset="-122"/>
                <a:cs typeface="Arial" pitchFamily="34" charset="-120"/>
              </a:rPr>
              <a:t>The one line that makes or breaks this</a:t>
            </a:r>
            <a:endParaRPr lang="en-US" sz="1150" dirty="0"/>
          </a:p>
        </p:txBody>
      </p:sp>
      <p:sp>
        <p:nvSpPr>
          <p:cNvPr id="29" name="Text 27"/>
          <p:cNvSpPr/>
          <p:nvPr/>
        </p:nvSpPr>
        <p:spPr>
          <a:xfrm>
            <a:off x="749808" y="3950208"/>
            <a:ext cx="10689336" cy="402336"/>
          </a:xfrm>
          <a:prstGeom prst="rect">
            <a:avLst/>
          </a:prstGeom>
          <a:noFill/>
          <a:ln/>
        </p:spPr>
        <p:txBody>
          <a:bodyPr wrap="square" lIns="0" tIns="0" rIns="0" bIns="0" rtlCol="0" anchor="ctr"/>
          <a:lstStyle/>
          <a:p>
            <a:pPr indent="0" marL="0">
              <a:buNone/>
            </a:pPr>
            <a:r>
              <a:rPr lang="en-US" sz="1100" b="1" i="1" dirty="0">
                <a:solidFill>
                  <a:srgbClr val="000000"/>
                </a:solidFill>
                <a:latin typeface="Arial" pitchFamily="34" charset="0"/>
                <a:ea typeface="Arial" pitchFamily="34" charset="-122"/>
                <a:cs typeface="Arial" pitchFamily="34" charset="-120"/>
              </a:rPr>
              <a:t>“For any section where the transcript contains no actual answer, write exactly: NO ANSWER IN TRANSCRIPT. Do not infer, do not summarise around the gap, do not invent a plausible answer.”</a:t>
            </a:r>
            <a:endParaRPr lang="en-US" sz="1100" dirty="0"/>
          </a:p>
        </p:txBody>
      </p:sp>
      <p:sp>
        <p:nvSpPr>
          <p:cNvPr id="30" name="Text 28"/>
          <p:cNvSpPr/>
          <p:nvPr/>
        </p:nvSpPr>
        <p:spPr>
          <a:xfrm>
            <a:off x="749808" y="4407408"/>
            <a:ext cx="10689336" cy="566928"/>
          </a:xfrm>
          <a:prstGeom prst="rect">
            <a:avLst/>
          </a:prstGeom>
          <a:noFill/>
          <a:ln/>
        </p:spPr>
        <p:txBody>
          <a:bodyPr wrap="square" lIns="0" tIns="0" rIns="0" bIns="0" rtlCol="0" anchor="ctr"/>
          <a:lstStyle/>
          <a:p>
            <a:pPr indent="0" marL="0">
              <a:lnSpc>
                <a:spcPct val="110000"/>
              </a:lnSpc>
              <a:buNone/>
            </a:pPr>
            <a:r>
              <a:rPr lang="en-US" sz="1000" dirty="0">
                <a:solidFill>
                  <a:srgbClr val="595959"/>
                </a:solidFill>
                <a:latin typeface="Arial" pitchFamily="34" charset="0"/>
                <a:ea typeface="Arial" pitchFamily="34" charset="-122"/>
                <a:cs typeface="Arial" pitchFamily="34" charset="-120"/>
              </a:rPr>
              <a:t>Copilot’s default failure mode is to be helpful. It will write fluent, confident prose about a section nobody discussed. Without this instruction, a document with sixteen answered sections and four quietly invented ones looks exactly like a complete one, and nobody catches it until build.</a:t>
            </a:r>
            <a:endParaRPr lang="en-US" sz="1000" dirty="0"/>
          </a:p>
        </p:txBody>
      </p:sp>
      <p:sp>
        <p:nvSpPr>
          <p:cNvPr id="31" name="Shape 29"/>
          <p:cNvSpPr/>
          <p:nvPr/>
        </p:nvSpPr>
        <p:spPr>
          <a:xfrm>
            <a:off x="548640" y="5230368"/>
            <a:ext cx="11091672" cy="1005840"/>
          </a:xfrm>
          <a:prstGeom prst="rect">
            <a:avLst/>
          </a:prstGeom>
          <a:solidFill>
            <a:srgbClr val="EAF1F8"/>
          </a:solidFill>
          <a:ln w="12700">
            <a:solidFill>
              <a:srgbClr val="D0D0D0"/>
            </a:solidFill>
            <a:prstDash val="solid"/>
          </a:ln>
        </p:spPr>
      </p:sp>
      <p:sp>
        <p:nvSpPr>
          <p:cNvPr id="32" name="Text 30"/>
          <p:cNvSpPr/>
          <p:nvPr/>
        </p:nvSpPr>
        <p:spPr>
          <a:xfrm>
            <a:off x="749808" y="5321808"/>
            <a:ext cx="10689336" cy="219456"/>
          </a:xfrm>
          <a:prstGeom prst="rect">
            <a:avLst/>
          </a:prstGeom>
          <a:noFill/>
          <a:ln/>
        </p:spPr>
        <p:txBody>
          <a:bodyPr wrap="square" lIns="0" tIns="0" rIns="0" bIns="0" rtlCol="0" anchor="ctr"/>
          <a:lstStyle/>
          <a:p>
            <a:pPr indent="0" marL="0">
              <a:buNone/>
            </a:pPr>
            <a:r>
              <a:rPr lang="en-US" sz="1000" b="1" dirty="0">
                <a:solidFill>
                  <a:srgbClr val="0B5394"/>
                </a:solidFill>
                <a:latin typeface="Arial" pitchFamily="34" charset="0"/>
                <a:ea typeface="Arial" pitchFamily="34" charset="-122"/>
                <a:cs typeface="Arial" pitchFamily="34" charset="-120"/>
              </a:rPr>
              <a:t>What is not possible, so nobody proposes it</a:t>
            </a:r>
            <a:endParaRPr lang="en-US" sz="1000" dirty="0"/>
          </a:p>
        </p:txBody>
      </p:sp>
      <p:sp>
        <p:nvSpPr>
          <p:cNvPr id="33" name="Text 31"/>
          <p:cNvSpPr/>
          <p:nvPr/>
        </p:nvSpPr>
        <p:spPr>
          <a:xfrm>
            <a:off x="749808" y="5559552"/>
            <a:ext cx="10689336" cy="566928"/>
          </a:xfrm>
          <a:prstGeom prst="rect">
            <a:avLst/>
          </a:prstGeom>
          <a:noFill/>
          <a:ln/>
        </p:spPr>
        <p:txBody>
          <a:bodyPr wrap="square" lIns="0" tIns="0" rIns="0" bIns="0" rtlCol="0" anchor="ctr"/>
          <a:lstStyle/>
          <a:p>
            <a:pPr indent="0" marL="0">
              <a:lnSpc>
                <a:spcPct val="110000"/>
              </a:lnSpc>
              <a:buNone/>
            </a:pPr>
            <a:r>
              <a:rPr lang="en-US" sz="950" dirty="0">
                <a:solidFill>
                  <a:srgbClr val="595959"/>
                </a:solidFill>
                <a:latin typeface="Arial" pitchFamily="34" charset="0"/>
                <a:ea typeface="Arial" pitchFamily="34" charset="-122"/>
                <a:cs typeface="Arial" pitchFamily="34" charset="-120"/>
              </a:rPr>
              <a:t>A custom agent cannot join a Teams meeting or watch the transcript live. Microsoft is explicit that Copilot Studio agents are not meeting participants, and that Teams Copilot exposes no hooks for custom post-processing. The prompt-in-Recap approach is not a workaround, it is the supported path.</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Internal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Use Case to a Full Requirements Specification</dc:title>
  <dc:subject>Requirements practice</dc:subject>
  <dc:creator>Requirements Working Group</dc:creator>
  <cp:lastModifiedBy>Requirements Working Group</cp:lastModifiedBy>
  <cp:revision>1</cp:revision>
  <dcterms:created xsi:type="dcterms:W3CDTF">2026-07-27T07:48:13Z</dcterms:created>
  <dcterms:modified xsi:type="dcterms:W3CDTF">2026-07-27T07:48:13Z</dcterms:modified>
</cp:coreProperties>
</file>
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type="custom"/>
  <p:notesSz cx="12192000" cy="6858000"/>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top-strip"/>
          <p:cNvSpPr/>
          <p:nvPr/>
        </p:nvSpPr>
        <p:spPr>
          <a:xfrm>
            <a:off x="0" y="0"/>
            <a:ext cx="12192000" cy="76200"/>
          </a:xfrm>
          <a:prstGeom prst="rect">
            <a:avLst/>
          </a:prstGeom>
          <a:solidFill>
            <a:srgbClr val="B02A30"/>
          </a:solidFill>
          <a:ln>
            <a:noFill/>
          </a:ln>
        </p:spPr>
      </p:sp>
      <p:sp>
        <p:nvSpPr>
          <p:cNvPr id="3" name="title"/>
          <p:cNvSpPr txBox="1"/>
          <p:nvPr/>
        </p:nvSpPr>
        <p:spPr>
          <a:xfrm>
            <a:off x="711200" y="1930400"/>
            <a:ext cx="10769600" cy="635000"/>
          </a:xfrm>
          <a:prstGeom prst="rect">
            <a:avLst/>
          </a:prstGeom>
          <a:noFill/>
          <a:ln>
            <a:noFill/>
          </a:ln>
        </p:spPr>
        <p:txBody>
          <a:bodyPr lIns="0" rIns="0" tIns="0" bIns="0" wrap="none" rtlCol="0"/>
          <a:lstStyle/>
          <a:p>
            <a:pPr>
              <a:lnSpc>
                <a:spcPct val="120000"/>
              </a:lnSpc>
            </a:pPr>
            <a:r>
              <a:rPr lang="en-US" sz="3800" noProof="1">
                <a:solidFill>
                  <a:srgbClr val="232323"/>
                </a:solidFill>
                <a:latin typeface="Frutiger LT Std 45 Light"/>
                <a:ea typeface="Frutiger LT Std 45 Light"/>
              </a:rPr>
              <a:t>Sketch — the bank's Spec Kit extension catalog</a:t>
            </a:r>
            <a:endParaRPr lang="en-US" sz="3800" noProof="1"/>
          </a:p>
        </p:txBody>
      </p:sp>
      <p:sp>
        <p:nvSpPr>
          <p:cNvPr id="4" name="rule-cover"/>
          <p:cNvSpPr/>
          <p:nvPr/>
        </p:nvSpPr>
        <p:spPr>
          <a:xfrm>
            <a:off x="711200" y="3086100"/>
            <a:ext cx="10769600" cy="12700"/>
          </a:xfrm>
          <a:prstGeom prst="rect">
            <a:avLst/>
          </a:prstGeom>
          <a:solidFill>
            <a:srgbClr val="DCDCD6"/>
          </a:solidFill>
          <a:ln>
            <a:noFill/>
          </a:ln>
        </p:spPr>
      </p:sp>
      <p:sp>
        <p:nvSpPr>
          <p:cNvPr id="5" name="keymsg"/>
          <p:cNvSpPr txBox="1"/>
          <p:nvPr/>
        </p:nvSpPr>
        <p:spPr>
          <a:xfrm>
            <a:off x="711200" y="3378200"/>
            <a:ext cx="10160000" cy="1168400"/>
          </a:xfrm>
          <a:prstGeom prst="rect">
            <a:avLst/>
          </a:prstGeom>
          <a:noFill/>
          <a:ln>
            <a:noFill/>
          </a:ln>
        </p:spPr>
        <p:txBody>
          <a:bodyPr lIns="0" rIns="0" tIns="0" bIns="0" wrap="square" rtlCol="0"/>
          <a:lstStyle/>
          <a:p>
            <a:pPr>
              <a:lnSpc>
                <a:spcPct val="150000"/>
              </a:lnSpc>
            </a:pPr>
            <a:r>
              <a:rPr lang="en-US" sz="1600" noProof="1">
                <a:solidFill>
                  <a:srgbClr val="3A3A37"/>
                </a:solidFill>
                <a:latin typeface="Frutiger LT Std 45 Light"/>
                <a:ea typeface="Frutiger LT Std 45 Light"/>
              </a:rPr>
              <a:t>One install command per role, not forty. A layered GitLab structure where extensions stay granular, bundles do the provisioning, and a governed catalog decides what reaches a developer's machine.</a:t>
            </a:r>
            <a:endParaRPr lang="en-US" sz="1600" noProof="1"/>
          </a:p>
        </p:txBody>
      </p:sp>
      <p:sp>
        <p:nvSpPr>
          <p:cNvPr id="6" name="chip1"/>
          <p:cNvSpPr/>
          <p:nvPr/>
        </p:nvSpPr>
        <p:spPr>
          <a:xfrm>
            <a:off x="711200" y="4978400"/>
            <a:ext cx="3352800" cy="812800"/>
          </a:xfrm>
          <a:prstGeom prst="rect">
            <a:avLst/>
          </a:prstGeom>
          <a:solidFill>
            <a:srgbClr val="F4F4F2"/>
          </a:solidFill>
          <a:ln>
            <a:noFill/>
          </a:ln>
        </p:spPr>
      </p:sp>
      <p:sp>
        <p:nvSpPr>
          <p:cNvPr id="7" name="chip1-num"/>
          <p:cNvSpPr txBox="1"/>
          <p:nvPr/>
        </p:nvSpPr>
        <p:spPr>
          <a:xfrm>
            <a:off x="914400" y="5080000"/>
            <a:ext cx="1143000" cy="3556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144</a:t>
            </a:r>
            <a:endParaRPr lang="en-US" sz="2400" noProof="1"/>
          </a:p>
        </p:txBody>
      </p:sp>
      <p:sp>
        <p:nvSpPr>
          <p:cNvPr id="8" name="chip1-cap"/>
          <p:cNvSpPr txBox="1"/>
          <p:nvPr/>
        </p:nvSpPr>
        <p:spPr>
          <a:xfrm>
            <a:off x="914400" y="5435600"/>
            <a:ext cx="2946400" cy="304800"/>
          </a:xfrm>
          <a:prstGeom prst="rect">
            <a:avLst/>
          </a:prstGeom>
          <a:noFill/>
          <a:ln>
            <a:noFill/>
          </a:ln>
        </p:spPr>
        <p:txBody>
          <a:bodyPr lIns="0" rIns="0" tIns="0" bIns="0" wrap="none" rtlCol="0"/>
          <a:lstStyle/>
          <a:p>
            <a:pPr>
              <a:lnSpc>
                <a:spcPct val="145000"/>
              </a:lnSpc>
            </a:pPr>
            <a:r>
              <a:rPr lang="en-US" sz="1150" noProof="1">
                <a:solidFill>
                  <a:srgbClr val="7C7C74"/>
                </a:solidFill>
                <a:latin typeface="Frutiger LT Std 45 Light"/>
                <a:ea typeface="Frutiger LT Std 45 Light"/>
              </a:rPr>
              <a:t>community catalog entries, unreviewed</a:t>
            </a:r>
            <a:endParaRPr lang="en-US" sz="1150" noProof="1"/>
          </a:p>
        </p:txBody>
      </p:sp>
      <p:sp>
        <p:nvSpPr>
          <p:cNvPr id="9" name="chip2"/>
          <p:cNvSpPr/>
          <p:nvPr/>
        </p:nvSpPr>
        <p:spPr>
          <a:xfrm>
            <a:off x="4419600" y="4978400"/>
            <a:ext cx="3352800" cy="812800"/>
          </a:xfrm>
          <a:prstGeom prst="rect">
            <a:avLst/>
          </a:prstGeom>
          <a:solidFill>
            <a:srgbClr val="F4F4F2"/>
          </a:solidFill>
          <a:ln>
            <a:noFill/>
          </a:ln>
        </p:spPr>
      </p:sp>
      <p:sp>
        <p:nvSpPr>
          <p:cNvPr id="10" name="chip2-num"/>
          <p:cNvSpPr txBox="1"/>
          <p:nvPr/>
        </p:nvSpPr>
        <p:spPr>
          <a:xfrm>
            <a:off x="4622800" y="5080000"/>
            <a:ext cx="1143000" cy="3556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1–18</a:t>
            </a:r>
            <a:endParaRPr lang="en-US" sz="2400" noProof="1"/>
          </a:p>
        </p:txBody>
      </p:sp>
      <p:sp>
        <p:nvSpPr>
          <p:cNvPr id="11" name="chip2-cap"/>
          <p:cNvSpPr txBox="1"/>
          <p:nvPr/>
        </p:nvSpPr>
        <p:spPr>
          <a:xfrm>
            <a:off x="4622800" y="5435600"/>
            <a:ext cx="2946400" cy="304800"/>
          </a:xfrm>
          <a:prstGeom prst="rect">
            <a:avLst/>
          </a:prstGeom>
          <a:noFill/>
          <a:ln>
            <a:noFill/>
          </a:ln>
        </p:spPr>
        <p:txBody>
          <a:bodyPr lIns="0" rIns="0" tIns="0" bIns="0" wrap="none" rtlCol="0"/>
          <a:lstStyle/>
          <a:p>
            <a:pPr>
              <a:lnSpc>
                <a:spcPct val="145000"/>
              </a:lnSpc>
            </a:pPr>
            <a:r>
              <a:rPr lang="en-US" sz="1150" noProof="1">
                <a:solidFill>
                  <a:srgbClr val="7C7C74"/>
                </a:solidFill>
                <a:latin typeface="Frutiger LT Std 45 Light"/>
                <a:ea typeface="Frutiger LT Std 45 Light"/>
              </a:rPr>
              <a:t>commands per community extension</a:t>
            </a:r>
            <a:endParaRPr lang="en-US" sz="1150" noProof="1"/>
          </a:p>
        </p:txBody>
      </p:sp>
      <p:sp>
        <p:nvSpPr>
          <p:cNvPr id="12" name="chip3"/>
          <p:cNvSpPr/>
          <p:nvPr/>
        </p:nvSpPr>
        <p:spPr>
          <a:xfrm>
            <a:off x="8128000" y="4978400"/>
            <a:ext cx="3352800" cy="812800"/>
          </a:xfrm>
          <a:prstGeom prst="rect">
            <a:avLst/>
          </a:prstGeom>
          <a:solidFill>
            <a:srgbClr val="F4F4F2"/>
          </a:solidFill>
          <a:ln>
            <a:noFill/>
          </a:ln>
        </p:spPr>
      </p:sp>
      <p:sp>
        <p:nvSpPr>
          <p:cNvPr id="13" name="chip3-num"/>
          <p:cNvSpPr txBox="1"/>
          <p:nvPr/>
        </p:nvSpPr>
        <p:spPr>
          <a:xfrm>
            <a:off x="8331200" y="5080000"/>
            <a:ext cx="1524000" cy="3556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3 layers</a:t>
            </a:r>
            <a:endParaRPr lang="en-US" sz="2400" noProof="1"/>
          </a:p>
        </p:txBody>
      </p:sp>
      <p:sp>
        <p:nvSpPr>
          <p:cNvPr id="14" name="chip3-cap"/>
          <p:cNvSpPr txBox="1"/>
          <p:nvPr/>
        </p:nvSpPr>
        <p:spPr>
          <a:xfrm>
            <a:off x="8331200" y="5435600"/>
            <a:ext cx="2946400" cy="304800"/>
          </a:xfrm>
          <a:prstGeom prst="rect">
            <a:avLst/>
          </a:prstGeom>
          <a:noFill/>
          <a:ln>
            <a:noFill/>
          </a:ln>
        </p:spPr>
        <p:txBody>
          <a:bodyPr lIns="0" rIns="0" tIns="0" bIns="0" wrap="none" rtlCol="0"/>
          <a:lstStyle/>
          <a:p>
            <a:pPr>
              <a:lnSpc>
                <a:spcPct val="145000"/>
              </a:lnSpc>
            </a:pPr>
            <a:r>
              <a:rPr lang="en-US" sz="1150" noProof="1">
                <a:solidFill>
                  <a:srgbClr val="7C7C74"/>
                </a:solidFill>
                <a:latin typeface="Frutiger LT Std 45 Light"/>
                <a:ea typeface="Frutiger LT Std 45 Light"/>
              </a:rPr>
              <a:t>L2 base · L3 bundles · L4 reviewer</a:t>
            </a:r>
            <a:endParaRPr lang="en-US" sz="1150" noProof="1"/>
          </a:p>
        </p:txBody>
      </p:sp>
      <p:sp>
        <p:nvSpPr>
          <p:cNvPr id="15"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Internal design proposal · 1 August 2026</a:t>
            </a:r>
            <a:endParaRPr lang="en-US" sz="950" noProof="1"/>
          </a:p>
        </p:txBody>
      </p:sp>
    </p:spTree>
  </p:cSld>
  <p:clrMapOvr>
    <a:masterClrMapping/>
  </p:clrMapOvr>
  <p:transition spd="fast" advClick="1">
    <p:fade/>
  </p:transition>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The problem: one extension per command does not scale</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item1"/>
          <p:cNvSpPr txBox="1"/>
          <p:nvPr/>
        </p:nvSpPr>
        <p:spPr>
          <a:xfrm>
            <a:off x="711200" y="14732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Every developer-authored extension ships exactly one command.</a:t>
            </a:r>
            <a:endParaRPr lang="en-US" sz="1400" noProof="1"/>
          </a:p>
          <a:p>
            <a:pPr>
              <a:lnSpc>
                <a:spcPct val="150000"/>
              </a:lnSpc>
            </a:pPr>
            <a:r>
              <a:rPr lang="en-US" sz="1150" noProof="1">
                <a:solidFill>
                  <a:srgbClr val="7C7C74"/>
                </a:solidFill>
                <a:latin typeface="Frutiger LT Std 45 Light"/>
                <a:ea typeface="Frutiger LT Std 45 Light"/>
              </a:rPr>
              <a:t>Fragmentation feels productive, but each extension is its own repo, version and install step. Getting the full bank context means finding and installing dozens of them by hand.</a:t>
            </a:r>
            <a:endParaRPr lang="en-US" sz="1400" noProof="1"/>
          </a:p>
        </p:txBody>
      </p:sp>
      <p:sp>
        <p:nvSpPr>
          <p:cNvPr id="5" name="item2"/>
          <p:cNvSpPr txBox="1"/>
          <p:nvPr/>
        </p:nvSpPr>
        <p:spPr>
          <a:xfrm>
            <a:off x="711200" y="27178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Install order and completeness are tribal knowledge.</a:t>
            </a:r>
            <a:endParaRPr lang="en-US" sz="1400" noProof="1"/>
          </a:p>
          <a:p>
            <a:pPr>
              <a:lnSpc>
                <a:spcPct val="150000"/>
              </a:lnSpc>
            </a:pPr>
            <a:r>
              <a:rPr lang="en-US" sz="1150" noProof="1">
                <a:solidFill>
                  <a:srgbClr val="7C7C74"/>
                </a:solidFill>
                <a:latin typeface="Frutiger LT Std 45 Light"/>
                <a:ea typeface="Frutiger LT Std 45 Light"/>
              </a:rPr>
              <a:t>Which ten extensions make a proper full-stack setup? Today that answer lives in chat threads and onboarding docs, not in any artifact the CLI can verify.</a:t>
            </a:r>
            <a:endParaRPr lang="en-US" sz="1400" noProof="1"/>
          </a:p>
        </p:txBody>
      </p:sp>
      <p:sp>
        <p:nvSpPr>
          <p:cNvPr id="6" name="item3"/>
          <p:cNvSpPr txBox="1"/>
          <p:nvPr/>
        </p:nvSpPr>
        <p:spPr>
          <a:xfrm>
            <a:off x="711200" y="39624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No version coherence across the set.</a:t>
            </a:r>
            <a:endParaRPr lang="en-US" sz="1400" noProof="1"/>
          </a:p>
          <a:p>
            <a:pPr>
              <a:lnSpc>
                <a:spcPct val="150000"/>
              </a:lnSpc>
            </a:pPr>
            <a:r>
              <a:rPr lang="en-US" sz="1150" noProof="1">
                <a:solidFill>
                  <a:srgbClr val="7C7C74"/>
                </a:solidFill>
                <a:latin typeface="Frutiger LT Std 45 Light"/>
                <a:ea typeface="Frutiger LT Std 45 Light"/>
              </a:rPr>
              <a:t>Extension A at 2.1 and extension B at 0.4 may never have been tested together. Nothing pins a known-good combination that two projects provisioned months apart will both get.</a:t>
            </a:r>
            <a:endParaRPr lang="en-US" sz="1400" noProof="1"/>
          </a:p>
        </p:txBody>
      </p:sp>
      <p:sp>
        <p:nvSpPr>
          <p:cNvPr id="7" name="item4"/>
          <p:cNvSpPr txBox="1"/>
          <p:nvPr/>
        </p:nvSpPr>
        <p:spPr>
          <a:xfrm>
            <a:off x="711200" y="52070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The community catalog will not save us.</a:t>
            </a:r>
            <a:endParaRPr lang="en-US" sz="1400" noProof="1"/>
          </a:p>
          <a:p>
            <a:pPr>
              <a:lnSpc>
                <a:spcPct val="150000"/>
              </a:lnSpc>
            </a:pPr>
            <a:r>
              <a:rPr lang="en-US" sz="1150" noProof="1">
                <a:solidFill>
                  <a:srgbClr val="7C7C74"/>
                </a:solidFill>
                <a:latin typeface="Frutiger LT Std 45 Light"/>
                <a:ea typeface="Frutiger LT Std 45 Light"/>
              </a:rPr>
              <a:t>Upstream lists 144 extensions with an explicit no-review, no-endorsement disclaimer. Curation, grouping and trust are the bank's job, not GitHub's.</a:t>
            </a:r>
            <a:endParaRPr lang="en-US" sz="1400" noProof="1"/>
          </a:p>
        </p:txBody>
      </p:sp>
      <p:sp>
        <p:nvSpPr>
          <p:cNvPr id="8" name="footer-rule"/>
          <p:cNvSpPr/>
          <p:nvPr/>
        </p:nvSpPr>
        <p:spPr>
          <a:xfrm>
            <a:off x="711200" y="6451600"/>
            <a:ext cx="10769600" cy="12700"/>
          </a:xfrm>
          <a:prstGeom prst="rect">
            <a:avLst/>
          </a:prstGeom>
          <a:solidFill>
            <a:srgbClr val="232323"/>
          </a:solidFill>
          <a:ln>
            <a:noFill/>
          </a:ln>
        </p:spPr>
      </p:sp>
      <p:sp>
        <p:nvSpPr>
          <p:cNvPr id="9"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02</a:t>
            </a:r>
            <a:endParaRPr lang="en-US" sz="950" noProof="1"/>
          </a:p>
        </p:txBody>
      </p:sp>
    </p:spTree>
  </p:cSld>
  <p:clrMapOvr>
    <a:masterClrMapping/>
  </p:clrMapOvr>
  <p:transition spd="fast" advClick="1">
    <p:fade/>
  </p:transition>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144 community extensions, and nothing groups them</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dist-table"/>
          <p:cNvGraphicFramePr>
            <a:graphicFrameLocks noGrp="1"/>
          </p:cNvGraphicFramePr>
          <p:nvPr/>
        </p:nvGraphicFramePr>
        <p:xfrm>
          <a:off x="711200" y="1473200"/>
          <a:ext cx="5334000" cy="3200400"/>
        </p:xfrm>
        <a:graphic>
          <a:graphicData uri="http://schemas.openxmlformats.org/drawingml/2006/table">
            <a:tbl>
              <a:tblPr/>
              <a:tblGrid>
                <a:gridCol w="2346960"/>
                <a:gridCol w="1386840"/>
                <a:gridCol w="1600200"/>
              </a:tblGrid>
              <a:tr h="512064">
                <a:tc>
                  <a:txBody>
                    <a:bodyPr wrap="square" rtlCol="0" anchor="ctr"/>
                    <a:lstStyle/>
                    <a:p>
                      <a:pPr algn="l"/>
                      <a:r>
                        <a:rPr lang="en-US" sz="1100" noProof="1" b="1">
                          <a:solidFill>
                            <a:srgbClr val="FFFFFF"/>
                          </a:solidFill>
                          <a:latin typeface="Frutiger LT Std 45 Light"/>
                          <a:ea typeface="Frutiger LT Std 45 Light"/>
                        </a:rPr>
                        <a:t>Commands per extension</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Count</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Share</a:t>
                      </a:r>
                    </a:p>
                  </a:txBody>
                  <a:tcPr marL="91440" marR="91440" marT="45720" marB="45720" anchor="ctr">
                    <a:lnL>
                      <a:noFill/>
                    </a:lnL>
                    <a:lnR>
                      <a:noFill/>
                    </a:lnR>
                    <a:lnT>
                      <a:noFill/>
                    </a:lnT>
                    <a:lnB w="12700">
                      <a:solidFill>
                        <a:srgbClr val="DCDCD6"/>
                      </a:solidFill>
                    </a:lnB>
                    <a:solidFill>
                      <a:srgbClr val="6E6E68"/>
                    </a:solidFill>
                  </a:tcPr>
                </a:tc>
              </a:tr>
              <a:tr h="537667">
                <a:tc>
                  <a:txBody>
                    <a:bodyPr wrap="square" rtlCol="0" anchor="ctr"/>
                    <a:lstStyle/>
                    <a:p>
                      <a:pPr algn="l"/>
                      <a:r>
                        <a:rPr lang="en-US" sz="1100" noProof="1">
                          <a:solidFill>
                            <a:srgbClr val="3A3A37"/>
                          </a:solidFill>
                          <a:latin typeface="Frutiger LT Std 45 Light"/>
                          <a:ea typeface="Frutiger LT Std 45 Light"/>
                        </a:rPr>
                        <a:t>1</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33</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23%</a:t>
                      </a:r>
                    </a:p>
                  </a:txBody>
                  <a:tcPr marL="91440" marR="91440" marT="45720" marB="45720" anchor="ctr">
                    <a:lnL>
                      <a:noFill/>
                    </a:lnL>
                    <a:lnR>
                      <a:noFill/>
                    </a:lnR>
                    <a:lnT>
                      <a:noFill/>
                    </a:lnT>
                    <a:lnB w="12700">
                      <a:solidFill>
                        <a:srgbClr val="DCDCD6"/>
                      </a:solidFill>
                    </a:lnB>
                    <a:solidFill>
                      <a:srgbClr val="FFFFFF"/>
                    </a:solidFill>
                  </a:tcPr>
                </a:tc>
              </a:tr>
              <a:tr h="537667">
                <a:tc>
                  <a:txBody>
                    <a:bodyPr wrap="square" rtlCol="0" anchor="ctr"/>
                    <a:lstStyle/>
                    <a:p>
                      <a:pPr algn="l"/>
                      <a:r>
                        <a:rPr lang="en-US" sz="1100" noProof="1">
                          <a:solidFill>
                            <a:srgbClr val="3A3A37"/>
                          </a:solidFill>
                          <a:latin typeface="Frutiger LT Std 45 Light"/>
                          <a:ea typeface="Frutiger LT Std 45 Light"/>
                        </a:rPr>
                        <a:t>2–3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53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37%</a:t>
                      </a:r>
                    </a:p>
                  </a:txBody>
                  <a:tcPr marL="91440" marR="91440" marT="45720" marB="45720" anchor="ctr">
                    <a:lnL>
                      <a:noFill/>
                    </a:lnL>
                    <a:lnR>
                      <a:noFill/>
                    </a:lnR>
                    <a:lnT>
                      <a:noFill/>
                    </a:lnT>
                    <a:lnB w="12700">
                      <a:solidFill>
                        <a:srgbClr val="DCDCD6"/>
                      </a:solidFill>
                    </a:lnB>
                    <a:solidFill>
                      <a:srgbClr val="F4F4F2"/>
                    </a:solidFill>
                  </a:tcPr>
                </a:tc>
              </a:tr>
              <a:tr h="537667">
                <a:tc>
                  <a:txBody>
                    <a:bodyPr wrap="square" rtlCol="0" anchor="ctr"/>
                    <a:lstStyle/>
                    <a:p>
                      <a:pPr algn="l"/>
                      <a:r>
                        <a:rPr lang="en-US" sz="1100" noProof="1">
                          <a:solidFill>
                            <a:srgbClr val="3A3A37"/>
                          </a:solidFill>
                          <a:latin typeface="Frutiger LT Std 45 Light"/>
                          <a:ea typeface="Frutiger LT Std 45 Light"/>
                        </a:rPr>
                        <a:t>4–5</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36</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25%</a:t>
                      </a:r>
                    </a:p>
                  </a:txBody>
                  <a:tcPr marL="91440" marR="91440" marT="45720" marB="45720" anchor="ctr">
                    <a:lnL>
                      <a:noFill/>
                    </a:lnL>
                    <a:lnR>
                      <a:noFill/>
                    </a:lnR>
                    <a:lnT>
                      <a:noFill/>
                    </a:lnT>
                    <a:lnB w="12700">
                      <a:solidFill>
                        <a:srgbClr val="DCDCD6"/>
                      </a:solidFill>
                    </a:lnB>
                    <a:solidFill>
                      <a:srgbClr val="FFFFFF"/>
                    </a:solidFill>
                  </a:tcPr>
                </a:tc>
              </a:tr>
              <a:tr h="537667">
                <a:tc>
                  <a:txBody>
                    <a:bodyPr wrap="square" rtlCol="0" anchor="ctr"/>
                    <a:lstStyle/>
                    <a:p>
                      <a:pPr algn="l"/>
                      <a:r>
                        <a:rPr lang="en-US" sz="1100" noProof="1">
                          <a:solidFill>
                            <a:srgbClr val="3A3A37"/>
                          </a:solidFill>
                          <a:latin typeface="Frutiger LT Std 45 Light"/>
                          <a:ea typeface="Frutiger LT Std 45 Light"/>
                        </a:rPr>
                        <a:t>6–9</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11</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8%</a:t>
                      </a:r>
                    </a:p>
                  </a:txBody>
                  <a:tcPr marL="91440" marR="91440" marT="45720" marB="45720" anchor="ctr">
                    <a:lnL>
                      <a:noFill/>
                    </a:lnL>
                    <a:lnR>
                      <a:noFill/>
                    </a:lnR>
                    <a:lnT>
                      <a:noFill/>
                    </a:lnT>
                    <a:lnB w="12700">
                      <a:solidFill>
                        <a:srgbClr val="DCDCD6"/>
                      </a:solidFill>
                    </a:lnB>
                    <a:solidFill>
                      <a:srgbClr val="F4F4F2"/>
                    </a:solidFill>
                  </a:tcPr>
                </a:tc>
              </a:tr>
              <a:tr h="537667">
                <a:tc>
                  <a:txBody>
                    <a:bodyPr wrap="square" rtlCol="0" anchor="ctr"/>
                    <a:lstStyle/>
                    <a:p>
                      <a:pPr algn="l"/>
                      <a:r>
                        <a:rPr lang="en-US" sz="1100" noProof="1">
                          <a:solidFill>
                            <a:srgbClr val="3A3A37"/>
                          </a:solidFill>
                          <a:latin typeface="Frutiger LT Std 45 Light"/>
                          <a:ea typeface="Frutiger LT Std 45 Light"/>
                        </a:rPr>
                        <a:t>10 or more (max 31)</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11</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8%</a:t>
                      </a:r>
                    </a:p>
                  </a:txBody>
                  <a:tcPr marL="91440" marR="91440" marT="45720" marB="45720" anchor="ctr">
                    <a:lnL>
                      <a:noFill/>
                    </a:lnL>
                    <a:lnR>
                      <a:noFill/>
                    </a:lnR>
                    <a:lnT>
                      <a:noFill/>
                    </a:lnT>
                    <a:lnB w="12700">
                      <a:solidFill>
                        <a:srgbClr val="DCDCD6"/>
                      </a:solidFill>
                    </a:lnB>
                    <a:solidFill>
                      <a:srgbClr val="FFFFFF"/>
                    </a:solidFill>
                  </a:tcPr>
                </a:tc>
              </a:tr>
            </a:tbl>
          </a:graphicData>
        </a:graphic>
      </p:graphicFrame>
      <p:sp>
        <p:nvSpPr>
          <p:cNvPr id="5" name="fact1"/>
          <p:cNvSpPr txBox="1"/>
          <p:nvPr/>
        </p:nvSpPr>
        <p:spPr>
          <a:xfrm>
            <a:off x="6553200" y="1473200"/>
            <a:ext cx="4927600" cy="965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23% ship exactly one command.</a:t>
            </a:r>
            <a:endParaRPr lang="en-US" sz="1400" noProof="1"/>
          </a:p>
          <a:p>
            <a:pPr>
              <a:lnSpc>
                <a:spcPct val="150000"/>
              </a:lnSpc>
            </a:pPr>
            <a:r>
              <a:rPr lang="en-US" sz="1150" noProof="1">
                <a:solidFill>
                  <a:srgbClr val="7C7C74"/>
                </a:solidFill>
                <a:latin typeface="Frutiger LT Std 45 Light"/>
                <a:ea typeface="Frutiger LT Std 45 Light"/>
              </a:rPr>
              <a:t>33 micro-extensions, each its own repo and install step — the same fragmentation pattern we see internally.</a:t>
            </a:r>
            <a:endParaRPr lang="en-US" sz="1400" noProof="1"/>
          </a:p>
        </p:txBody>
      </p:sp>
      <p:sp>
        <p:nvSpPr>
          <p:cNvPr id="6" name="fact2"/>
          <p:cNvSpPr txBox="1"/>
          <p:nvPr/>
        </p:nvSpPr>
        <p:spPr>
          <a:xfrm>
            <a:off x="6553200" y="2692400"/>
            <a:ext cx="4927600" cy="965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The largest ships 31.</a:t>
            </a:r>
            <a:endParaRPr lang="en-US" sz="1400" noProof="1"/>
          </a:p>
          <a:p>
            <a:pPr>
              <a:lnSpc>
                <a:spcPct val="150000"/>
              </a:lnSpc>
            </a:pPr>
            <a:r>
              <a:rPr lang="en-US" sz="1150" noProof="1">
                <a:solidFill>
                  <a:srgbClr val="7C7C74"/>
                </a:solidFill>
                <a:latin typeface="Frutiger LT Std 45 Light"/>
                <a:ea typeface="Frutiger LT Std 45 Light"/>
              </a:rPr>
              <a:t>product-forge packs a full lifecycle into one package. Both extremes coexist; nothing guides authors either way.</a:t>
            </a:r>
            <a:endParaRPr lang="en-US" sz="1400" noProof="1"/>
          </a:p>
        </p:txBody>
      </p:sp>
      <p:sp>
        <p:nvSpPr>
          <p:cNvPr id="7" name="fact3"/>
          <p:cNvSpPr txBox="1"/>
          <p:nvPr/>
        </p:nvSpPr>
        <p:spPr>
          <a:xfrm>
            <a:off x="6553200" y="3911600"/>
            <a:ext cx="4927600" cy="965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Median 3, mean 3.9 commands per extension.</a:t>
            </a:r>
            <a:endParaRPr lang="en-US" sz="1400" noProof="1"/>
          </a:p>
          <a:p>
            <a:pPr>
              <a:lnSpc>
                <a:spcPct val="150000"/>
              </a:lnSpc>
            </a:pPr>
            <a:r>
              <a:rPr lang="en-US" sz="1150" noProof="1">
                <a:solidFill>
                  <a:srgbClr val="7C7C74"/>
                </a:solidFill>
                <a:latin typeface="Frutiger LT Std 45 Light"/>
                <a:ea typeface="Frutiger LT Std 45 Light"/>
              </a:rPr>
              <a:t>By category: process 68, docs 28, integration 18, code 17, visibility 12 (of 144, catalog of 29 July 2026).</a:t>
            </a:r>
            <a:endParaRPr lang="en-US" sz="1400" noProof="1"/>
          </a:p>
        </p:txBody>
      </p:sp>
      <p:sp>
        <p:nvSpPr>
          <p:cNvPr id="8" name="note"/>
          <p:cNvSpPr txBox="1"/>
          <p:nvPr/>
        </p:nvSpPr>
        <p:spPr>
          <a:xfrm>
            <a:off x="711200" y="53340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A bundle mechanism exists upstream — four persona bundles under examples/bundles/ — but the catalog does not use it.</a:t>
            </a:r>
            <a:endParaRPr lang="en-US" sz="1400" noProof="1"/>
          </a:p>
          <a:p>
            <a:pPr>
              <a:lnSpc>
                <a:spcPct val="150000"/>
              </a:lnSpc>
            </a:pPr>
            <a:r>
              <a:rPr lang="en-US" sz="1150" noProof="1">
                <a:solidFill>
                  <a:srgbClr val="7C7C74"/>
                </a:solidFill>
                <a:latin typeface="Frutiger LT Std 45 Light"/>
                <a:ea typeface="Frutiger LT Std 45 Light"/>
              </a:rPr>
              <a:t>Grouping and curation are left to each adopter. That gap, plus the explicit no-review disclaimer, is the opening Sketch fills.</a:t>
            </a:r>
            <a:endParaRPr lang="en-US" sz="1400" noProof="1"/>
          </a:p>
        </p:txBody>
      </p:sp>
      <p:sp>
        <p:nvSpPr>
          <p:cNvPr id="9" name="footer-rule"/>
          <p:cNvSpPr/>
          <p:nvPr/>
        </p:nvSpPr>
        <p:spPr>
          <a:xfrm>
            <a:off x="711200" y="6451600"/>
            <a:ext cx="10769600" cy="12700"/>
          </a:xfrm>
          <a:prstGeom prst="rect">
            <a:avLst/>
          </a:prstGeom>
          <a:solidFill>
            <a:srgbClr val="232323"/>
          </a:solidFill>
          <a:ln>
            <a:noFill/>
          </a:ln>
        </p:spPr>
      </p:sp>
      <p:sp>
        <p:nvSpPr>
          <p:cNvPr id="10"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03</a:t>
            </a:r>
            <a:endParaRPr lang="en-US" sz="950" noProof="1"/>
          </a:p>
        </p:txBody>
      </p:sp>
    </p:spTree>
  </p:cSld>
  <p:clrMapOvr>
    <a:masterClrMapping/>
  </p:clrMapOvr>
  <p:transition spd="fast" advClick="1">
    <p:fade/>
  </p:transition>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Three mechanisms, three different jobs</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panel1"/>
          <p:cNvSpPr/>
          <p:nvPr/>
        </p:nvSpPr>
        <p:spPr>
          <a:xfrm>
            <a:off x="711200" y="1473200"/>
            <a:ext cx="3352800" cy="3403600"/>
          </a:xfrm>
          <a:prstGeom prst="rect">
            <a:avLst/>
          </a:prstGeom>
          <a:solidFill>
            <a:srgbClr val="F2EAD9"/>
          </a:solidFill>
          <a:ln>
            <a:noFill/>
          </a:ln>
        </p:spPr>
      </p:sp>
      <p:sp>
        <p:nvSpPr>
          <p:cNvPr id="5" name="panel1-head"/>
          <p:cNvSpPr txBox="1"/>
          <p:nvPr/>
        </p:nvSpPr>
        <p:spPr>
          <a:xfrm>
            <a:off x="889000" y="1651000"/>
            <a:ext cx="2997200" cy="254000"/>
          </a:xfrm>
          <a:prstGeom prst="rect">
            <a:avLst/>
          </a:prstGeom>
          <a:noFill/>
          <a:ln>
            <a:noFill/>
          </a:ln>
        </p:spPr>
        <p:txBody>
          <a:bodyPr lIns="0" rIns="0" tIns="0" bIns="0" wrap="none" rtlCol="0"/>
          <a:lstStyle/>
          <a:p>
            <a:pPr>
              <a:lnSpc>
                <a:spcPct val="120000"/>
              </a:lnSpc>
            </a:pPr>
            <a:r>
              <a:rPr lang="en-US" sz="1400" noProof="1" b="1">
                <a:solidFill>
                  <a:srgbClr val="232323"/>
                </a:solidFill>
                <a:latin typeface="Frutiger LT Std 45 Light"/>
                <a:ea typeface="Frutiger LT Std 45 Light"/>
              </a:rPr>
              <a:t>Extension</a:t>
            </a:r>
            <a:endParaRPr lang="en-US" sz="1400" noProof="1"/>
          </a:p>
        </p:txBody>
      </p:sp>
      <p:sp>
        <p:nvSpPr>
          <p:cNvPr id="6" name="panel1-body"/>
          <p:cNvSpPr txBox="1"/>
          <p:nvPr/>
        </p:nvSpPr>
        <p:spPr>
          <a:xfrm>
            <a:off x="889000" y="2006600"/>
            <a:ext cx="2997200" cy="2692400"/>
          </a:xfrm>
          <a:prstGeom prst="rect">
            <a:avLst/>
          </a:prstGeom>
          <a:noFill/>
          <a:ln>
            <a:noFill/>
          </a:ln>
        </p:spPr>
        <p:txBody>
          <a:bodyPr lIns="0" rIns="0" tIns="0" bIns="0" wrap="square" rtlCol="0"/>
          <a:lstStyle/>
          <a:p>
            <a:pPr>
              <a:lnSpc>
                <a:spcPct val="145000"/>
              </a:lnSpc>
            </a:pPr>
            <a:r>
              <a:rPr lang="en-US" sz="1150" noProof="1">
                <a:solidFill>
                  <a:srgbClr val="3A3A37"/>
                </a:solidFill>
                <a:latin typeface="Frutiger LT Std 45 Light"/>
                <a:ea typeface="Frutiger LT Std 45 Light"/>
              </a:rPr>
              <a:t>Adds new commands and templates. Expands what Spec Kit can do.</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Command files are written into the agent directory at install time.</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The unit of authorship and versioning: one repo, one owner, one SemVer line.</a:t>
            </a:r>
            <a:endParaRPr lang="en-US" sz="1150" noProof="1"/>
          </a:p>
        </p:txBody>
      </p:sp>
      <p:sp>
        <p:nvSpPr>
          <p:cNvPr id="7" name="panel2"/>
          <p:cNvSpPr/>
          <p:nvPr/>
        </p:nvSpPr>
        <p:spPr>
          <a:xfrm>
            <a:off x="4419600" y="1473200"/>
            <a:ext cx="3352800" cy="3403600"/>
          </a:xfrm>
          <a:prstGeom prst="rect">
            <a:avLst/>
          </a:prstGeom>
          <a:solidFill>
            <a:srgbClr val="F4F4F2"/>
          </a:solidFill>
          <a:ln>
            <a:noFill/>
          </a:ln>
        </p:spPr>
      </p:sp>
      <p:sp>
        <p:nvSpPr>
          <p:cNvPr id="8" name="panel2-head"/>
          <p:cNvSpPr txBox="1"/>
          <p:nvPr/>
        </p:nvSpPr>
        <p:spPr>
          <a:xfrm>
            <a:off x="4597400" y="1651000"/>
            <a:ext cx="2997200" cy="254000"/>
          </a:xfrm>
          <a:prstGeom prst="rect">
            <a:avLst/>
          </a:prstGeom>
          <a:noFill/>
          <a:ln>
            <a:noFill/>
          </a:ln>
        </p:spPr>
        <p:txBody>
          <a:bodyPr lIns="0" rIns="0" tIns="0" bIns="0" wrap="none" rtlCol="0"/>
          <a:lstStyle/>
          <a:p>
            <a:pPr>
              <a:lnSpc>
                <a:spcPct val="120000"/>
              </a:lnSpc>
            </a:pPr>
            <a:r>
              <a:rPr lang="en-US" sz="1400" noProof="1" b="1">
                <a:solidFill>
                  <a:srgbClr val="232323"/>
                </a:solidFill>
                <a:latin typeface="Frutiger LT Std 45 Light"/>
                <a:ea typeface="Frutiger LT Std 45 Light"/>
              </a:rPr>
              <a:t>Preset</a:t>
            </a:r>
            <a:endParaRPr lang="en-US" sz="1400" noProof="1"/>
          </a:p>
        </p:txBody>
      </p:sp>
      <p:sp>
        <p:nvSpPr>
          <p:cNvPr id="9" name="panel2-body"/>
          <p:cNvSpPr txBox="1"/>
          <p:nvPr/>
        </p:nvSpPr>
        <p:spPr>
          <a:xfrm>
            <a:off x="4597400" y="2006600"/>
            <a:ext cx="2997200" cy="2692400"/>
          </a:xfrm>
          <a:prstGeom prst="rect">
            <a:avLst/>
          </a:prstGeom>
          <a:noFill/>
          <a:ln>
            <a:noFill/>
          </a:ln>
        </p:spPr>
        <p:txBody>
          <a:bodyPr lIns="0" rIns="0" tIns="0" bIns="0" wrap="square" rtlCol="0"/>
          <a:lstStyle/>
          <a:p>
            <a:pPr>
              <a:lnSpc>
                <a:spcPct val="145000"/>
              </a:lnSpc>
            </a:pPr>
            <a:r>
              <a:rPr lang="en-US" sz="1150" noProof="1">
                <a:solidFill>
                  <a:srgbClr val="3A3A37"/>
                </a:solidFill>
                <a:latin typeface="Frutiger LT Std 45 Light"/>
                <a:ea typeface="Frutiger LT Std 45 Light"/>
              </a:rPr>
              <a:t>Overrides templates and behaviour of existing commands, from core or from extensions.</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Templates resolve at runtime, walking the priority stack top-down.</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Adds no commands; changes how commands behave.</a:t>
            </a:r>
            <a:endParaRPr lang="en-US" sz="1150" noProof="1"/>
          </a:p>
        </p:txBody>
      </p:sp>
      <p:sp>
        <p:nvSpPr>
          <p:cNvPr id="10" name="panel3"/>
          <p:cNvSpPr/>
          <p:nvPr/>
        </p:nvSpPr>
        <p:spPr>
          <a:xfrm>
            <a:off x="8128000" y="1473200"/>
            <a:ext cx="3352800" cy="3403600"/>
          </a:xfrm>
          <a:prstGeom prst="rect">
            <a:avLst/>
          </a:prstGeom>
          <a:solidFill>
            <a:srgbClr val="F4F4F2"/>
          </a:solidFill>
          <a:ln w="19050">
            <a:solidFill>
              <a:srgbClr val="B02A30"/>
            </a:solidFill>
          </a:ln>
        </p:spPr>
      </p:sp>
      <p:sp>
        <p:nvSpPr>
          <p:cNvPr id="11" name="panel3-head"/>
          <p:cNvSpPr txBox="1"/>
          <p:nvPr/>
        </p:nvSpPr>
        <p:spPr>
          <a:xfrm>
            <a:off x="8305800" y="1651000"/>
            <a:ext cx="2997200" cy="254000"/>
          </a:xfrm>
          <a:prstGeom prst="rect">
            <a:avLst/>
          </a:prstGeom>
          <a:noFill/>
          <a:ln>
            <a:noFill/>
          </a:ln>
        </p:spPr>
        <p:txBody>
          <a:bodyPr lIns="0" rIns="0" tIns="0" bIns="0" wrap="none" rtlCol="0"/>
          <a:lstStyle/>
          <a:p>
            <a:pPr>
              <a:lnSpc>
                <a:spcPct val="120000"/>
              </a:lnSpc>
            </a:pPr>
            <a:r>
              <a:rPr lang="en-US" sz="1400" noProof="1" b="1">
                <a:solidFill>
                  <a:srgbClr val="232323"/>
                </a:solidFill>
                <a:latin typeface="Frutiger LT Std 45 Light"/>
                <a:ea typeface="Frutiger LT Std 45 Light"/>
              </a:rPr>
              <a:t>Bundle</a:t>
            </a:r>
            <a:endParaRPr lang="en-US" sz="1400" noProof="1"/>
          </a:p>
        </p:txBody>
      </p:sp>
      <p:sp>
        <p:nvSpPr>
          <p:cNvPr id="12" name="panel3-body"/>
          <p:cNvSpPr txBox="1"/>
          <p:nvPr/>
        </p:nvSpPr>
        <p:spPr>
          <a:xfrm>
            <a:off x="8305800" y="2006600"/>
            <a:ext cx="2997200" cy="2692400"/>
          </a:xfrm>
          <a:prstGeom prst="rect">
            <a:avLst/>
          </a:prstGeom>
          <a:noFill/>
          <a:ln>
            <a:noFill/>
          </a:ln>
        </p:spPr>
        <p:txBody>
          <a:bodyPr lIns="0" rIns="0" tIns="0" bIns="0" wrap="square" rtlCol="0"/>
          <a:lstStyle/>
          <a:p>
            <a:pPr>
              <a:lnSpc>
                <a:spcPct val="145000"/>
              </a:lnSpc>
            </a:pPr>
            <a:r>
              <a:rPr lang="en-US" sz="1150" noProof="1">
                <a:solidFill>
                  <a:srgbClr val="3A3A37"/>
                </a:solidFill>
                <a:latin typeface="Frutiger LT Std 45 Light"/>
                <a:ea typeface="Frutiger LT Std 45 Light"/>
              </a:rPr>
              <a:t>A hand-written manifest that pins extensions and presets to exact versions.</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Installed with one command:</a:t>
            </a:r>
            <a:endParaRPr lang="en-US" sz="1150" noProof="1"/>
          </a:p>
          <a:p>
            <a:pPr>
              <a:lnSpc>
                <a:spcPct val="145000"/>
              </a:lnSpc>
              <a:spcBef>
                <a:spcPts val="400"/>
              </a:spcBef>
            </a:pPr>
            <a:r>
              <a:rPr lang="en-US" sz="1100" noProof="1">
                <a:solidFill>
                  <a:srgbClr val="3A3A37"/>
                </a:solidFill>
                <a:latin typeface="Consolas"/>
                <a:ea typeface="Consolas"/>
              </a:rPr>
              <a:t>specify bundle install &lt;name&gt;</a:t>
            </a:r>
            <a:endParaRPr lang="en-US" sz="1150" noProof="1"/>
          </a:p>
          <a:p>
            <a:pPr>
              <a:lnSpc>
                <a:spcPct val="145000"/>
              </a:lnSpc>
              <a:spcBef>
                <a:spcPts val="800"/>
              </a:spcBef>
            </a:pPr>
            <a:r>
              <a:rPr lang="en-US" sz="1150" noProof="1">
                <a:solidFill>
                  <a:srgbClr val="3A3A37"/>
                </a:solidFill>
                <a:latin typeface="Frutiger LT Std 45 Light"/>
                <a:ea typeface="Frutiger LT Std 45 Light"/>
              </a:rPr>
              <a:t>The unit of provisioning: what a developer, a team, a role actually installs.</a:t>
            </a:r>
            <a:endParaRPr lang="en-US" sz="1150" noProof="1"/>
          </a:p>
        </p:txBody>
      </p:sp>
      <p:sp>
        <p:nvSpPr>
          <p:cNvPr id="13" name="takeaway"/>
          <p:cNvSpPr txBox="1"/>
          <p:nvPr/>
        </p:nvSpPr>
        <p:spPr>
          <a:xfrm>
            <a:off x="711200" y="51308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The community failure mode is treating the extension as the unit of everything.</a:t>
            </a:r>
            <a:endParaRPr lang="en-US" sz="1400" noProof="1"/>
          </a:p>
          <a:p>
            <a:pPr>
              <a:lnSpc>
                <a:spcPct val="150000"/>
              </a:lnSpc>
            </a:pPr>
            <a:r>
              <a:rPr lang="en-US" sz="1150" noProof="1">
                <a:solidFill>
                  <a:srgbClr val="7C7C74"/>
                </a:solidFill>
                <a:latin typeface="Frutiger LT Std 45 Light"/>
                <a:ea typeface="Frutiger LT Std 45 Light"/>
              </a:rPr>
              <a:t>Sketch keeps extensions granular — and makes the bundle the only thing a developer ever installs.</a:t>
            </a:r>
            <a:endParaRPr lang="en-US" sz="1400" noProof="1"/>
          </a:p>
        </p:txBody>
      </p:sp>
      <p:sp>
        <p:nvSpPr>
          <p:cNvPr id="14" name="footer-rule"/>
          <p:cNvSpPr/>
          <p:nvPr/>
        </p:nvSpPr>
        <p:spPr>
          <a:xfrm>
            <a:off x="711200" y="6451600"/>
            <a:ext cx="10769600" cy="12700"/>
          </a:xfrm>
          <a:prstGeom prst="rect">
            <a:avLst/>
          </a:prstGeom>
          <a:solidFill>
            <a:srgbClr val="232323"/>
          </a:solidFill>
          <a:ln>
            <a:noFill/>
          </a:ln>
        </p:spPr>
      </p:sp>
      <p:sp>
        <p:nvSpPr>
          <p:cNvPr id="15"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04</a:t>
            </a:r>
            <a:endParaRPr lang="en-US" sz="950" noProof="1"/>
          </a:p>
        </p:txBody>
      </p:sp>
    </p:spTree>
  </p:cSld>
  <p:clrMapOvr>
    <a:masterClrMapping/>
  </p:clrMapOvr>
  <p:transition spd="fast" advClick="1">
    <p:fade/>
  </p:transition>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The Sketch rule: bundles install, extensions author</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n1"/>
          <p:cNvSpPr txBox="1"/>
          <p:nvPr/>
        </p:nvSpPr>
        <p:spPr>
          <a:xfrm>
            <a:off x="711200" y="14732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a:t>
            </a:r>
            <a:endParaRPr lang="en-US" sz="2400" noProof="1"/>
          </a:p>
        </p:txBody>
      </p:sp>
      <p:sp>
        <p:nvSpPr>
          <p:cNvPr id="5" name="r1"/>
          <p:cNvSpPr txBox="1"/>
          <p:nvPr/>
        </p:nvSpPr>
        <p:spPr>
          <a:xfrm>
            <a:off x="1219200" y="14986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Extensions stay small and focused.</a:t>
            </a:r>
            <a:r>
              <a:rPr lang="en-US" sz="1400" noProof="1">
                <a:solidFill>
                  <a:srgbClr val="3A3A37"/>
                </a:solidFill>
                <a:latin typeface="Frutiger LT Std 45 Light"/>
                <a:ea typeface="Frutiger LT Std 45 Light"/>
              </a:rPr>
              <a:t> One capability per extension; one to five commands is healthy, a single command is fine.</a:t>
            </a:r>
            <a:endParaRPr lang="en-US" sz="1400" noProof="1"/>
          </a:p>
        </p:txBody>
      </p:sp>
      <p:sp>
        <p:nvSpPr>
          <p:cNvPr id="6" name="n2"/>
          <p:cNvSpPr txBox="1"/>
          <p:nvPr/>
        </p:nvSpPr>
        <p:spPr>
          <a:xfrm>
            <a:off x="711200" y="21336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2</a:t>
            </a:r>
            <a:endParaRPr lang="en-US" sz="2400" noProof="1"/>
          </a:p>
        </p:txBody>
      </p:sp>
      <p:sp>
        <p:nvSpPr>
          <p:cNvPr id="7" name="r2"/>
          <p:cNvSpPr txBox="1"/>
          <p:nvPr/>
        </p:nvSpPr>
        <p:spPr>
          <a:xfrm>
            <a:off x="1219200" y="21590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Developers never install extensions directly.</a:t>
            </a:r>
            <a:r>
              <a:rPr lang="en-US" sz="1400" noProof="1">
                <a:solidFill>
                  <a:srgbClr val="3A3A37"/>
                </a:solidFill>
                <a:latin typeface="Frutiger LT Std 45 Light"/>
                <a:ea typeface="Frutiger LT Std 45 Light"/>
              </a:rPr>
              <a:t> The supported path is </a:t>
            </a:r>
            <a:r>
              <a:rPr lang="en-US" sz="1250" noProof="1">
                <a:solidFill>
                  <a:srgbClr val="3A3A37"/>
                </a:solidFill>
                <a:latin typeface="Consolas"/>
                <a:ea typeface="Consolas"/>
              </a:rPr>
              <a:t>specify bundle install &lt;bundle&gt;</a:t>
            </a:r>
            <a:r>
              <a:rPr lang="en-US" sz="1400" noProof="1">
                <a:solidFill>
                  <a:srgbClr val="3A3A37"/>
                </a:solidFill>
                <a:latin typeface="Frutiger LT Std 45 Light"/>
                <a:ea typeface="Frutiger LT Std 45 Light"/>
              </a:rPr>
              <a:t>.</a:t>
            </a:r>
            <a:endParaRPr lang="en-US" sz="1400" noProof="1"/>
          </a:p>
        </p:txBody>
      </p:sp>
      <p:sp>
        <p:nvSpPr>
          <p:cNvPr id="8" name="n3"/>
          <p:cNvSpPr txBox="1"/>
          <p:nvPr/>
        </p:nvSpPr>
        <p:spPr>
          <a:xfrm>
            <a:off x="711200" y="27940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3</a:t>
            </a:r>
            <a:endParaRPr lang="en-US" sz="2400" noProof="1"/>
          </a:p>
        </p:txBody>
      </p:sp>
      <p:sp>
        <p:nvSpPr>
          <p:cNvPr id="9" name="r3"/>
          <p:cNvSpPr txBox="1"/>
          <p:nvPr/>
        </p:nvSpPr>
        <p:spPr>
          <a:xfrm>
            <a:off x="1219200" y="28194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Bundles pin exact versions.</a:t>
            </a:r>
            <a:r>
              <a:rPr lang="en-US" sz="1400" noProof="1">
                <a:solidFill>
                  <a:srgbClr val="3A3A37"/>
                </a:solidFill>
                <a:latin typeface="Frutiger LT Std 45 Light"/>
                <a:ea typeface="Frutiger LT Std 45 Light"/>
              </a:rPr>
              <a:t> A bundle installed today and one installed next quarter provision the same commands.</a:t>
            </a:r>
            <a:endParaRPr lang="en-US" sz="1400" noProof="1"/>
          </a:p>
        </p:txBody>
      </p:sp>
      <p:sp>
        <p:nvSpPr>
          <p:cNvPr id="10" name="n4"/>
          <p:cNvSpPr txBox="1"/>
          <p:nvPr/>
        </p:nvSpPr>
        <p:spPr>
          <a:xfrm>
            <a:off x="711200" y="34544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4</a:t>
            </a:r>
            <a:endParaRPr lang="en-US" sz="2400" noProof="1"/>
          </a:p>
        </p:txBody>
      </p:sp>
      <p:sp>
        <p:nvSpPr>
          <p:cNvPr id="11" name="r4"/>
          <p:cNvSpPr txBox="1"/>
          <p:nvPr/>
        </p:nvSpPr>
        <p:spPr>
          <a:xfrm>
            <a:off x="1219200" y="34798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Every catalog extension belongs to at least one bundle.</a:t>
            </a:r>
            <a:r>
              <a:rPr lang="en-US" sz="1400" noProof="1">
                <a:solidFill>
                  <a:srgbClr val="3A3A37"/>
                </a:solidFill>
                <a:latin typeface="Frutiger LT Std 45 Light"/>
                <a:ea typeface="Frutiger LT Std 45 Light"/>
              </a:rPr>
              <a:t> Unbundled work lives in an incubation subgroup, invisible to the org catalog.</a:t>
            </a:r>
            <a:endParaRPr lang="en-US" sz="1400" noProof="1"/>
          </a:p>
        </p:txBody>
      </p:sp>
      <p:sp>
        <p:nvSpPr>
          <p:cNvPr id="12" name="n5"/>
          <p:cNvSpPr txBox="1"/>
          <p:nvPr/>
        </p:nvSpPr>
        <p:spPr>
          <a:xfrm>
            <a:off x="711200" y="41148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5</a:t>
            </a:r>
            <a:endParaRPr lang="en-US" sz="2400" noProof="1"/>
          </a:p>
        </p:txBody>
      </p:sp>
      <p:sp>
        <p:nvSpPr>
          <p:cNvPr id="13" name="r5"/>
          <p:cNvSpPr txBox="1"/>
          <p:nvPr/>
        </p:nvSpPr>
        <p:spPr>
          <a:xfrm>
            <a:off x="1219200" y="41402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Layer decides membership, not the author.</a:t>
            </a:r>
            <a:r>
              <a:rPr lang="en-US" sz="1400" noProof="1">
                <a:solidFill>
                  <a:srgbClr val="3A3A37"/>
                </a:solidFill>
                <a:latin typeface="Frutiger LT Std 45 Light"/>
                <a:ea typeface="Frutiger LT Std 45 Light"/>
              </a:rPr>
              <a:t> Which bundles an extension joins is a catalog decision, reviewed like code.</a:t>
            </a:r>
            <a:endParaRPr lang="en-US" sz="1400" noProof="1"/>
          </a:p>
        </p:txBody>
      </p:sp>
      <p:sp>
        <p:nvSpPr>
          <p:cNvPr id="14" name="note"/>
          <p:cNvSpPr txBox="1"/>
          <p:nvPr/>
        </p:nvSpPr>
        <p:spPr>
          <a:xfrm>
            <a:off x="711200" y="5334000"/>
            <a:ext cx="10769600" cy="508000"/>
          </a:xfrm>
          <a:prstGeom prst="rect">
            <a:avLst/>
          </a:prstGeom>
          <a:noFill/>
          <a:ln>
            <a:noFill/>
          </a:ln>
        </p:spPr>
        <p:txBody>
          <a:bodyPr lIns="0" rIns="0" tIns="0" bIns="0" wrap="square" rtlCol="0"/>
          <a:lstStyle/>
          <a:p>
            <a:pPr>
              <a:lnSpc>
                <a:spcPct val="145000"/>
              </a:lnSpc>
            </a:pPr>
            <a:r>
              <a:rPr lang="en-US" sz="1150" noProof="1">
                <a:solidFill>
                  <a:srgbClr val="7C7C74"/>
                </a:solidFill>
                <a:latin typeface="Frutiger LT Std 45 Light"/>
                <a:ea typeface="Frutiger LT Std 45 Light"/>
              </a:rPr>
              <a:t>Enforcement is structural: the org catalog advertises bundles to developers; direct </a:t>
            </a:r>
            <a:r>
              <a:rPr lang="en-US" sz="1150" noProof="1">
                <a:solidFill>
                  <a:srgbClr val="7C7C74"/>
                </a:solidFill>
                <a:latin typeface="Consolas"/>
                <a:ea typeface="Consolas"/>
              </a:rPr>
              <a:t>specify extension add</a:t>
            </a:r>
            <a:r>
              <a:rPr lang="en-US" sz="1150" noProof="1">
                <a:solidFill>
                  <a:srgbClr val="7C7C74"/>
                </a:solidFill>
                <a:latin typeface="Frutiger LT Std 45 Light"/>
                <a:ea typeface="Frutiger LT Std 45 Light"/>
              </a:rPr>
              <a:t> is reserved for extension authors working inside the incubation subgroup.</a:t>
            </a:r>
            <a:endParaRPr lang="en-US" sz="1150" noProof="1"/>
          </a:p>
        </p:txBody>
      </p:sp>
      <p:sp>
        <p:nvSpPr>
          <p:cNvPr id="15" name="footer-rule"/>
          <p:cNvSpPr/>
          <p:nvPr/>
        </p:nvSpPr>
        <p:spPr>
          <a:xfrm>
            <a:off x="711200" y="6451600"/>
            <a:ext cx="10769600" cy="12700"/>
          </a:xfrm>
          <a:prstGeom prst="rect">
            <a:avLst/>
          </a:prstGeom>
          <a:solidFill>
            <a:srgbClr val="232323"/>
          </a:solidFill>
          <a:ln>
            <a:noFill/>
          </a:ln>
        </p:spPr>
      </p:sp>
      <p:sp>
        <p:nvSpPr>
          <p:cNvPr id="16"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05</a:t>
            </a:r>
            <a:endParaRPr lang="en-US" sz="950" noProof="1"/>
          </a:p>
        </p:txBody>
      </p:sp>
    </p:spTree>
  </p:cSld>
  <p:clrMapOvr>
    <a:masterClrMapping/>
  </p:clrMapOvr>
  <p:transition spd="fast" advClick="1">
    <p:fade/>
  </p:transition>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The layering architecture, end to end</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l41-panel"/>
          <p:cNvSpPr/>
          <p:nvPr/>
        </p:nvSpPr>
        <p:spPr>
          <a:xfrm>
            <a:off x="711200" y="1397000"/>
            <a:ext cx="3937000" cy="812800"/>
          </a:xfrm>
          <a:prstGeom prst="rect">
            <a:avLst/>
          </a:prstGeom>
          <a:solidFill>
            <a:srgbClr val="F4F4F2"/>
          </a:solidFill>
          <a:ln w="12700">
            <a:solidFill>
              <a:srgbClr val="DCDCD6"/>
            </a:solidFill>
          </a:ln>
        </p:spPr>
      </p:sp>
      <p:sp>
        <p:nvSpPr>
          <p:cNvPr id="5" name="l41-head"/>
          <p:cNvSpPr txBox="1"/>
          <p:nvPr/>
        </p:nvSpPr>
        <p:spPr>
          <a:xfrm>
            <a:off x="838200" y="1473200"/>
            <a:ext cx="3683000" cy="1778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4.1 — workload review (optional)</a:t>
            </a:r>
            <a:endParaRPr lang="en-US" sz="1050" noProof="1"/>
          </a:p>
        </p:txBody>
      </p:sp>
      <p:sp>
        <p:nvSpPr>
          <p:cNvPr id="6" name="l41-code"/>
          <p:cNvSpPr txBox="1"/>
          <p:nvPr/>
        </p:nvSpPr>
        <p:spPr>
          <a:xfrm>
            <a:off x="838200" y="1676400"/>
            <a:ext cx="3708400" cy="482600"/>
          </a:xfrm>
          <a:prstGeom prst="rect">
            <a:avLst/>
          </a:prstGeom>
          <a:noFill/>
          <a:ln>
            <a:noFill/>
          </a:ln>
        </p:spPr>
        <p:txBody>
          <a:bodyPr lIns="0" rIns="0" tIns="0" bIns="0" wrap="none" rtlCol="0"/>
          <a:lstStyle/>
          <a:p>
            <a:pPr>
              <a:lnSpc>
                <a:spcPct val="150000"/>
              </a:lnSpc>
            </a:pPr>
            <a:r>
              <a:rPr lang="en-US" sz="850" noProof="1">
                <a:solidFill>
                  <a:srgbClr val="3A3A37"/>
                </a:solidFill>
                <a:latin typeface="Consolas"/>
                <a:ea typeface="Consolas"/>
              </a:rPr>
              <a:t>/speckit.skt-fs.module-boundary-review
/speckit.skt-bf.authentication-review</a:t>
            </a:r>
            <a:endParaRPr lang="en-US" sz="850" noProof="1"/>
          </a:p>
        </p:txBody>
      </p:sp>
      <p:sp>
        <p:nvSpPr>
          <p:cNvPr id="7" name="l42-panel"/>
          <p:cNvSpPr/>
          <p:nvPr/>
        </p:nvSpPr>
        <p:spPr>
          <a:xfrm>
            <a:off x="4800600" y="1397000"/>
            <a:ext cx="3937000" cy="812800"/>
          </a:xfrm>
          <a:prstGeom prst="rect">
            <a:avLst/>
          </a:prstGeom>
          <a:solidFill>
            <a:srgbClr val="F4F4F2"/>
          </a:solidFill>
          <a:ln w="12700">
            <a:solidFill>
              <a:srgbClr val="DCDCD6"/>
            </a:solidFill>
          </a:ln>
        </p:spPr>
      </p:sp>
      <p:sp>
        <p:nvSpPr>
          <p:cNvPr id="8" name="l42-head"/>
          <p:cNvSpPr txBox="1"/>
          <p:nvPr/>
        </p:nvSpPr>
        <p:spPr>
          <a:xfrm>
            <a:off x="4927600" y="1473200"/>
            <a:ext cx="3683000" cy="1778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4.2 — domain review (optional)</a:t>
            </a:r>
            <a:endParaRPr lang="en-US" sz="1050" noProof="1"/>
          </a:p>
        </p:txBody>
      </p:sp>
      <p:sp>
        <p:nvSpPr>
          <p:cNvPr id="9" name="l42-code"/>
          <p:cNvSpPr txBox="1"/>
          <p:nvPr/>
        </p:nvSpPr>
        <p:spPr>
          <a:xfrm>
            <a:off x="4927600" y="1676400"/>
            <a:ext cx="3708400" cy="482600"/>
          </a:xfrm>
          <a:prstGeom prst="rect">
            <a:avLst/>
          </a:prstGeom>
          <a:noFill/>
          <a:ln>
            <a:noFill/>
          </a:ln>
        </p:spPr>
        <p:txBody>
          <a:bodyPr lIns="0" rIns="0" tIns="0" bIns="0" wrap="none" rtlCol="0"/>
          <a:lstStyle/>
          <a:p>
            <a:pPr>
              <a:lnSpc>
                <a:spcPct val="150000"/>
              </a:lnSpc>
            </a:pPr>
            <a:r>
              <a:rPr lang="en-US" sz="850" noProof="1">
                <a:solidFill>
                  <a:srgbClr val="3A3A37"/>
                </a:solidFill>
                <a:latin typeface="Consolas"/>
                <a:ea typeface="Consolas"/>
              </a:rPr>
              <a:t>/speckit.skt-kyc.cid-leakage-review
/speckit.skt-risk.correlation-review</a:t>
            </a:r>
            <a:endParaRPr lang="en-US" sz="850" noProof="1"/>
          </a:p>
        </p:txBody>
      </p:sp>
      <p:sp>
        <p:nvSpPr>
          <p:cNvPr id="10" name="l31-panel"/>
          <p:cNvSpPr/>
          <p:nvPr/>
        </p:nvSpPr>
        <p:spPr>
          <a:xfrm>
            <a:off x="711200" y="2311400"/>
            <a:ext cx="3937000" cy="1778000"/>
          </a:xfrm>
          <a:prstGeom prst="rect">
            <a:avLst/>
          </a:prstGeom>
          <a:solidFill>
            <a:srgbClr val="F2EAD9"/>
          </a:solidFill>
          <a:ln w="12700">
            <a:solidFill>
              <a:srgbClr val="DCDCD6"/>
            </a:solidFill>
          </a:ln>
        </p:spPr>
      </p:sp>
      <p:sp>
        <p:nvSpPr>
          <p:cNvPr id="11" name="l31-head"/>
          <p:cNvSpPr txBox="1"/>
          <p:nvPr/>
        </p:nvSpPr>
        <p:spPr>
          <a:xfrm>
            <a:off x="838200" y="2413000"/>
            <a:ext cx="3683000" cy="1778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3.1 — workload bundles</a:t>
            </a:r>
            <a:endParaRPr lang="en-US" sz="1050" noProof="1"/>
          </a:p>
        </p:txBody>
      </p:sp>
      <p:sp>
        <p:nvSpPr>
          <p:cNvPr id="12" name="l31-sub"/>
          <p:cNvSpPr txBox="1"/>
          <p:nvPr/>
        </p:nvSpPr>
        <p:spPr>
          <a:xfrm>
            <a:off x="838200" y="2616200"/>
            <a:ext cx="3683000" cy="152400"/>
          </a:xfrm>
          <a:prstGeom prst="rect">
            <a:avLst/>
          </a:prstGeom>
          <a:noFill/>
          <a:ln>
            <a:noFill/>
          </a:ln>
        </p:spPr>
        <p:txBody>
          <a:bodyPr lIns="0" rIns="0" tIns="0" bIns="0" wrap="none" rtlCol="0"/>
          <a:lstStyle/>
          <a:p>
            <a:pPr>
              <a:lnSpc>
                <a:spcPct val="120000"/>
              </a:lnSpc>
            </a:pPr>
            <a:r>
              <a:rPr lang="en-US" sz="900" noProof="1">
                <a:solidFill>
                  <a:srgbClr val="7C7C74"/>
                </a:solidFill>
                <a:latin typeface="Frutiger LT Std 45 Light"/>
                <a:ea typeface="Frutiger LT Std 45 Light"/>
              </a:rPr>
              <a:t>full-stack · brownfield · data science · doc extraction</a:t>
            </a:r>
            <a:endParaRPr lang="en-US" sz="900" noProof="1"/>
          </a:p>
        </p:txBody>
      </p:sp>
      <p:sp>
        <p:nvSpPr>
          <p:cNvPr id="13" name="l31-a"/>
          <p:cNvSpPr/>
          <p:nvPr/>
        </p:nvSpPr>
        <p:spPr>
          <a:xfrm>
            <a:off x="838200" y="2844800"/>
            <a:ext cx="3683000" cy="508000"/>
          </a:xfrm>
          <a:prstGeom prst="rect">
            <a:avLst/>
          </a:prstGeom>
          <a:solidFill>
            <a:srgbClr val="FFFFFF"/>
          </a:solidFill>
          <a:ln w="12700">
            <a:solidFill>
              <a:srgbClr val="DCDCD6"/>
            </a:solidFill>
          </a:ln>
        </p:spPr>
      </p:sp>
      <p:sp>
        <p:nvSpPr>
          <p:cNvPr id="14" name="l31-a-label"/>
          <p:cNvSpPr txBox="1"/>
          <p:nvPr/>
        </p:nvSpPr>
        <p:spPr>
          <a:xfrm>
            <a:off x="939800" y="2895600"/>
            <a:ext cx="3479800" cy="139700"/>
          </a:xfrm>
          <a:prstGeom prst="rect">
            <a:avLst/>
          </a:prstGeom>
          <a:noFill/>
          <a:ln>
            <a:noFill/>
          </a:ln>
        </p:spPr>
        <p:txBody>
          <a:bodyPr lIns="0" rIns="0" tIns="0" bIns="0" wrap="none" rtlCol="0"/>
          <a:lstStyle/>
          <a:p>
            <a:pPr>
              <a:lnSpc>
                <a:spcPct val="120000"/>
              </a:lnSpc>
            </a:pPr>
            <a:r>
              <a:rPr lang="en-US" sz="850" noProof="1">
                <a:solidFill>
                  <a:srgbClr val="7C7C74"/>
                </a:solidFill>
                <a:latin typeface="Frutiger LT Std 45 Light"/>
                <a:ea typeface="Frutiger LT Std 45 Light"/>
              </a:rPr>
              <a:t>a · central catalog skills</a:t>
            </a:r>
            <a:endParaRPr lang="en-US" sz="850" noProof="1"/>
          </a:p>
        </p:txBody>
      </p:sp>
      <p:sp>
        <p:nvSpPr>
          <p:cNvPr id="15" name="l31-a-code"/>
          <p:cNvSpPr txBox="1"/>
          <p:nvPr/>
        </p:nvSpPr>
        <p:spPr>
          <a:xfrm>
            <a:off x="939800" y="3073400"/>
            <a:ext cx="3479800" cy="152400"/>
          </a:xfrm>
          <a:prstGeom prst="rect">
            <a:avLst/>
          </a:prstGeom>
          <a:noFill/>
          <a:ln>
            <a:noFill/>
          </a:ln>
        </p:spPr>
        <p:txBody>
          <a:bodyPr lIns="0" rIns="0" tIns="0" bIns="0" wrap="none" rtlCol="0"/>
          <a:lstStyle/>
          <a:p>
            <a:pPr>
              <a:lnSpc>
                <a:spcPct val="120000"/>
              </a:lnSpc>
            </a:pPr>
            <a:r>
              <a:rPr lang="en-US" sz="850" noProof="1">
                <a:solidFill>
                  <a:srgbClr val="3A3A37"/>
                </a:solidFill>
                <a:latin typeface="Consolas"/>
                <a:ea typeface="Consolas"/>
              </a:rPr>
              <a:t>/speckit.skt-fs.crud-creator</a:t>
            </a:r>
            <a:endParaRPr lang="en-US" sz="850" noProof="1"/>
          </a:p>
        </p:txBody>
      </p:sp>
      <p:sp>
        <p:nvSpPr>
          <p:cNvPr id="16" name="l31-b"/>
          <p:cNvSpPr/>
          <p:nvPr/>
        </p:nvSpPr>
        <p:spPr>
          <a:xfrm>
            <a:off x="838200" y="3429000"/>
            <a:ext cx="3683000" cy="508000"/>
          </a:xfrm>
          <a:prstGeom prst="rect">
            <a:avLst/>
          </a:prstGeom>
          <a:solidFill>
            <a:srgbClr val="FFFFFF"/>
          </a:solidFill>
          <a:ln w="12700">
            <a:solidFill>
              <a:srgbClr val="DCDCD6"/>
            </a:solidFill>
          </a:ln>
        </p:spPr>
      </p:sp>
      <p:sp>
        <p:nvSpPr>
          <p:cNvPr id="17" name="l31-b-label"/>
          <p:cNvSpPr txBox="1"/>
          <p:nvPr/>
        </p:nvSpPr>
        <p:spPr>
          <a:xfrm>
            <a:off x="939800" y="3479800"/>
            <a:ext cx="3479800" cy="139700"/>
          </a:xfrm>
          <a:prstGeom prst="rect">
            <a:avLst/>
          </a:prstGeom>
          <a:noFill/>
          <a:ln>
            <a:noFill/>
          </a:ln>
        </p:spPr>
        <p:txBody>
          <a:bodyPr lIns="0" rIns="0" tIns="0" bIns="0" wrap="none" rtlCol="0"/>
          <a:lstStyle/>
          <a:p>
            <a:pPr>
              <a:lnSpc>
                <a:spcPct val="120000"/>
              </a:lnSpc>
            </a:pPr>
            <a:r>
              <a:rPr lang="en-US" sz="850" noProof="1">
                <a:solidFill>
                  <a:srgbClr val="7C7C74"/>
                </a:solidFill>
                <a:latin typeface="Frutiger LT Std 45 Light"/>
                <a:ea typeface="Frutiger LT Std 45 Light"/>
              </a:rPr>
              <a:t>b · project instantiation (fresh per project)</a:t>
            </a:r>
            <a:endParaRPr lang="en-US" sz="850" noProof="1"/>
          </a:p>
        </p:txBody>
      </p:sp>
      <p:sp>
        <p:nvSpPr>
          <p:cNvPr id="18" name="l31-b-code"/>
          <p:cNvSpPr txBox="1"/>
          <p:nvPr/>
        </p:nvSpPr>
        <p:spPr>
          <a:xfrm>
            <a:off x="939800" y="3657600"/>
            <a:ext cx="3479800" cy="152400"/>
          </a:xfrm>
          <a:prstGeom prst="rect">
            <a:avLst/>
          </a:prstGeom>
          <a:noFill/>
          <a:ln>
            <a:noFill/>
          </a:ln>
        </p:spPr>
        <p:txBody>
          <a:bodyPr lIns="0" rIns="0" tIns="0" bIns="0" wrap="none" rtlCol="0"/>
          <a:lstStyle/>
          <a:p>
            <a:pPr>
              <a:lnSpc>
                <a:spcPct val="120000"/>
              </a:lnSpc>
            </a:pPr>
            <a:r>
              <a:rPr lang="en-US" sz="850" noProof="1">
                <a:solidFill>
                  <a:srgbClr val="3A3A37"/>
                </a:solidFill>
                <a:latin typeface="Consolas"/>
                <a:ea typeface="Consolas"/>
              </a:rPr>
              <a:t>/speckit.skt-fs.[project].skill1</a:t>
            </a:r>
            <a:endParaRPr lang="en-US" sz="850" noProof="1"/>
          </a:p>
        </p:txBody>
      </p:sp>
      <p:sp>
        <p:nvSpPr>
          <p:cNvPr id="19" name="l32-panel"/>
          <p:cNvSpPr/>
          <p:nvPr/>
        </p:nvSpPr>
        <p:spPr>
          <a:xfrm>
            <a:off x="4800600" y="2311400"/>
            <a:ext cx="3937000" cy="1778000"/>
          </a:xfrm>
          <a:prstGeom prst="rect">
            <a:avLst/>
          </a:prstGeom>
          <a:solidFill>
            <a:srgbClr val="F4F4F2"/>
          </a:solidFill>
          <a:ln w="12700">
            <a:solidFill>
              <a:srgbClr val="DCDCD6"/>
            </a:solidFill>
          </a:ln>
        </p:spPr>
      </p:sp>
      <p:sp>
        <p:nvSpPr>
          <p:cNvPr id="20" name="l32-head"/>
          <p:cNvSpPr txBox="1"/>
          <p:nvPr/>
        </p:nvSpPr>
        <p:spPr>
          <a:xfrm>
            <a:off x="4927600" y="2413000"/>
            <a:ext cx="3683000" cy="1778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3.2 — business domain bundles</a:t>
            </a:r>
            <a:endParaRPr lang="en-US" sz="1050" noProof="1"/>
          </a:p>
        </p:txBody>
      </p:sp>
      <p:sp>
        <p:nvSpPr>
          <p:cNvPr id="21" name="l32-sub"/>
          <p:cNvSpPr txBox="1"/>
          <p:nvPr/>
        </p:nvSpPr>
        <p:spPr>
          <a:xfrm>
            <a:off x="4927600" y="2616200"/>
            <a:ext cx="3683000" cy="152400"/>
          </a:xfrm>
          <a:prstGeom prst="rect">
            <a:avLst/>
          </a:prstGeom>
          <a:noFill/>
          <a:ln>
            <a:noFill/>
          </a:ln>
        </p:spPr>
        <p:txBody>
          <a:bodyPr lIns="0" rIns="0" tIns="0" bIns="0" wrap="none" rtlCol="0"/>
          <a:lstStyle/>
          <a:p>
            <a:pPr>
              <a:lnSpc>
                <a:spcPct val="120000"/>
              </a:lnSpc>
            </a:pPr>
            <a:r>
              <a:rPr lang="en-US" sz="900" noProof="1">
                <a:solidFill>
                  <a:srgbClr val="7C7C74"/>
                </a:solidFill>
                <a:latin typeface="Frutiger LT Std 45 Light"/>
                <a:ea typeface="Frutiger LT Std 45 Light"/>
              </a:rPr>
              <a:t>risk modelling · KYC · loan agreement · market intelligence</a:t>
            </a:r>
            <a:endParaRPr lang="en-US" sz="900" noProof="1"/>
          </a:p>
        </p:txBody>
      </p:sp>
      <p:sp>
        <p:nvSpPr>
          <p:cNvPr id="22" name="l32-a"/>
          <p:cNvSpPr/>
          <p:nvPr/>
        </p:nvSpPr>
        <p:spPr>
          <a:xfrm>
            <a:off x="4927600" y="2844800"/>
            <a:ext cx="3683000" cy="508000"/>
          </a:xfrm>
          <a:prstGeom prst="rect">
            <a:avLst/>
          </a:prstGeom>
          <a:solidFill>
            <a:srgbClr val="FFFFFF"/>
          </a:solidFill>
          <a:ln w="12700">
            <a:solidFill>
              <a:srgbClr val="DCDCD6"/>
            </a:solidFill>
          </a:ln>
        </p:spPr>
      </p:sp>
      <p:sp>
        <p:nvSpPr>
          <p:cNvPr id="23" name="l32-a-label"/>
          <p:cNvSpPr txBox="1"/>
          <p:nvPr/>
        </p:nvSpPr>
        <p:spPr>
          <a:xfrm>
            <a:off x="5029200" y="2895600"/>
            <a:ext cx="3479800" cy="139700"/>
          </a:xfrm>
          <a:prstGeom prst="rect">
            <a:avLst/>
          </a:prstGeom>
          <a:noFill/>
          <a:ln>
            <a:noFill/>
          </a:ln>
        </p:spPr>
        <p:txBody>
          <a:bodyPr lIns="0" rIns="0" tIns="0" bIns="0" wrap="none" rtlCol="0"/>
          <a:lstStyle/>
          <a:p>
            <a:pPr>
              <a:lnSpc>
                <a:spcPct val="120000"/>
              </a:lnSpc>
            </a:pPr>
            <a:r>
              <a:rPr lang="en-US" sz="850" noProof="1">
                <a:solidFill>
                  <a:srgbClr val="7C7C74"/>
                </a:solidFill>
                <a:latin typeface="Frutiger LT Std 45 Light"/>
                <a:ea typeface="Frutiger LT Std 45 Light"/>
              </a:rPr>
              <a:t>a · central catalog skills</a:t>
            </a:r>
            <a:endParaRPr lang="en-US" sz="850" noProof="1"/>
          </a:p>
        </p:txBody>
      </p:sp>
      <p:sp>
        <p:nvSpPr>
          <p:cNvPr id="24" name="l32-a-code"/>
          <p:cNvSpPr txBox="1"/>
          <p:nvPr/>
        </p:nvSpPr>
        <p:spPr>
          <a:xfrm>
            <a:off x="5029200" y="3073400"/>
            <a:ext cx="3479800" cy="152400"/>
          </a:xfrm>
          <a:prstGeom prst="rect">
            <a:avLst/>
          </a:prstGeom>
          <a:noFill/>
          <a:ln>
            <a:noFill/>
          </a:ln>
        </p:spPr>
        <p:txBody>
          <a:bodyPr lIns="0" rIns="0" tIns="0" bIns="0" wrap="none" rtlCol="0"/>
          <a:lstStyle/>
          <a:p>
            <a:pPr>
              <a:lnSpc>
                <a:spcPct val="120000"/>
              </a:lnSpc>
            </a:pPr>
            <a:r>
              <a:rPr lang="en-US" sz="850" noProof="1">
                <a:solidFill>
                  <a:srgbClr val="3A3A37"/>
                </a:solidFill>
                <a:latin typeface="Consolas"/>
                <a:ea typeface="Consolas"/>
              </a:rPr>
              <a:t>/speckit.skt-kyc.swiss-sme-classifier</a:t>
            </a:r>
            <a:endParaRPr lang="en-US" sz="850" noProof="1"/>
          </a:p>
        </p:txBody>
      </p:sp>
      <p:sp>
        <p:nvSpPr>
          <p:cNvPr id="25" name="l32-b"/>
          <p:cNvSpPr/>
          <p:nvPr/>
        </p:nvSpPr>
        <p:spPr>
          <a:xfrm>
            <a:off x="4927600" y="3429000"/>
            <a:ext cx="3683000" cy="508000"/>
          </a:xfrm>
          <a:prstGeom prst="rect">
            <a:avLst/>
          </a:prstGeom>
          <a:solidFill>
            <a:srgbClr val="FFFFFF"/>
          </a:solidFill>
          <a:ln w="12700">
            <a:solidFill>
              <a:srgbClr val="DCDCD6"/>
            </a:solidFill>
          </a:ln>
        </p:spPr>
      </p:sp>
      <p:sp>
        <p:nvSpPr>
          <p:cNvPr id="26" name="l32-b-label"/>
          <p:cNvSpPr txBox="1"/>
          <p:nvPr/>
        </p:nvSpPr>
        <p:spPr>
          <a:xfrm>
            <a:off x="5029200" y="3479800"/>
            <a:ext cx="3479800" cy="139700"/>
          </a:xfrm>
          <a:prstGeom prst="rect">
            <a:avLst/>
          </a:prstGeom>
          <a:noFill/>
          <a:ln>
            <a:noFill/>
          </a:ln>
        </p:spPr>
        <p:txBody>
          <a:bodyPr lIns="0" rIns="0" tIns="0" bIns="0" wrap="none" rtlCol="0"/>
          <a:lstStyle/>
          <a:p>
            <a:pPr>
              <a:lnSpc>
                <a:spcPct val="120000"/>
              </a:lnSpc>
            </a:pPr>
            <a:r>
              <a:rPr lang="en-US" sz="850" noProof="1">
                <a:solidFill>
                  <a:srgbClr val="7C7C74"/>
                </a:solidFill>
                <a:latin typeface="Frutiger LT Std 45 Light"/>
                <a:ea typeface="Frutiger LT Std 45 Light"/>
              </a:rPr>
              <a:t>b · project instantiation (fresh per project)</a:t>
            </a:r>
            <a:endParaRPr lang="en-US" sz="850" noProof="1"/>
          </a:p>
        </p:txBody>
      </p:sp>
      <p:sp>
        <p:nvSpPr>
          <p:cNvPr id="27" name="l32-b-code"/>
          <p:cNvSpPr txBox="1"/>
          <p:nvPr/>
        </p:nvSpPr>
        <p:spPr>
          <a:xfrm>
            <a:off x="5029200" y="3657600"/>
            <a:ext cx="3479800" cy="152400"/>
          </a:xfrm>
          <a:prstGeom prst="rect">
            <a:avLst/>
          </a:prstGeom>
          <a:noFill/>
          <a:ln>
            <a:noFill/>
          </a:ln>
        </p:spPr>
        <p:txBody>
          <a:bodyPr lIns="0" rIns="0" tIns="0" bIns="0" wrap="none" rtlCol="0"/>
          <a:lstStyle/>
          <a:p>
            <a:pPr>
              <a:lnSpc>
                <a:spcPct val="120000"/>
              </a:lnSpc>
            </a:pPr>
            <a:r>
              <a:rPr lang="en-US" sz="850" noProof="1">
                <a:solidFill>
                  <a:srgbClr val="3A3A37"/>
                </a:solidFill>
                <a:latin typeface="Consolas"/>
                <a:ea typeface="Consolas"/>
              </a:rPr>
              <a:t>/speckit.skt-mi.[project].sector-meta</a:t>
            </a:r>
            <a:endParaRPr lang="en-US" sz="850" noProof="1"/>
          </a:p>
        </p:txBody>
      </p:sp>
      <p:sp>
        <p:nvSpPr>
          <p:cNvPr id="28" name="l2-band"/>
          <p:cNvSpPr/>
          <p:nvPr/>
        </p:nvSpPr>
        <p:spPr>
          <a:xfrm>
            <a:off x="711200" y="4191000"/>
            <a:ext cx="8026400" cy="1066800"/>
          </a:xfrm>
          <a:prstGeom prst="rect">
            <a:avLst/>
          </a:prstGeom>
          <a:solidFill>
            <a:srgbClr val="F4F4F2"/>
          </a:solidFill>
          <a:ln w="19050">
            <a:solidFill>
              <a:srgbClr val="B02A30"/>
            </a:solidFill>
          </a:ln>
        </p:spPr>
      </p:sp>
      <p:sp>
        <p:nvSpPr>
          <p:cNvPr id="29" name="l2-head"/>
          <p:cNvSpPr txBox="1"/>
          <p:nvPr/>
        </p:nvSpPr>
        <p:spPr>
          <a:xfrm>
            <a:off x="838200" y="4292600"/>
            <a:ext cx="7772400" cy="1778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2 — Sketch bank base (id: sketch)</a:t>
            </a:r>
            <a:endParaRPr lang="en-US" sz="1050" noProof="1"/>
          </a:p>
        </p:txBody>
      </p:sp>
      <p:sp>
        <p:nvSpPr>
          <p:cNvPr id="30" name="l2-code"/>
          <p:cNvSpPr txBox="1"/>
          <p:nvPr/>
        </p:nvSpPr>
        <p:spPr>
          <a:xfrm>
            <a:off x="838200" y="4521200"/>
            <a:ext cx="7772400" cy="165100"/>
          </a:xfrm>
          <a:prstGeom prst="rect">
            <a:avLst/>
          </a:prstGeom>
          <a:noFill/>
          <a:ln>
            <a:noFill/>
          </a:ln>
        </p:spPr>
        <p:txBody>
          <a:bodyPr lIns="0" rIns="0" tIns="0" bIns="0" wrap="none" rtlCol="0"/>
          <a:lstStyle/>
          <a:p>
            <a:pPr>
              <a:lnSpc>
                <a:spcPct val="120000"/>
              </a:lnSpc>
            </a:pPr>
            <a:r>
              <a:rPr lang="en-US" sz="900" noProof="1">
                <a:solidFill>
                  <a:srgbClr val="3A3A37"/>
                </a:solidFill>
                <a:latin typeface="Consolas"/>
                <a:ea typeface="Consolas"/>
              </a:rPr>
              <a:t>/speckit.sketch.specify · /speckit.sketch.clarify · /speckit.sketch.mer-check</a:t>
            </a:r>
            <a:endParaRPr lang="en-US" sz="900" noProof="1"/>
          </a:p>
        </p:txBody>
      </p:sp>
      <p:sp>
        <p:nvSpPr>
          <p:cNvPr id="31" name="l2-skills"/>
          <p:cNvSpPr txBox="1"/>
          <p:nvPr/>
        </p:nvSpPr>
        <p:spPr>
          <a:xfrm>
            <a:off x="838200" y="4749800"/>
            <a:ext cx="7772400" cy="152400"/>
          </a:xfrm>
          <a:prstGeom prst="rect">
            <a:avLst/>
          </a:prstGeom>
          <a:noFill/>
          <a:ln>
            <a:noFill/>
          </a:ln>
        </p:spPr>
        <p:txBody>
          <a:bodyPr lIns="0" rIns="0" tIns="0" bIns="0" wrap="none" rtlCol="0"/>
          <a:lstStyle/>
          <a:p>
            <a:pPr>
              <a:lnSpc>
                <a:spcPct val="120000"/>
              </a:lnSpc>
            </a:pPr>
            <a:r>
              <a:rPr lang="en-US" sz="900" noProof="1">
                <a:solidFill>
                  <a:srgbClr val="7C7C74"/>
                </a:solidFill>
                <a:latin typeface="Frutiger LT Std 45 Light"/>
                <a:ea typeface="Frutiger LT Std 45 Light"/>
              </a:rPr>
              <a:t>generic skills: depth-selection · ears-authoring · spec-eval · plan-eval · tasks-eval · code-eval</a:t>
            </a:r>
            <a:endParaRPr lang="en-US" sz="900" noProof="1"/>
          </a:p>
        </p:txBody>
      </p:sp>
      <p:sp>
        <p:nvSpPr>
          <p:cNvPr id="32" name="l1-band"/>
          <p:cNvSpPr/>
          <p:nvPr/>
        </p:nvSpPr>
        <p:spPr>
          <a:xfrm>
            <a:off x="711200" y="5359400"/>
            <a:ext cx="8026400" cy="838200"/>
          </a:xfrm>
          <a:prstGeom prst="rect">
            <a:avLst/>
          </a:prstGeom>
          <a:solidFill>
            <a:srgbClr val="F4F4F2"/>
          </a:solidFill>
          <a:ln w="12700">
            <a:solidFill>
              <a:srgbClr val="DCDCD6"/>
            </a:solidFill>
          </a:ln>
        </p:spPr>
      </p:sp>
      <p:sp>
        <p:nvSpPr>
          <p:cNvPr id="33" name="l1-head"/>
          <p:cNvSpPr txBox="1"/>
          <p:nvPr/>
        </p:nvSpPr>
        <p:spPr>
          <a:xfrm>
            <a:off x="838200" y="5448300"/>
            <a:ext cx="7772400" cy="165100"/>
          </a:xfrm>
          <a:prstGeom prst="rect">
            <a:avLst/>
          </a:prstGeom>
          <a:noFill/>
          <a:ln>
            <a:noFill/>
          </a:ln>
        </p:spPr>
        <p:txBody>
          <a:bodyPr lIns="0" rIns="0" tIns="0" bIns="0" wrap="none" rtlCol="0"/>
          <a:lstStyle/>
          <a:p>
            <a:pPr>
              <a:lnSpc>
                <a:spcPct val="120000"/>
              </a:lnSpc>
            </a:pPr>
            <a:r>
              <a:rPr lang="en-US" sz="1050" noProof="1" b="1">
                <a:solidFill>
                  <a:srgbClr val="232323"/>
                </a:solidFill>
                <a:latin typeface="Frutiger LT Std 45 Light"/>
                <a:ea typeface="Frutiger LT Std 45 Light"/>
              </a:rPr>
              <a:t>Layer 1 — Microsoft Spec Kit core (mirrored, unmodified)</a:t>
            </a:r>
            <a:endParaRPr lang="en-US" sz="1050" noProof="1"/>
          </a:p>
        </p:txBody>
      </p:sp>
      <p:sp>
        <p:nvSpPr>
          <p:cNvPr id="34" name="l1-code"/>
          <p:cNvSpPr txBox="1"/>
          <p:nvPr/>
        </p:nvSpPr>
        <p:spPr>
          <a:xfrm>
            <a:off x="838200" y="5651500"/>
            <a:ext cx="7772400" cy="152400"/>
          </a:xfrm>
          <a:prstGeom prst="rect">
            <a:avLst/>
          </a:prstGeom>
          <a:noFill/>
          <a:ln>
            <a:noFill/>
          </a:ln>
        </p:spPr>
        <p:txBody>
          <a:bodyPr lIns="0" rIns="0" tIns="0" bIns="0" wrap="none" rtlCol="0"/>
          <a:lstStyle/>
          <a:p>
            <a:pPr>
              <a:lnSpc>
                <a:spcPct val="120000"/>
              </a:lnSpc>
            </a:pPr>
            <a:r>
              <a:rPr lang="en-US" sz="900" noProof="1">
                <a:solidFill>
                  <a:srgbClr val="3A3A37"/>
                </a:solidFill>
                <a:latin typeface="Consolas"/>
                <a:ea typeface="Consolas"/>
              </a:rPr>
              <a:t>/speckit.specify · clarify · plan · tasks · implement · analyze</a:t>
            </a:r>
            <a:endParaRPr lang="en-US" sz="900" noProof="1"/>
          </a:p>
        </p:txBody>
      </p:sp>
      <p:sp>
        <p:nvSpPr>
          <p:cNvPr id="35" name="l1-note"/>
          <p:cNvSpPr txBox="1"/>
          <p:nvPr/>
        </p:nvSpPr>
        <p:spPr>
          <a:xfrm>
            <a:off x="838200" y="5854700"/>
            <a:ext cx="7772400" cy="152400"/>
          </a:xfrm>
          <a:prstGeom prst="rect">
            <a:avLst/>
          </a:prstGeom>
          <a:noFill/>
          <a:ln>
            <a:noFill/>
          </a:ln>
        </p:spPr>
        <p:txBody>
          <a:bodyPr lIns="0" rIns="0" tIns="0" bIns="0" wrap="none" rtlCol="0"/>
          <a:lstStyle/>
          <a:p>
            <a:pPr>
              <a:lnSpc>
                <a:spcPct val="120000"/>
              </a:lnSpc>
            </a:pPr>
            <a:r>
              <a:rPr lang="en-US" sz="850" noProof="1">
                <a:solidFill>
                  <a:srgbClr val="7C7C74"/>
                </a:solidFill>
                <a:latin typeface="Frutiger LT Std 45 Light"/>
                <a:ea typeface="Frutiger LT Std 45 Light"/>
              </a:rPr>
              <a:t>Microsoft-authored foundation. Layers are provenance, not template-resolution priority.</a:t>
            </a:r>
            <a:endParaRPr lang="en-US" sz="850" noProof="1"/>
          </a:p>
        </p:txBody>
      </p:sp>
      <p:sp>
        <p:nvSpPr>
          <p:cNvPr id="36" name="lx-rail"/>
          <p:cNvSpPr/>
          <p:nvPr/>
        </p:nvSpPr>
        <p:spPr>
          <a:xfrm>
            <a:off x="8940800" y="1397000"/>
            <a:ext cx="2540000" cy="4800600"/>
          </a:xfrm>
          <a:prstGeom prst="rect">
            <a:avLst/>
          </a:prstGeom>
          <a:solidFill>
            <a:srgbClr val="F2EAD9"/>
          </a:solidFill>
          <a:ln w="12700">
            <a:solidFill>
              <a:srgbClr val="DCDCD6"/>
            </a:solidFill>
          </a:ln>
        </p:spPr>
      </p:sp>
      <p:sp>
        <p:nvSpPr>
          <p:cNvPr id="37" name="lx-head"/>
          <p:cNvSpPr txBox="1"/>
          <p:nvPr/>
        </p:nvSpPr>
        <p:spPr>
          <a:xfrm>
            <a:off x="9093200" y="1549400"/>
            <a:ext cx="2235200" cy="381000"/>
          </a:xfrm>
          <a:prstGeom prst="rect">
            <a:avLst/>
          </a:prstGeom>
          <a:noFill/>
          <a:ln>
            <a:noFill/>
          </a:ln>
        </p:spPr>
        <p:txBody>
          <a:bodyPr lIns="0" rIns="0" tIns="0" bIns="0" wrap="square" rtlCol="0"/>
          <a:lstStyle/>
          <a:p>
            <a:pPr>
              <a:lnSpc>
                <a:spcPct val="120000"/>
              </a:lnSpc>
            </a:pPr>
            <a:r>
              <a:rPr lang="en-US" sz="1050" noProof="1" b="1">
                <a:solidFill>
                  <a:srgbClr val="232323"/>
                </a:solidFill>
                <a:latin typeface="Frutiger LT Std 45 Light"/>
                <a:ea typeface="Frutiger LT Std 45 Light"/>
              </a:rPr>
              <a:t>Layer X — utility extensions</a:t>
            </a:r>
            <a:endParaRPr lang="en-US" sz="1050" noProof="1"/>
          </a:p>
        </p:txBody>
      </p:sp>
      <p:sp>
        <p:nvSpPr>
          <p:cNvPr id="38" name="lx-sub"/>
          <p:cNvSpPr txBox="1"/>
          <p:nvPr/>
        </p:nvSpPr>
        <p:spPr>
          <a:xfrm>
            <a:off x="9093200" y="1930400"/>
            <a:ext cx="2235200" cy="304800"/>
          </a:xfrm>
          <a:prstGeom prst="rect">
            <a:avLst/>
          </a:prstGeom>
          <a:noFill/>
          <a:ln>
            <a:noFill/>
          </a:ln>
        </p:spPr>
        <p:txBody>
          <a:bodyPr lIns="0" rIns="0" tIns="0" bIns="0" wrap="square" rtlCol="0"/>
          <a:lstStyle/>
          <a:p>
            <a:pPr>
              <a:lnSpc>
                <a:spcPct val="120000"/>
              </a:lnSpc>
            </a:pPr>
            <a:r>
              <a:rPr lang="en-US" sz="900" noProof="1">
                <a:solidFill>
                  <a:srgbClr val="7C7C74"/>
                </a:solidFill>
                <a:latin typeface="Frutiger LT Std 45 Light"/>
                <a:ea typeface="Frutiger LT Std 45 Light"/>
              </a:rPr>
              <a:t>apply at every layer; join any bundle</a:t>
            </a:r>
            <a:endParaRPr lang="en-US" sz="900" noProof="1"/>
          </a:p>
        </p:txBody>
      </p:sp>
      <p:sp>
        <p:nvSpPr>
          <p:cNvPr id="39" name="lx-i1"/>
          <p:cNvSpPr txBox="1"/>
          <p:nvPr/>
        </p:nvSpPr>
        <p:spPr>
          <a:xfrm>
            <a:off x="9093200" y="24130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skt-graph</a:t>
            </a:r>
            <a:endParaRPr lang="en-US" sz="900" noProof="1"/>
          </a:p>
          <a:p>
            <a:pPr>
              <a:lnSpc>
                <a:spcPct val="135000"/>
              </a:lnSpc>
            </a:pPr>
            <a:r>
              <a:rPr lang="en-US" sz="850" noProof="1">
                <a:solidFill>
                  <a:srgbClr val="7C7C74"/>
                </a:solidFill>
                <a:latin typeface="Frutiger LT Std 45 Light"/>
                <a:ea typeface="Frutiger LT Std 45 Light"/>
              </a:rPr>
              <a:t>knowledge graph of artifacts</a:t>
            </a:r>
            <a:endParaRPr lang="en-US" sz="900" noProof="1"/>
          </a:p>
        </p:txBody>
      </p:sp>
      <p:sp>
        <p:nvSpPr>
          <p:cNvPr id="40" name="lx-i2"/>
          <p:cNvSpPr txBox="1"/>
          <p:nvPr/>
        </p:nvSpPr>
        <p:spPr>
          <a:xfrm>
            <a:off x="9093200" y="29972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skt-uml</a:t>
            </a:r>
            <a:endParaRPr lang="en-US" sz="900" noProof="1"/>
          </a:p>
          <a:p>
            <a:pPr>
              <a:lnSpc>
                <a:spcPct val="135000"/>
              </a:lnSpc>
            </a:pPr>
            <a:r>
              <a:rPr lang="en-US" sz="850" noProof="1">
                <a:solidFill>
                  <a:srgbClr val="7C7C74"/>
                </a:solidFill>
                <a:latin typeface="Frutiger LT Std 45 Light"/>
                <a:ea typeface="Frutiger LT Std 45 Light"/>
              </a:rPr>
              <a:t>class and sequence diagrams</a:t>
            </a:r>
            <a:endParaRPr lang="en-US" sz="900" noProof="1"/>
          </a:p>
        </p:txBody>
      </p:sp>
      <p:sp>
        <p:nvSpPr>
          <p:cNvPr id="41" name="lx-i3"/>
          <p:cNvSpPr txBox="1"/>
          <p:nvPr/>
        </p:nvSpPr>
        <p:spPr>
          <a:xfrm>
            <a:off x="9093200" y="35814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skt-mr</a:t>
            </a:r>
            <a:endParaRPr lang="en-US" sz="900" noProof="1"/>
          </a:p>
          <a:p>
            <a:pPr>
              <a:lnSpc>
                <a:spcPct val="135000"/>
              </a:lnSpc>
            </a:pPr>
            <a:r>
              <a:rPr lang="en-US" sz="850" noProof="1">
                <a:solidFill>
                  <a:srgbClr val="7C7C74"/>
                </a:solidFill>
                <a:latin typeface="Frutiger LT Std 45 Light"/>
                <a:ea typeface="Frutiger LT Std 45 Light"/>
              </a:rPr>
              <a:t>MR creation from spec artifacts</a:t>
            </a:r>
            <a:endParaRPr lang="en-US" sz="900" noProof="1"/>
          </a:p>
        </p:txBody>
      </p:sp>
      <p:sp>
        <p:nvSpPr>
          <p:cNvPr id="42" name="lx-i4"/>
          <p:cNvSpPr txBox="1"/>
          <p:nvPr/>
        </p:nvSpPr>
        <p:spPr>
          <a:xfrm>
            <a:off x="9093200" y="41656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skt-docconv</a:t>
            </a:r>
            <a:endParaRPr lang="en-US" sz="900" noProof="1"/>
          </a:p>
          <a:p>
            <a:pPr>
              <a:lnSpc>
                <a:spcPct val="135000"/>
              </a:lnSpc>
            </a:pPr>
            <a:r>
              <a:rPr lang="en-US" sz="850" noProof="1">
                <a:solidFill>
                  <a:srgbClr val="7C7C74"/>
                </a:solidFill>
                <a:latin typeface="Frutiger LT Std 45 Light"/>
                <a:ea typeface="Frutiger LT Std 45 Light"/>
              </a:rPr>
              <a:t>PDF / Office to markdown</a:t>
            </a:r>
            <a:endParaRPr lang="en-US" sz="900" noProof="1"/>
          </a:p>
        </p:txBody>
      </p:sp>
      <p:sp>
        <p:nvSpPr>
          <p:cNvPr id="43" name="lx-i5"/>
          <p:cNvSpPr txBox="1"/>
          <p:nvPr/>
        </p:nvSpPr>
        <p:spPr>
          <a:xfrm>
            <a:off x="9093200" y="47498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skt-llmcost</a:t>
            </a:r>
            <a:endParaRPr lang="en-US" sz="900" noProof="1"/>
          </a:p>
          <a:p>
            <a:pPr>
              <a:lnSpc>
                <a:spcPct val="135000"/>
              </a:lnSpc>
            </a:pPr>
            <a:r>
              <a:rPr lang="en-US" sz="850" noProof="1">
                <a:solidFill>
                  <a:srgbClr val="7C7C74"/>
                </a:solidFill>
                <a:latin typeface="Frutiger LT Std 45 Light"/>
                <a:ea typeface="Frutiger LT Std 45 Light"/>
              </a:rPr>
              <a:t>token and dollar telemetry</a:t>
            </a:r>
            <a:endParaRPr lang="en-US" sz="900" noProof="1"/>
          </a:p>
        </p:txBody>
      </p:sp>
      <p:sp>
        <p:nvSpPr>
          <p:cNvPr id="44" name="lx-i6"/>
          <p:cNvSpPr txBox="1"/>
          <p:nvPr/>
        </p:nvSpPr>
        <p:spPr>
          <a:xfrm>
            <a:off x="9093200" y="5334000"/>
            <a:ext cx="2235200" cy="381000"/>
          </a:xfrm>
          <a:prstGeom prst="rect">
            <a:avLst/>
          </a:prstGeom>
          <a:noFill/>
          <a:ln>
            <a:noFill/>
          </a:ln>
        </p:spPr>
        <p:txBody>
          <a:bodyPr lIns="0" rIns="0" tIns="0" bIns="0" wrap="square" rtlCol="0"/>
          <a:lstStyle/>
          <a:p>
            <a:pPr>
              <a:lnSpc>
                <a:spcPct val="135000"/>
              </a:lnSpc>
            </a:pPr>
            <a:r>
              <a:rPr lang="en-US" sz="900" noProof="1">
                <a:solidFill>
                  <a:srgbClr val="3A3A37"/>
                </a:solidFill>
                <a:latin typeface="Consolas"/>
                <a:ea typeface="Consolas"/>
              </a:rPr>
              <a:t>skt-threat</a:t>
            </a:r>
            <a:endParaRPr lang="en-US" sz="900" noProof="1"/>
          </a:p>
          <a:p>
            <a:pPr>
              <a:lnSpc>
                <a:spcPct val="135000"/>
              </a:lnSpc>
            </a:pPr>
            <a:r>
              <a:rPr lang="en-US" sz="850" noProof="1">
                <a:solidFill>
                  <a:srgbClr val="7C7C74"/>
                </a:solidFill>
                <a:latin typeface="Frutiger LT Std 45 Light"/>
                <a:ea typeface="Frutiger LT Std 45 Light"/>
              </a:rPr>
              <a:t>OWASP LLM top-10 scanning</a:t>
            </a:r>
            <a:endParaRPr lang="en-US" sz="900" noProof="1"/>
          </a:p>
        </p:txBody>
      </p:sp>
      <p:sp>
        <p:nvSpPr>
          <p:cNvPr id="45" name="footer-rule"/>
          <p:cNvSpPr/>
          <p:nvPr/>
        </p:nvSpPr>
        <p:spPr>
          <a:xfrm>
            <a:off x="711200" y="6451600"/>
            <a:ext cx="10769600" cy="12700"/>
          </a:xfrm>
          <a:prstGeom prst="rect">
            <a:avLst/>
          </a:prstGeom>
          <a:solidFill>
            <a:srgbClr val="232323"/>
          </a:solidFill>
          <a:ln>
            <a:noFill/>
          </a:ln>
        </p:spPr>
      </p:sp>
      <p:sp>
        <p:nvSpPr>
          <p:cNvPr id="46"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06</a:t>
            </a:r>
            <a:endParaRPr lang="en-US" sz="950" noProof="1"/>
          </a:p>
        </p:txBody>
      </p:sp>
    </p:spTree>
  </p:cSld>
  <p:clrMapOvr>
    <a:masterClrMapping/>
  </p:clrMapOvr>
  <p:transition spd="fast" advClick="1">
    <p:fade/>
  </p:transition>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Proposed GitLab group layout</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code-panel"/>
          <p:cNvSpPr/>
          <p:nvPr/>
        </p:nvSpPr>
        <p:spPr>
          <a:xfrm>
            <a:off x="711200" y="1473200"/>
            <a:ext cx="6604000" cy="4419600"/>
          </a:xfrm>
          <a:prstGeom prst="rect">
            <a:avLst/>
          </a:prstGeom>
          <a:solidFill>
            <a:srgbClr val="F4F4F2"/>
          </a:solidFill>
          <a:ln>
            <a:noFill/>
          </a:ln>
        </p:spPr>
      </p:sp>
      <p:sp>
        <p:nvSpPr>
          <p:cNvPr id="5" name="code-text"/>
          <p:cNvSpPr txBox="1"/>
          <p:nvPr/>
        </p:nvSpPr>
        <p:spPr>
          <a:xfrm>
            <a:off x="889000" y="1600200"/>
            <a:ext cx="6248400" cy="4191000"/>
          </a:xfrm>
          <a:prstGeom prst="rect">
            <a:avLst/>
          </a:prstGeom>
          <a:noFill/>
          <a:ln>
            <a:noFill/>
          </a:ln>
        </p:spPr>
        <p:txBody>
          <a:bodyPr lIns="0" rIns="0" tIns="0" bIns="0" wrap="square" rtlCol="0"/>
          <a:lstStyle/>
          <a:p>
            <a:pPr>
              <a:lnSpc>
                <a:spcPct val="142000"/>
              </a:lnSpc>
            </a:pPr>
            <a:r>
              <a:rPr lang="en-US" sz="1000" noProof="1">
                <a:solidFill>
                  <a:srgbClr val="3A3A37"/>
                </a:solidFill>
                <a:latin typeface="Consolas"/>
                <a:ea typeface="Consolas"/>
              </a:rPr>
              <a:t>/AI Augmented Development Community/SketchKitExtensions/
├── platform/                      central platform team
│   ├── catalog/                   schema · ci templates · catalog.d/
│   ├── base/sketch/               L2: specify, clarify, mer-check
│   ├── presets/                   sketch-constitution · sketch-reviewer
│   ├── extensions/                skt-fullstack · skt-migrate … workload
│   │                              skt-pdfx · skt-spark … cross-cutting, Layer X
│   ├── mirrors/spec-kit/          upstream mirror, tag-tracked
│   └── bundles/                   10 workload bundles, one repo each
├── domains/                       every division has the same shape
│   ├── investment-banking/        extensions/ skt-ibpitch · skt-cpresearch …
│   │                              bundles/    sketch-ib-pitch …
│   ├── wealth-management/         extensions/ skt-kyc · skt-advisor … + bundles/
│   ├── asset-management/          extensions/ skt-funddocs · skt-esg + bundles/
│   ├── group-risk/                extensions/ skt-riskrep · skt-riskmod + bundles/
│   ├── group-finance/             extensions/ skt-finclose + bundles/
│   └── compliance/                extensions/ skt-surveil · skt-regfile + bundles/
└── incubation/                    per-team sandboxes — not in any channel
    └── &lt;team-slug&gt;/               e.g. risk-quants/ · team holds Maintainer</a:t>
            </a:r>
            <a:endParaRPr lang="en-US" sz="1000" noProof="1"/>
          </a:p>
        </p:txBody>
      </p:sp>
      <p:sp>
        <p:nvSpPr>
          <p:cNvPr id="6" name="c1n"/>
          <p:cNvSpPr txBox="1"/>
          <p:nvPr/>
        </p:nvSpPr>
        <p:spPr>
          <a:xfrm>
            <a:off x="7620000" y="15494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1</a:t>
            </a:r>
            <a:endParaRPr lang="en-US" sz="1800" noProof="1"/>
          </a:p>
        </p:txBody>
      </p:sp>
      <p:sp>
        <p:nvSpPr>
          <p:cNvPr id="7" name="c1t"/>
          <p:cNvSpPr txBox="1"/>
          <p:nvPr/>
        </p:nvSpPr>
        <p:spPr>
          <a:xfrm>
            <a:off x="7975600" y="1574800"/>
            <a:ext cx="3505200" cy="7620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platform/ is the central tier</a:t>
            </a:r>
            <a:r>
              <a:rPr lang="en-US" sz="1100" noProof="1">
                <a:solidFill>
                  <a:srgbClr val="3A3A37"/>
                </a:solidFill>
                <a:latin typeface="Frutiger LT Std 45 Light"/>
                <a:ea typeface="Frutiger LT Std 45 Light"/>
              </a:rPr>
              <a:t> — the catalog contract, L2 base, workload and cross-cutting extensions, workload bundles, mirrors.</a:t>
            </a:r>
            <a:endParaRPr lang="en-US" sz="1100" noProof="1"/>
          </a:p>
        </p:txBody>
      </p:sp>
      <p:sp>
        <p:nvSpPr>
          <p:cNvPr id="8" name="c2n"/>
          <p:cNvSpPr txBox="1"/>
          <p:nvPr/>
        </p:nvSpPr>
        <p:spPr>
          <a:xfrm>
            <a:off x="7620000" y="26670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2</a:t>
            </a:r>
            <a:endParaRPr lang="en-US" sz="1800" noProof="1"/>
          </a:p>
        </p:txBody>
      </p:sp>
      <p:sp>
        <p:nvSpPr>
          <p:cNvPr id="9" name="c2t"/>
          <p:cNvSpPr txBox="1"/>
          <p:nvPr/>
        </p:nvSpPr>
        <p:spPr>
          <a:xfrm>
            <a:off x="7975600" y="2692400"/>
            <a:ext cx="3505200" cy="9398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domains/&lt;division&gt;/ is the federated tier</a:t>
            </a:r>
            <a:r>
              <a:rPr lang="en-US" sz="1100" noProof="1">
                <a:solidFill>
                  <a:srgbClr val="3A3A37"/>
                </a:solidFill>
                <a:latin typeface="Frutiger LT Std 45 Light"/>
                <a:ea typeface="Frutiger LT Std 45 Light"/>
              </a:rPr>
              <a:t> — every division has the same shape: extensions/ plus bundles/. No loose projects; repos always live under a typed subgroup, approved by the division's own leads.</a:t>
            </a:r>
            <a:endParaRPr lang="en-US" sz="1100" noProof="1"/>
          </a:p>
        </p:txBody>
      </p:sp>
      <p:sp>
        <p:nvSpPr>
          <p:cNvPr id="10" name="c3n"/>
          <p:cNvSpPr txBox="1"/>
          <p:nvPr/>
        </p:nvSpPr>
        <p:spPr>
          <a:xfrm>
            <a:off x="7620000" y="3886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3</a:t>
            </a:r>
            <a:endParaRPr lang="en-US" sz="1800" noProof="1"/>
          </a:p>
        </p:txBody>
      </p:sp>
      <p:sp>
        <p:nvSpPr>
          <p:cNvPr id="11" name="c3t"/>
          <p:cNvSpPr txBox="1"/>
          <p:nvPr/>
        </p:nvSpPr>
        <p:spPr>
          <a:xfrm>
            <a:off x="7975600" y="3911600"/>
            <a:ext cx="3505200" cy="9398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incubation/ holds per-team sandboxes</a:t>
            </a:r>
            <a:r>
              <a:rPr lang="en-US" sz="1100" noProof="1">
                <a:solidFill>
                  <a:srgbClr val="3A3A37"/>
                </a:solidFill>
                <a:latin typeface="Frutiger LT Std 45 Light"/>
                <a:ea typeface="Frutiger LT Std 45 Light"/>
              </a:rPr>
              <a:t> — each team is Maintainer of its own &lt;team-slug&gt;/ space, invisible to every channel. Promotion is a GitLab project transfer plus a catalog fragment MR.</a:t>
            </a:r>
            <a:endParaRPr lang="en-US" sz="1100" noProof="1"/>
          </a:p>
        </p:txBody>
      </p:sp>
      <p:sp>
        <p:nvSpPr>
          <p:cNvPr id="12" name="c4n"/>
          <p:cNvSpPr txBox="1"/>
          <p:nvPr/>
        </p:nvSpPr>
        <p:spPr>
          <a:xfrm>
            <a:off x="7620000" y="51054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4</a:t>
            </a:r>
            <a:endParaRPr lang="en-US" sz="1800" noProof="1"/>
          </a:p>
        </p:txBody>
      </p:sp>
      <p:sp>
        <p:nvSpPr>
          <p:cNvPr id="13" name="c4t"/>
          <p:cNvSpPr txBox="1"/>
          <p:nvPr/>
        </p:nvSpPr>
        <p:spPr>
          <a:xfrm>
            <a:off x="7975600" y="5130800"/>
            <a:ext cx="35052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catalog.d/ fragments live in the catalog project</a:t>
            </a:r>
            <a:r>
              <a:rPr lang="en-US" sz="1100" noProof="1">
                <a:solidFill>
                  <a:srgbClr val="3A3A37"/>
                </a:solidFill>
                <a:latin typeface="Frutiger LT Std 45 Light"/>
                <a:ea typeface="Frutiger LT Std 45 Light"/>
              </a:rPr>
              <a:t>; CODEOWNERS routes each to its division (page 18). One repo per extension and per bundle.</a:t>
            </a:r>
            <a:endParaRPr lang="en-US" sz="1100" noProof="1"/>
          </a:p>
        </p:txBody>
      </p:sp>
      <p:sp>
        <p:nvSpPr>
          <p:cNvPr id="14" name="legend"/>
          <p:cNvSpPr txBox="1"/>
          <p:nvPr/>
        </p:nvSpPr>
        <p:spPr>
          <a:xfrm>
            <a:off x="711200" y="5994400"/>
            <a:ext cx="6604000" cy="203200"/>
          </a:xfrm>
          <a:prstGeom prst="rect">
            <a:avLst/>
          </a:prstGeom>
          <a:noFill/>
          <a:ln>
            <a:noFill/>
          </a:ln>
        </p:spPr>
        <p:txBody>
          <a:bodyPr lIns="0" rIns="0" tIns="0" bIns="0" wrap="none" rtlCol="0"/>
          <a:lstStyle/>
          <a:p>
            <a:pPr>
              <a:lnSpc>
                <a:spcPct val="145000"/>
              </a:lnSpc>
            </a:pPr>
            <a:r>
              <a:rPr lang="en-US" sz="1150" noProof="1">
                <a:solidFill>
                  <a:srgbClr val="7C7C74"/>
                </a:solidFill>
                <a:latin typeface="Frutiger LT Std 45 Light"/>
                <a:ea typeface="Frutiger LT Std 45 Light"/>
              </a:rPr>
              <a:t>Tree entries are subgroups — the named skt-… / sketch-… entries are repositories.</a:t>
            </a:r>
            <a:endParaRPr lang="en-US" sz="1150" noProof="1"/>
          </a:p>
        </p:txBody>
      </p:sp>
      <p:sp>
        <p:nvSpPr>
          <p:cNvPr id="15" name="footer-rule"/>
          <p:cNvSpPr/>
          <p:nvPr/>
        </p:nvSpPr>
        <p:spPr>
          <a:xfrm>
            <a:off x="711200" y="6451600"/>
            <a:ext cx="10769600" cy="12700"/>
          </a:xfrm>
          <a:prstGeom prst="rect">
            <a:avLst/>
          </a:prstGeom>
          <a:solidFill>
            <a:srgbClr val="232323"/>
          </a:solidFill>
          <a:ln>
            <a:noFill/>
          </a:ln>
        </p:spPr>
      </p:sp>
      <p:sp>
        <p:nvSpPr>
          <p:cNvPr id="16"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07</a:t>
            </a:r>
            <a:endParaRPr lang="en-US" sz="950" noProof="1"/>
          </a:p>
        </p:txBody>
      </p:sp>
    </p:spTree>
  </p:cSld>
  <p:clrMapOvr>
    <a:masterClrMapping/>
  </p:clrMapOvr>
  <p:transition spd="fast" advClick="1">
    <p:fade/>
  </p:transition>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Which repository maps to which bundle</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mapping-table"/>
          <p:cNvGraphicFramePr>
            <a:graphicFrameLocks noGrp="1"/>
          </p:cNvGraphicFramePr>
          <p:nvPr/>
        </p:nvGraphicFramePr>
        <p:xfrm>
          <a:off x="711200" y="1422400"/>
          <a:ext cx="10769600" cy="4089400"/>
        </p:xfrm>
        <a:graphic>
          <a:graphicData uri="http://schemas.openxmlformats.org/drawingml/2006/table">
            <a:tbl>
              <a:tblPr/>
              <a:tblGrid>
                <a:gridCol w="2584704"/>
                <a:gridCol w="1076960"/>
                <a:gridCol w="861568"/>
                <a:gridCol w="3123184"/>
                <a:gridCol w="3123184"/>
              </a:tblGrid>
              <a:tr h="449834">
                <a:tc>
                  <a:txBody>
                    <a:bodyPr wrap="square" rtlCol="0" anchor="ctr"/>
                    <a:lstStyle/>
                    <a:p>
                      <a:pPr algn="l"/>
                      <a:r>
                        <a:rPr lang="en-US" sz="1100" noProof="1" b="1">
                          <a:solidFill>
                            <a:srgbClr val="FFFFFF"/>
                          </a:solidFill>
                          <a:latin typeface="Frutiger LT Std 45 Light"/>
                          <a:ea typeface="Frutiger LT Std 45 Light"/>
                        </a:rPr>
                        <a:t>Repository</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Type</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Layer</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Home subgroup</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Member of bundle(s)</a:t>
                      </a:r>
                    </a:p>
                  </a:txBody>
                  <a:tcPr marL="91440" marR="91440" marT="45720" marB="45720" anchor="ctr">
                    <a:lnL>
                      <a:noFill/>
                    </a:lnL>
                    <a:lnR>
                      <a:noFill/>
                    </a:lnR>
                    <a:lnT>
                      <a:noFill/>
                    </a:lnT>
                    <a:lnB w="12700">
                      <a:solidFill>
                        <a:srgbClr val="DCDCD6"/>
                      </a:solidFill>
                    </a:lnB>
                    <a:solidFill>
                      <a:srgbClr val="6E6E68"/>
                    </a:solidFill>
                  </a:tcPr>
                </a:tc>
              </a:tr>
              <a:tr h="404851">
                <a:tc>
                  <a:txBody>
                    <a:bodyPr wrap="square" rtlCol="0" anchor="ctr"/>
                    <a:lstStyle/>
                    <a:p>
                      <a:pPr algn="l"/>
                      <a:r>
                        <a:rPr lang="en-US" sz="1100" noProof="1">
                          <a:solidFill>
                            <a:srgbClr val="3A3A37"/>
                          </a:solidFill>
                          <a:latin typeface="Frutiger LT Std 45 Light"/>
                          <a:ea typeface="Frutiger LT Std 45 Light"/>
                        </a:rPr>
                        <a:t>sketch</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L2</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platform/base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every bundle — shared dependency</a:t>
                      </a:r>
                    </a:p>
                  </a:txBody>
                  <a:tcPr marL="91440" marR="91440" marT="45720" marB="45720" anchor="ctr">
                    <a:lnL>
                      <a:noFill/>
                    </a:lnL>
                    <a:lnR>
                      <a:noFill/>
                    </a:lnR>
                    <a:lnT>
                      <a:noFill/>
                    </a:lnT>
                    <a:lnB w="12700">
                      <a:solidFill>
                        <a:srgbClr val="DCDCD6"/>
                      </a:solidFill>
                    </a:lnB>
                    <a:solidFill>
                      <a:srgbClr val="FFFFFF"/>
                    </a:solidFill>
                  </a:tcPr>
                </a:tc>
              </a:tr>
              <a:tr h="404851">
                <a:tc>
                  <a:txBody>
                    <a:bodyPr wrap="square" rtlCol="0" anchor="ctr"/>
                    <a:lstStyle/>
                    <a:p>
                      <a:pPr algn="l"/>
                      <a:r>
                        <a:rPr lang="en-US" sz="1100" noProof="1">
                          <a:solidFill>
                            <a:srgbClr val="3A3A37"/>
                          </a:solidFill>
                          <a:latin typeface="Frutiger LT Std 45 Light"/>
                          <a:ea typeface="Frutiger LT Std 45 Light"/>
                        </a:rPr>
                        <a:t>sketch-constitution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preset</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L2</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platform/presets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every bundle</a:t>
                      </a:r>
                    </a:p>
                  </a:txBody>
                  <a:tcPr marL="91440" marR="91440" marT="45720" marB="45720" anchor="ctr">
                    <a:lnL>
                      <a:noFill/>
                    </a:lnL>
                    <a:lnR>
                      <a:noFill/>
                    </a:lnR>
                    <a:lnT>
                      <a:noFill/>
                    </a:lnT>
                    <a:lnB w="12700">
                      <a:solidFill>
                        <a:srgbClr val="DCDCD6"/>
                      </a:solidFill>
                    </a:lnB>
                    <a:solidFill>
                      <a:srgbClr val="F4F4F2"/>
                    </a:solidFill>
                  </a:tcPr>
                </a:tc>
              </a:tr>
              <a:tr h="404851">
                <a:tc>
                  <a:txBody>
                    <a:bodyPr wrap="square" rtlCol="0" anchor="ctr"/>
                    <a:lstStyle/>
                    <a:p>
                      <a:pPr algn="l"/>
                      <a:r>
                        <a:rPr lang="en-US" sz="1100" noProof="1">
                          <a:solidFill>
                            <a:srgbClr val="3A3A37"/>
                          </a:solidFill>
                          <a:latin typeface="Frutiger LT Std 45 Light"/>
                          <a:ea typeface="Frutiger LT Std 45 Light"/>
                        </a:rPr>
                        <a:t>sketch-reviewer</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preset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L4</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platform/presets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optional, added per engagement</a:t>
                      </a:r>
                    </a:p>
                  </a:txBody>
                  <a:tcPr marL="91440" marR="91440" marT="45720" marB="45720" anchor="ctr">
                    <a:lnL>
                      <a:noFill/>
                    </a:lnL>
                    <a:lnR>
                      <a:noFill/>
                    </a:lnR>
                    <a:lnT>
                      <a:noFill/>
                    </a:lnT>
                    <a:lnB w="12700">
                      <a:solidFill>
                        <a:srgbClr val="DCDCD6"/>
                      </a:solidFill>
                    </a:lnB>
                    <a:solidFill>
                      <a:srgbClr val="FFFFFF"/>
                    </a:solidFill>
                  </a:tcPr>
                </a:tc>
              </a:tr>
              <a:tr h="404851">
                <a:tc>
                  <a:txBody>
                    <a:bodyPr wrap="square" rtlCol="0" anchor="ctr"/>
                    <a:lstStyle/>
                    <a:p>
                      <a:pPr algn="l"/>
                      <a:r>
                        <a:rPr lang="en-US" sz="1100" noProof="1">
                          <a:solidFill>
                            <a:srgbClr val="3A3A37"/>
                          </a:solidFill>
                          <a:latin typeface="Frutiger LT Std 45 Light"/>
                          <a:ea typeface="Frutiger LT Std 45 Light"/>
                        </a:rPr>
                        <a:t>skt-fullstack · skt-brownfield · skt-datasci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platform/extensions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the matching workload bundle</a:t>
                      </a:r>
                    </a:p>
                  </a:txBody>
                  <a:tcPr marL="91440" marR="91440" marT="45720" marB="45720" anchor="ctr">
                    <a:lnL>
                      <a:noFill/>
                    </a:lnL>
                    <a:lnR>
                      <a:noFill/>
                    </a:lnR>
                    <a:lnT>
                      <a:noFill/>
                    </a:lnT>
                    <a:lnB w="12700">
                      <a:solidFill>
                        <a:srgbClr val="DCDCD6"/>
                      </a:solidFill>
                    </a:lnB>
                    <a:solidFill>
                      <a:srgbClr val="F4F4F2"/>
                    </a:solidFill>
                  </a:tcPr>
                </a:tc>
              </a:tr>
              <a:tr h="404851">
                <a:tc>
                  <a:txBody>
                    <a:bodyPr wrap="square" rtlCol="0" anchor="ctr"/>
                    <a:lstStyle/>
                    <a:p>
                      <a:pPr algn="l"/>
                      <a:r>
                        <a:rPr lang="en-US" sz="1100" noProof="1">
                          <a:solidFill>
                            <a:srgbClr val="3A3A37"/>
                          </a:solidFill>
                          <a:latin typeface="Frutiger LT Std 45 Light"/>
                          <a:ea typeface="Frutiger LT Std 45 Light"/>
                        </a:rPr>
                        <a:t>skt-pdfx · skt-spark</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L3/X</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platform/extensions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several bundles — cross-cutting</a:t>
                      </a:r>
                    </a:p>
                  </a:txBody>
                  <a:tcPr marL="91440" marR="91440" marT="45720" marB="45720" anchor="ctr">
                    <a:lnL>
                      <a:noFill/>
                    </a:lnL>
                    <a:lnR>
                      <a:noFill/>
                    </a:lnR>
                    <a:lnT>
                      <a:noFill/>
                    </a:lnT>
                    <a:lnB w="12700">
                      <a:solidFill>
                        <a:srgbClr val="DCDCD6"/>
                      </a:solidFill>
                    </a:lnB>
                    <a:solidFill>
                      <a:srgbClr val="FFFFFF"/>
                    </a:solidFill>
                  </a:tcPr>
                </a:tc>
              </a:tr>
              <a:tr h="404851">
                <a:tc>
                  <a:txBody>
                    <a:bodyPr wrap="square" rtlCol="0" anchor="ctr"/>
                    <a:lstStyle/>
                    <a:p>
                      <a:pPr algn="l"/>
                      <a:r>
                        <a:rPr lang="en-US" sz="1100" noProof="1">
                          <a:solidFill>
                            <a:srgbClr val="3A3A37"/>
                          </a:solidFill>
                          <a:latin typeface="Frutiger LT Std 45 Light"/>
                          <a:ea typeface="Frutiger LT Std 45 Light"/>
                        </a:rPr>
                        <a:t>skt-kyc</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domains/wealth-management/extensions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sketch-client-kyc</a:t>
                      </a:r>
                    </a:p>
                  </a:txBody>
                  <a:tcPr marL="91440" marR="91440" marT="45720" marB="45720" anchor="ctr">
                    <a:lnL>
                      <a:noFill/>
                    </a:lnL>
                    <a:lnR>
                      <a:noFill/>
                    </a:lnR>
                    <a:lnT>
                      <a:noFill/>
                    </a:lnT>
                    <a:lnB w="12700">
                      <a:solidFill>
                        <a:srgbClr val="DCDCD6"/>
                      </a:solidFill>
                    </a:lnB>
                    <a:solidFill>
                      <a:srgbClr val="F4F4F2"/>
                    </a:solidFill>
                  </a:tcPr>
                </a:tc>
              </a:tr>
              <a:tr h="404851">
                <a:tc>
                  <a:txBody>
                    <a:bodyPr wrap="square" rtlCol="0" anchor="ctr"/>
                    <a:lstStyle/>
                    <a:p>
                      <a:pPr algn="l"/>
                      <a:r>
                        <a:rPr lang="en-US" sz="1100" noProof="1">
                          <a:solidFill>
                            <a:srgbClr val="3A3A37"/>
                          </a:solidFill>
                          <a:latin typeface="Frutiger LT Std 45 Light"/>
                          <a:ea typeface="Frutiger LT Std 45 Light"/>
                        </a:rPr>
                        <a:t>skt-cpresearch</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L3</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domains/investment-banking/extensions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sketch-counterparty</a:t>
                      </a:r>
                    </a:p>
                  </a:txBody>
                  <a:tcPr marL="91440" marR="91440" marT="45720" marB="45720" anchor="ctr">
                    <a:lnL>
                      <a:noFill/>
                    </a:lnL>
                    <a:lnR>
                      <a:noFill/>
                    </a:lnR>
                    <a:lnT>
                      <a:noFill/>
                    </a:lnT>
                    <a:lnB w="12700">
                      <a:solidFill>
                        <a:srgbClr val="DCDCD6"/>
                      </a:solidFill>
                    </a:lnB>
                    <a:solidFill>
                      <a:srgbClr val="FFFFFF"/>
                    </a:solidFill>
                  </a:tcPr>
                </a:tc>
              </a:tr>
              <a:tr h="404851">
                <a:tc>
                  <a:txBody>
                    <a:bodyPr wrap="square" rtlCol="0" anchor="ctr"/>
                    <a:lstStyle/>
                    <a:p>
                      <a:pPr algn="l"/>
                      <a:r>
                        <a:rPr lang="en-US" sz="1100" noProof="1">
                          <a:solidFill>
                            <a:srgbClr val="3A3A37"/>
                          </a:solidFill>
                          <a:latin typeface="Frutiger LT Std 45 Light"/>
                          <a:ea typeface="Frutiger LT Std 45 Light"/>
                        </a:rPr>
                        <a:t>skt-riskrep</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domains/group-risk/extensions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sketch-riskreporting</a:t>
                      </a:r>
                    </a:p>
                  </a:txBody>
                  <a:tcPr marL="91440" marR="91440" marT="45720" marB="45720" anchor="ctr">
                    <a:lnL>
                      <a:noFill/>
                    </a:lnL>
                    <a:lnR>
                      <a:noFill/>
                    </a:lnR>
                    <a:lnT>
                      <a:noFill/>
                    </a:lnT>
                    <a:lnB w="12700">
                      <a:solidFill>
                        <a:srgbClr val="DCDCD6"/>
                      </a:solidFill>
                    </a:lnB>
                    <a:solidFill>
                      <a:srgbClr val="F4F4F2"/>
                    </a:solidFill>
                  </a:tcPr>
                </a:tc>
              </a:tr>
              <a:tr h="400761">
                <a:tc>
                  <a:txBody>
                    <a:bodyPr wrap="square" rtlCol="0" anchor="ctr"/>
                    <a:lstStyle/>
                    <a:p>
                      <a:pPr algn="l"/>
                      <a:r>
                        <a:rPr lang="en-US" sz="1100" noProof="1">
                          <a:solidFill>
                            <a:srgbClr val="3A3A37"/>
                          </a:solidFill>
                          <a:latin typeface="Frutiger LT Std 45 Light"/>
                          <a:ea typeface="Frutiger LT Std 45 Light"/>
                        </a:rPr>
                        <a:t>skt-finclose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extension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L3</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domains/group-finance/extensions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sketch-finance-close</a:t>
                      </a:r>
                    </a:p>
                  </a:txBody>
                  <a:tcPr marL="91440" marR="91440" marT="45720" marB="45720" anchor="ctr">
                    <a:lnL>
                      <a:noFill/>
                    </a:lnL>
                    <a:lnR>
                      <a:noFill/>
                    </a:lnR>
                    <a:lnT>
                      <a:noFill/>
                    </a:lnT>
                    <a:lnB w="12700">
                      <a:solidFill>
                        <a:srgbClr val="DCDCD6"/>
                      </a:solidFill>
                    </a:lnB>
                    <a:solidFill>
                      <a:srgbClr val="FFFFFF"/>
                    </a:solidFill>
                  </a:tcPr>
                </a:tc>
              </a:tr>
            </a:tbl>
          </a:graphicData>
        </a:graphic>
      </p:graphicFrame>
      <p:sp>
        <p:nvSpPr>
          <p:cNvPr id="5" name="note"/>
          <p:cNvSpPr txBox="1"/>
          <p:nvPr/>
        </p:nvSpPr>
        <p:spPr>
          <a:xfrm>
            <a:off x="711200" y="5689600"/>
            <a:ext cx="10769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Central repos live under platform/; domain repos under domains/&lt;division&gt;/extensions/.</a:t>
            </a:r>
            <a:endParaRPr lang="en-US" sz="1400" noProof="1"/>
          </a:p>
          <a:p>
            <a:pPr>
              <a:lnSpc>
                <a:spcPct val="150000"/>
              </a:lnSpc>
            </a:pPr>
            <a:r>
              <a:rPr lang="en-US" sz="1150" noProof="1">
                <a:solidFill>
                  <a:srgbClr val="7C7C74"/>
                </a:solidFill>
                <a:latin typeface="Frutiger LT Std 45 Light"/>
                <a:ea typeface="Frutiger LT Std 45 Light"/>
              </a:rPr>
              <a:t>Cross-cutting extensions join several bundles; bundles compose, never fork. A fix ships once; every bundle picks it up on its next version bump.</a:t>
            </a:r>
            <a:endParaRPr lang="en-US" sz="1400" noProof="1"/>
          </a:p>
        </p:txBody>
      </p:sp>
      <p:sp>
        <p:nvSpPr>
          <p:cNvPr id="6" name="footer-rule"/>
          <p:cNvSpPr/>
          <p:nvPr/>
        </p:nvSpPr>
        <p:spPr>
          <a:xfrm>
            <a:off x="711200" y="6451600"/>
            <a:ext cx="10769600" cy="12700"/>
          </a:xfrm>
          <a:prstGeom prst="rect">
            <a:avLst/>
          </a:prstGeom>
          <a:solidFill>
            <a:srgbClr val="232323"/>
          </a:solidFill>
          <a:ln>
            <a:noFill/>
          </a:ln>
        </p:spPr>
      </p:sp>
      <p:sp>
        <p:nvSpPr>
          <p:cNvPr id="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08</a:t>
            </a:r>
            <a:endParaRPr lang="en-US" sz="950" noProof="1"/>
          </a:p>
        </p:txBody>
      </p:sp>
    </p:spTree>
  </p:cSld>
  <p:clrMapOvr>
    <a:masterClrMapping/>
  </p:clrMapOvr>
  <p:transition spd="fast" advClick="1">
    <p:fade/>
  </p:transition>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Naming: short commands, one product family</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n1"/>
          <p:cNvSpPr txBox="1"/>
          <p:nvPr/>
        </p:nvSpPr>
        <p:spPr>
          <a:xfrm>
            <a:off x="711200" y="14478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a:t>
            </a:r>
            <a:endParaRPr lang="en-US" sz="2400" noProof="1"/>
          </a:p>
        </p:txBody>
      </p:sp>
      <p:sp>
        <p:nvSpPr>
          <p:cNvPr id="5" name="r1"/>
          <p:cNvSpPr txBox="1"/>
          <p:nvPr/>
        </p:nvSpPr>
        <p:spPr>
          <a:xfrm>
            <a:off x="1219200" y="1473200"/>
            <a:ext cx="10261600" cy="279400"/>
          </a:xfrm>
          <a:prstGeom prst="rect">
            <a:avLst/>
          </a:prstGeom>
          <a:noFill/>
          <a:ln>
            <a:noFill/>
          </a:ln>
        </p:spPr>
        <p:txBody>
          <a:bodyPr lIns="0" rIns="0" tIns="0" bIns="0" wrap="none" rtlCol="0"/>
          <a:lstStyle/>
          <a:p>
            <a:pPr>
              <a:lnSpc>
                <a:spcPct val="150000"/>
              </a:lnSpc>
            </a:pPr>
            <a:r>
              <a:rPr lang="en-US" sz="1400" noProof="1">
                <a:solidFill>
                  <a:srgbClr val="3A3A37"/>
                </a:solidFill>
                <a:latin typeface="Frutiger LT Std 45 Light"/>
                <a:ea typeface="Frutiger LT Std 45 Light"/>
              </a:rPr>
              <a:t>Extension ids are lowercase kebab-case and kept short — the id is typed in every command.</a:t>
            </a:r>
            <a:endParaRPr lang="en-US" sz="1400" noProof="1"/>
          </a:p>
        </p:txBody>
      </p:sp>
      <p:sp>
        <p:nvSpPr>
          <p:cNvPr id="6" name="n2"/>
          <p:cNvSpPr txBox="1"/>
          <p:nvPr/>
        </p:nvSpPr>
        <p:spPr>
          <a:xfrm>
            <a:off x="711200" y="20066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2</a:t>
            </a:r>
            <a:endParaRPr lang="en-US" sz="2400" noProof="1"/>
          </a:p>
        </p:txBody>
      </p:sp>
      <p:sp>
        <p:nvSpPr>
          <p:cNvPr id="7" name="r2"/>
          <p:cNvSpPr txBox="1"/>
          <p:nvPr/>
        </p:nvSpPr>
        <p:spPr>
          <a:xfrm>
            <a:off x="1219200" y="2032000"/>
            <a:ext cx="10261600" cy="279400"/>
          </a:xfrm>
          <a:prstGeom prst="rect">
            <a:avLst/>
          </a:prstGeom>
          <a:noFill/>
          <a:ln>
            <a:noFill/>
          </a:ln>
        </p:spPr>
        <p:txBody>
          <a:bodyPr lIns="0" rIns="0" tIns="0" bIns="0" wrap="none" rtlCol="0"/>
          <a:lstStyle/>
          <a:p>
            <a:pPr>
              <a:lnSpc>
                <a:spcPct val="150000"/>
              </a:lnSpc>
            </a:pPr>
            <a:r>
              <a:rPr lang="en-US" sz="1400" noProof="1">
                <a:solidFill>
                  <a:srgbClr val="3A3A37"/>
                </a:solidFill>
                <a:latin typeface="Frutiger LT Std 45 Light"/>
                <a:ea typeface="Frutiger LT Std 45 Light"/>
              </a:rPr>
              <a:t>Layer 2 keeps the product name: id </a:t>
            </a:r>
            <a:r>
              <a:rPr lang="en-US" sz="1250" noProof="1">
                <a:solidFill>
                  <a:srgbClr val="3A3A37"/>
                </a:solidFill>
                <a:latin typeface="Consolas"/>
                <a:ea typeface="Consolas"/>
              </a:rPr>
              <a:t>sketch</a:t>
            </a:r>
            <a:r>
              <a:rPr lang="en-US" sz="1400" noProof="1">
                <a:solidFill>
                  <a:srgbClr val="3A3A37"/>
                </a:solidFill>
                <a:latin typeface="Frutiger LT Std 45 Light"/>
                <a:ea typeface="Frutiger LT Std 45 Light"/>
              </a:rPr>
              <a:t> gives /speckit.sketch.specify — 26 characters.</a:t>
            </a:r>
            <a:endParaRPr lang="en-US" sz="1400" noProof="1"/>
          </a:p>
        </p:txBody>
      </p:sp>
      <p:sp>
        <p:nvSpPr>
          <p:cNvPr id="8" name="n3"/>
          <p:cNvSpPr txBox="1"/>
          <p:nvPr/>
        </p:nvSpPr>
        <p:spPr>
          <a:xfrm>
            <a:off x="711200" y="25654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3</a:t>
            </a:r>
            <a:endParaRPr lang="en-US" sz="2400" noProof="1"/>
          </a:p>
        </p:txBody>
      </p:sp>
      <p:sp>
        <p:nvSpPr>
          <p:cNvPr id="9" name="r3"/>
          <p:cNvSpPr txBox="1"/>
          <p:nvPr/>
        </p:nvSpPr>
        <p:spPr>
          <a:xfrm>
            <a:off x="1219200" y="2590800"/>
            <a:ext cx="10261600" cy="279400"/>
          </a:xfrm>
          <a:prstGeom prst="rect">
            <a:avLst/>
          </a:prstGeom>
          <a:noFill/>
          <a:ln>
            <a:noFill/>
          </a:ln>
        </p:spPr>
        <p:txBody>
          <a:bodyPr lIns="0" rIns="0" tIns="0" bIns="0" wrap="none" rtlCol="0"/>
          <a:lstStyle/>
          <a:p>
            <a:pPr>
              <a:lnSpc>
                <a:spcPct val="150000"/>
              </a:lnSpc>
            </a:pPr>
            <a:r>
              <a:rPr lang="en-US" sz="1400" noProof="1">
                <a:solidFill>
                  <a:srgbClr val="3A3A37"/>
                </a:solidFill>
                <a:latin typeface="Frutiger LT Std 45 Light"/>
                <a:ea typeface="Frutiger LT Std 45 Light"/>
              </a:rPr>
              <a:t>Layer 3 ids carry the family prefix: </a:t>
            </a:r>
            <a:r>
              <a:rPr lang="en-US" sz="1250" noProof="1">
                <a:solidFill>
                  <a:srgbClr val="3A3A37"/>
                </a:solidFill>
                <a:latin typeface="Consolas"/>
                <a:ea typeface="Consolas"/>
              </a:rPr>
              <a:t>skt-kyc</a:t>
            </a:r>
            <a:r>
              <a:rPr lang="en-US" sz="1400" noProof="1">
                <a:solidFill>
                  <a:srgbClr val="3A3A37"/>
                </a:solidFill>
                <a:latin typeface="Frutiger LT Std 45 Light"/>
                <a:ea typeface="Frutiger LT Std 45 Light"/>
              </a:rPr>
              <a:t>, </a:t>
            </a:r>
            <a:r>
              <a:rPr lang="en-US" sz="1250" noProof="1">
                <a:solidFill>
                  <a:srgbClr val="3A3A37"/>
                </a:solidFill>
                <a:latin typeface="Consolas"/>
                <a:ea typeface="Consolas"/>
              </a:rPr>
              <a:t>skt-pdfx</a:t>
            </a:r>
            <a:r>
              <a:rPr lang="en-US" sz="1400" noProof="1">
                <a:solidFill>
                  <a:srgbClr val="3A3A37"/>
                </a:solidFill>
                <a:latin typeface="Frutiger LT Std 45 Light"/>
                <a:ea typeface="Frutiger LT Std 45 Light"/>
              </a:rPr>
              <a:t> — one glance says it is Sketch.</a:t>
            </a:r>
            <a:endParaRPr lang="en-US" sz="1400" noProof="1"/>
          </a:p>
        </p:txBody>
      </p:sp>
      <p:sp>
        <p:nvSpPr>
          <p:cNvPr id="10" name="n4"/>
          <p:cNvSpPr txBox="1"/>
          <p:nvPr/>
        </p:nvSpPr>
        <p:spPr>
          <a:xfrm>
            <a:off x="711200" y="31242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4</a:t>
            </a:r>
            <a:endParaRPr lang="en-US" sz="2400" noProof="1"/>
          </a:p>
        </p:txBody>
      </p:sp>
      <p:sp>
        <p:nvSpPr>
          <p:cNvPr id="11" name="r4"/>
          <p:cNvSpPr txBox="1"/>
          <p:nvPr/>
        </p:nvSpPr>
        <p:spPr>
          <a:xfrm>
            <a:off x="1219200" y="3149600"/>
            <a:ext cx="10261600" cy="279400"/>
          </a:xfrm>
          <a:prstGeom prst="rect">
            <a:avLst/>
          </a:prstGeom>
          <a:noFill/>
          <a:ln>
            <a:noFill/>
          </a:ln>
        </p:spPr>
        <p:txBody>
          <a:bodyPr lIns="0" rIns="0" tIns="0" bIns="0" wrap="none" rtlCol="0"/>
          <a:lstStyle/>
          <a:p>
            <a:pPr>
              <a:lnSpc>
                <a:spcPct val="150000"/>
              </a:lnSpc>
            </a:pPr>
            <a:r>
              <a:rPr lang="en-US" sz="1400" noProof="1">
                <a:solidFill>
                  <a:srgbClr val="3A3A37"/>
                </a:solidFill>
                <a:latin typeface="Frutiger LT Std 45 Light"/>
                <a:ea typeface="Frutiger LT Std 45 Light"/>
              </a:rPr>
              <a:t>Command names are short verbs; skills-mode agents hyphenate: /speckit-skt-kyc-screen.</a:t>
            </a:r>
            <a:endParaRPr lang="en-US" sz="1400" noProof="1"/>
          </a:p>
        </p:txBody>
      </p:sp>
      <p:graphicFrame>
        <p:nvGraphicFramePr>
          <p:cNvPr id="12" name="naming-table"/>
          <p:cNvGraphicFramePr>
            <a:graphicFrameLocks noGrp="1"/>
          </p:cNvGraphicFramePr>
          <p:nvPr/>
        </p:nvGraphicFramePr>
        <p:xfrm>
          <a:off x="711200" y="3708400"/>
          <a:ext cx="10769600" cy="2184400"/>
        </p:xfrm>
        <a:graphic>
          <a:graphicData uri="http://schemas.openxmlformats.org/drawingml/2006/table">
            <a:tbl>
              <a:tblPr/>
              <a:tblGrid>
                <a:gridCol w="3446272"/>
                <a:gridCol w="2153920"/>
                <a:gridCol w="5169408"/>
              </a:tblGrid>
              <a:tr h="327660">
                <a:tc>
                  <a:txBody>
                    <a:bodyPr wrap="square" rtlCol="0" anchor="ctr"/>
                    <a:lstStyle/>
                    <a:p>
                      <a:pPr algn="l"/>
                      <a:r>
                        <a:rPr lang="en-US" sz="1100" noProof="1" b="1">
                          <a:solidFill>
                            <a:srgbClr val="FFFFFF"/>
                          </a:solidFill>
                          <a:latin typeface="Frutiger LT Std 45 Light"/>
                          <a:ea typeface="Frutiger LT Std 45 Light"/>
                        </a:rPr>
                        <a:t>Command</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Layer</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Purpose</a:t>
                      </a:r>
                    </a:p>
                  </a:txBody>
                  <a:tcPr marL="91440" marR="91440" marT="45720" marB="45720" anchor="ctr">
                    <a:lnL>
                      <a:noFill/>
                    </a:lnL>
                    <a:lnR>
                      <a:noFill/>
                    </a:lnR>
                    <a:lnT>
                      <a:noFill/>
                    </a:lnT>
                    <a:lnB w="12700">
                      <a:solidFill>
                        <a:srgbClr val="DCDCD6"/>
                      </a:solidFill>
                    </a:lnB>
                    <a:solidFill>
                      <a:srgbClr val="6E6E68"/>
                    </a:solidFill>
                  </a:tcPr>
                </a:tc>
              </a:tr>
              <a:tr h="371348">
                <a:tc>
                  <a:txBody>
                    <a:bodyPr wrap="square" rtlCol="0" anchor="ctr"/>
                    <a:lstStyle/>
                    <a:p>
                      <a:pPr algn="l"/>
                      <a:r>
                        <a:rPr lang="en-US" sz="1100" noProof="1">
                          <a:solidFill>
                            <a:srgbClr val="3A3A37"/>
                          </a:solidFill>
                          <a:latin typeface="Consolas"/>
                          <a:ea typeface="Consolas"/>
                        </a:rPr>
                        <a:t>/speckit.sketch.specify</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Bank-detailed spec authoring, three depths, two tracks</a:t>
                      </a:r>
                    </a:p>
                  </a:txBody>
                  <a:tcPr marL="91440" marR="91440" marT="45720" marB="45720" anchor="ctr">
                    <a:lnL>
                      <a:noFill/>
                    </a:lnL>
                    <a:lnR>
                      <a:noFill/>
                    </a:lnR>
                    <a:lnT>
                      <a:noFill/>
                    </a:lnT>
                    <a:lnB w="12700">
                      <a:solidFill>
                        <a:srgbClr val="DCDCD6"/>
                      </a:solidFill>
                    </a:lnB>
                    <a:solidFill>
                      <a:srgbClr val="FFFFFF"/>
                    </a:solidFill>
                  </a:tcPr>
                </a:tc>
              </a:tr>
              <a:tr h="371348">
                <a:tc>
                  <a:txBody>
                    <a:bodyPr wrap="square" rtlCol="0" anchor="ctr"/>
                    <a:lstStyle/>
                    <a:p>
                      <a:pPr algn="l"/>
                      <a:r>
                        <a:rPr lang="en-US" sz="1100" noProof="1">
                          <a:solidFill>
                            <a:srgbClr val="3A3A37"/>
                          </a:solidFill>
                          <a:latin typeface="Consolas"/>
                          <a:ea typeface="Consolas"/>
                        </a:rPr>
                        <a:t>/speckit.sketch.mer-check</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MER policy eval on spec.md, plan.md, tasks.md per phase</a:t>
                      </a:r>
                    </a:p>
                  </a:txBody>
                  <a:tcPr marL="91440" marR="91440" marT="45720" marB="45720" anchor="ctr">
                    <a:lnL>
                      <a:noFill/>
                    </a:lnL>
                    <a:lnR>
                      <a:noFill/>
                    </a:lnR>
                    <a:lnT>
                      <a:noFill/>
                    </a:lnT>
                    <a:lnB w="12700">
                      <a:solidFill>
                        <a:srgbClr val="DCDCD6"/>
                      </a:solidFill>
                    </a:lnB>
                    <a:solidFill>
                      <a:srgbClr val="F4F4F2"/>
                    </a:solidFill>
                  </a:tcPr>
                </a:tc>
              </a:tr>
              <a:tr h="371348">
                <a:tc>
                  <a:txBody>
                    <a:bodyPr wrap="square" rtlCol="0" anchor="ctr"/>
                    <a:lstStyle/>
                    <a:p>
                      <a:pPr algn="l"/>
                      <a:r>
                        <a:rPr lang="en-US" sz="1100" noProof="1">
                          <a:solidFill>
                            <a:srgbClr val="3A3A37"/>
                          </a:solidFill>
                          <a:latin typeface="Consolas"/>
                          <a:ea typeface="Consolas"/>
                        </a:rPr>
                        <a:t>/speckit.skt-fs.scaffold</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L3 workload</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Full-stack project scaffolding</a:t>
                      </a:r>
                    </a:p>
                  </a:txBody>
                  <a:tcPr marL="91440" marR="91440" marT="45720" marB="45720" anchor="ctr">
                    <a:lnL>
                      <a:noFill/>
                    </a:lnL>
                    <a:lnR>
                      <a:noFill/>
                    </a:lnR>
                    <a:lnT>
                      <a:noFill/>
                    </a:lnT>
                    <a:lnB w="12700">
                      <a:solidFill>
                        <a:srgbClr val="DCDCD6"/>
                      </a:solidFill>
                    </a:lnB>
                    <a:solidFill>
                      <a:srgbClr val="FFFFFF"/>
                    </a:solidFill>
                  </a:tcPr>
                </a:tc>
              </a:tr>
              <a:tr h="371348">
                <a:tc>
                  <a:txBody>
                    <a:bodyPr wrap="square" rtlCol="0" anchor="ctr"/>
                    <a:lstStyle/>
                    <a:p>
                      <a:pPr algn="l"/>
                      <a:r>
                        <a:rPr lang="en-US" sz="1100" noProof="1">
                          <a:solidFill>
                            <a:srgbClr val="3A3A37"/>
                          </a:solidFill>
                          <a:latin typeface="Consolas"/>
                          <a:ea typeface="Consolas"/>
                        </a:rPr>
                        <a:t>/speckit.skt-kyc.screen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L3 domain</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KYC document screening and gap detection</a:t>
                      </a:r>
                    </a:p>
                  </a:txBody>
                  <a:tcPr marL="91440" marR="91440" marT="45720" marB="45720" anchor="ctr">
                    <a:lnL>
                      <a:noFill/>
                    </a:lnL>
                    <a:lnR>
                      <a:noFill/>
                    </a:lnR>
                    <a:lnT>
                      <a:noFill/>
                    </a:lnT>
                    <a:lnB w="12700">
                      <a:solidFill>
                        <a:srgbClr val="DCDCD6"/>
                      </a:solidFill>
                    </a:lnB>
                    <a:solidFill>
                      <a:srgbClr val="F4F4F2"/>
                    </a:solidFill>
                  </a:tcPr>
                </a:tc>
              </a:tr>
              <a:tr h="371348">
                <a:tc>
                  <a:txBody>
                    <a:bodyPr wrap="square" rtlCol="0" anchor="ctr"/>
                    <a:lstStyle/>
                    <a:p>
                      <a:pPr algn="l"/>
                      <a:r>
                        <a:rPr lang="en-US" sz="1100" noProof="1">
                          <a:solidFill>
                            <a:srgbClr val="3A3A37"/>
                          </a:solidFill>
                          <a:latin typeface="Consolas"/>
                          <a:ea typeface="Consolas"/>
                        </a:rPr>
                        <a:t>/speckit.skt-pdfx.extract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L3 cross-cutting</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Regulated PDF extraction with evidence trail</a:t>
                      </a:r>
                    </a:p>
                  </a:txBody>
                  <a:tcPr marL="91440" marR="91440" marT="45720" marB="45720" anchor="ctr">
                    <a:lnL>
                      <a:noFill/>
                    </a:lnL>
                    <a:lnR>
                      <a:noFill/>
                    </a:lnR>
                    <a:lnT>
                      <a:noFill/>
                    </a:lnT>
                    <a:lnB w="12700">
                      <a:solidFill>
                        <a:srgbClr val="DCDCD6"/>
                      </a:solidFill>
                    </a:lnB>
                    <a:solidFill>
                      <a:srgbClr val="FFFFFF"/>
                    </a:solidFill>
                  </a:tcPr>
                </a:tc>
              </a:tr>
            </a:tbl>
          </a:graphicData>
        </a:graphic>
      </p:graphicFrame>
      <p:sp>
        <p:nvSpPr>
          <p:cNvPr id="13" name="note"/>
          <p:cNvSpPr txBox="1"/>
          <p:nvPr/>
        </p:nvSpPr>
        <p:spPr>
          <a:xfrm>
            <a:off x="711200" y="5994400"/>
            <a:ext cx="10769600" cy="304800"/>
          </a:xfrm>
          <a:prstGeom prst="rect">
            <a:avLst/>
          </a:prstGeom>
          <a:noFill/>
          <a:ln>
            <a:noFill/>
          </a:ln>
        </p:spPr>
        <p:txBody>
          <a:bodyPr lIns="0" rIns="0" tIns="0" bIns="0" wrap="none" rtlCol="0"/>
          <a:lstStyle/>
          <a:p>
            <a:pPr>
              <a:lnSpc>
                <a:spcPct val="145000"/>
              </a:lnSpc>
            </a:pPr>
            <a:r>
              <a:rPr lang="en-US" sz="1150" noProof="1">
                <a:solidFill>
                  <a:srgbClr val="7C7C74"/>
                </a:solidFill>
                <a:latin typeface="Frutiger LT Std 45 Light"/>
                <a:ea typeface="Frutiger LT Std 45 Light"/>
              </a:rPr>
              <a:t>skt-* keeps every L3 command under ~30 characters; an id like sketch-fullstack would push past 38. The skt- prefix is reserved in the catalog.</a:t>
            </a:r>
            <a:endParaRPr lang="en-US" sz="1150" noProof="1"/>
          </a:p>
        </p:txBody>
      </p:sp>
      <p:sp>
        <p:nvSpPr>
          <p:cNvPr id="14" name="footer-rule"/>
          <p:cNvSpPr/>
          <p:nvPr/>
        </p:nvSpPr>
        <p:spPr>
          <a:xfrm>
            <a:off x="711200" y="6451600"/>
            <a:ext cx="10769600" cy="12700"/>
          </a:xfrm>
          <a:prstGeom prst="rect">
            <a:avLst/>
          </a:prstGeom>
          <a:solidFill>
            <a:srgbClr val="232323"/>
          </a:solidFill>
          <a:ln>
            <a:noFill/>
          </a:ln>
        </p:spPr>
      </p:sp>
      <p:sp>
        <p:nvSpPr>
          <p:cNvPr id="15"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09</a:t>
            </a:r>
            <a:endParaRPr lang="en-US" sz="950" noProof="1"/>
          </a:p>
        </p:txBody>
      </p:sp>
    </p:spTree>
  </p:cSld>
  <p:clrMapOvr>
    <a:masterClrMapping/>
  </p:clrMapOvr>
  <p:transition spd="fast" advClick="1">
    <p:fade/>
  </p:transition>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catalog.yml is the control plane</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code-panel"/>
          <p:cNvSpPr/>
          <p:nvPr/>
        </p:nvSpPr>
        <p:spPr>
          <a:xfrm>
            <a:off x="711200" y="1473200"/>
            <a:ext cx="6731000" cy="4572000"/>
          </a:xfrm>
          <a:prstGeom prst="rect">
            <a:avLst/>
          </a:prstGeom>
          <a:solidFill>
            <a:srgbClr val="F4F4F2"/>
          </a:solidFill>
          <a:ln>
            <a:noFill/>
          </a:ln>
        </p:spPr>
      </p:sp>
      <p:sp>
        <p:nvSpPr>
          <p:cNvPr id="5" name="code-text"/>
          <p:cNvSpPr txBox="1"/>
          <p:nvPr/>
        </p:nvSpPr>
        <p:spPr>
          <a:xfrm>
            <a:off x="889000" y="1625600"/>
            <a:ext cx="6375400" cy="4318000"/>
          </a:xfrm>
          <a:prstGeom prst="rect">
            <a:avLst/>
          </a:prstGeom>
          <a:noFill/>
          <a:ln>
            <a:noFill/>
          </a:ln>
        </p:spPr>
        <p:txBody>
          <a:bodyPr lIns="0" rIns="0" tIns="0" bIns="0" wrap="square" rtlCol="0"/>
          <a:lstStyle/>
          <a:p>
            <a:pPr>
              <a:lnSpc>
                <a:spcPct val="142000"/>
              </a:lnSpc>
            </a:pPr>
            <a:r>
              <a:rPr lang="en-US" sz="1000" noProof="1">
                <a:solidFill>
                  <a:srgbClr val="3A3A37"/>
                </a:solidFill>
                <a:latin typeface="Consolas"/>
                <a:ea typeface="Consolas"/>
              </a:rPr>
              <a:t>schema_version: "1.0"
catalog: { id: sketch-org, updated_at: "2026-08-01" }
extensions:
  sketch:
    version: "2.0.0"      repo: platform/base/sketch
    layer: L2             provides: { commands: 3 }
    category: process     effect: read-write
  skt-kyc:
    version: "0.9.1"      repo: domains/wealth-management/extensions/skt-kyc
    layer: L3             provides: { commands: 4 }
bundles:
  sketch-client-kyc:
    version: "1.2.0"      repo: domains/wealth-management/bundles/sketch-client-kyc
    components:
      - { type: extension, id: sketch,  version: "2.0.0" }
      - { type: extension, id: skt-kyc,  version: "0.9.1" }
      - { type: extension, id: skt-pdfx, version: "1.4.0" }
      - { type: preset, id: sketch-constitution, version: "1.1.0" }</a:t>
            </a:r>
            <a:endParaRPr lang="en-US" sz="1000" noProof="1"/>
          </a:p>
        </p:txBody>
      </p:sp>
      <p:sp>
        <p:nvSpPr>
          <p:cNvPr id="6" name="c1n"/>
          <p:cNvSpPr txBox="1"/>
          <p:nvPr/>
        </p:nvSpPr>
        <p:spPr>
          <a:xfrm>
            <a:off x="7772400" y="1600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1</a:t>
            </a:r>
            <a:endParaRPr lang="en-US" sz="1800" noProof="1"/>
          </a:p>
        </p:txBody>
      </p:sp>
      <p:sp>
        <p:nvSpPr>
          <p:cNvPr id="7" name="c1t"/>
          <p:cNvSpPr txBox="1"/>
          <p:nvPr/>
        </p:nvSpPr>
        <p:spPr>
          <a:xfrm>
            <a:off x="8128000" y="1625600"/>
            <a:ext cx="3352800" cy="812800"/>
          </a:xfrm>
          <a:prstGeom prst="rect">
            <a:avLst/>
          </a:prstGeom>
          <a:noFill/>
          <a:ln>
            <a:noFill/>
          </a:ln>
        </p:spPr>
        <p:txBody>
          <a:bodyPr lIns="0" rIns="0" tIns="0" bIns="0" wrap="square" rtlCol="0"/>
          <a:lstStyle/>
          <a:p>
            <a:pPr>
              <a:lnSpc>
                <a:spcPct val="140000"/>
              </a:lnSpc>
            </a:pPr>
            <a:r>
              <a:rPr lang="en-US" sz="1100" noProof="1">
                <a:solidFill>
                  <a:srgbClr val="3A3A37"/>
                </a:solidFill>
                <a:latin typeface="Frutiger LT Std 45 Light"/>
                <a:ea typeface="Frutiger LT Std 45 Light"/>
              </a:rPr>
              <a:t>Every installable unit — extension, preset, bundle — is a catalog entry with repo, version and layer.</a:t>
            </a:r>
            <a:endParaRPr lang="en-US" sz="1100" noProof="1"/>
          </a:p>
        </p:txBody>
      </p:sp>
      <p:sp>
        <p:nvSpPr>
          <p:cNvPr id="8" name="c2n"/>
          <p:cNvSpPr txBox="1"/>
          <p:nvPr/>
        </p:nvSpPr>
        <p:spPr>
          <a:xfrm>
            <a:off x="7772400" y="2870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2</a:t>
            </a:r>
            <a:endParaRPr lang="en-US" sz="1800" noProof="1"/>
          </a:p>
        </p:txBody>
      </p:sp>
      <p:sp>
        <p:nvSpPr>
          <p:cNvPr id="9" name="c2t"/>
          <p:cNvSpPr txBox="1"/>
          <p:nvPr/>
        </p:nvSpPr>
        <p:spPr>
          <a:xfrm>
            <a:off x="8128000" y="2895600"/>
            <a:ext cx="3352800" cy="812800"/>
          </a:xfrm>
          <a:prstGeom prst="rect">
            <a:avLst/>
          </a:prstGeom>
          <a:noFill/>
          <a:ln>
            <a:noFill/>
          </a:ln>
        </p:spPr>
        <p:txBody>
          <a:bodyPr lIns="0" rIns="0" tIns="0" bIns="0" wrap="square" rtlCol="0"/>
          <a:lstStyle/>
          <a:p>
            <a:pPr>
              <a:lnSpc>
                <a:spcPct val="140000"/>
              </a:lnSpc>
            </a:pPr>
            <a:r>
              <a:rPr lang="en-US" sz="1100" noProof="1">
                <a:solidFill>
                  <a:srgbClr val="3A3A37"/>
                </a:solidFill>
                <a:latin typeface="Frutiger LT Std 45 Light"/>
                <a:ea typeface="Frutiger LT Std 45 Light"/>
              </a:rPr>
              <a:t>category and effect mirror the upstream schema, so security scanning and review routing can key off them.</a:t>
            </a:r>
            <a:endParaRPr lang="en-US" sz="1100" noProof="1"/>
          </a:p>
        </p:txBody>
      </p:sp>
      <p:sp>
        <p:nvSpPr>
          <p:cNvPr id="10" name="c3n"/>
          <p:cNvSpPr txBox="1"/>
          <p:nvPr/>
        </p:nvSpPr>
        <p:spPr>
          <a:xfrm>
            <a:off x="7772400" y="4140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3</a:t>
            </a:r>
            <a:endParaRPr lang="en-US" sz="1800" noProof="1"/>
          </a:p>
        </p:txBody>
      </p:sp>
      <p:sp>
        <p:nvSpPr>
          <p:cNvPr id="11" name="c3t"/>
          <p:cNvSpPr txBox="1"/>
          <p:nvPr/>
        </p:nvSpPr>
        <p:spPr>
          <a:xfrm>
            <a:off x="8128000" y="4165600"/>
            <a:ext cx="3352800" cy="1016000"/>
          </a:xfrm>
          <a:prstGeom prst="rect">
            <a:avLst/>
          </a:prstGeom>
          <a:noFill/>
          <a:ln>
            <a:noFill/>
          </a:ln>
        </p:spPr>
        <p:txBody>
          <a:bodyPr lIns="0" rIns="0" tIns="0" bIns="0" wrap="square" rtlCol="0"/>
          <a:lstStyle/>
          <a:p>
            <a:pPr>
              <a:lnSpc>
                <a:spcPct val="140000"/>
              </a:lnSpc>
            </a:pPr>
            <a:r>
              <a:rPr lang="en-US" sz="1100" noProof="1">
                <a:solidFill>
                  <a:srgbClr val="3A3A37"/>
                </a:solidFill>
                <a:latin typeface="Frutiger LT Std 45 Light"/>
                <a:ea typeface="Frutiger LT Std 45 Light"/>
              </a:rPr>
              <a:t>catalog.schema.yml validates every merge request. The CLI, pointed here by SPECKIT_CATALOG_URL, only ever sees what CI approved.</a:t>
            </a:r>
            <a:endParaRPr lang="en-US" sz="1100" noProof="1"/>
          </a:p>
        </p:txBody>
      </p:sp>
      <p:sp>
        <p:nvSpPr>
          <p:cNvPr id="12" name="footer-rule"/>
          <p:cNvSpPr/>
          <p:nvPr/>
        </p:nvSpPr>
        <p:spPr>
          <a:xfrm>
            <a:off x="711200" y="6451600"/>
            <a:ext cx="10769600" cy="12700"/>
          </a:xfrm>
          <a:prstGeom prst="rect">
            <a:avLst/>
          </a:prstGeom>
          <a:solidFill>
            <a:srgbClr val="232323"/>
          </a:solidFill>
          <a:ln>
            <a:noFill/>
          </a:ln>
        </p:spPr>
      </p:sp>
      <p:sp>
        <p:nvSpPr>
          <p:cNvPr id="13"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10</a:t>
            </a:r>
            <a:endParaRPr lang="en-US" sz="950" noProof="1"/>
          </a:p>
        </p:txBody>
      </p:sp>
    </p:spTree>
  </p:cSld>
  <p:clrMapOvr>
    <a:masterClrMapping/>
  </p:clrMapOvr>
  <p:transition spd="fast" advClick="1">
    <p:fade/>
  </p:transition>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Promotion: nothing enters the catalog unreviewed</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box1"/>
          <p:cNvSpPr/>
          <p:nvPr/>
        </p:nvSpPr>
        <p:spPr>
          <a:xfrm>
            <a:off x="711200" y="1600200"/>
            <a:ext cx="2336800" cy="812800"/>
          </a:xfrm>
          <a:prstGeom prst="rect">
            <a:avLst/>
          </a:prstGeom>
          <a:solidFill>
            <a:srgbClr val="F2EAD9"/>
          </a:solidFill>
          <a:ln w="12700">
            <a:solidFill>
              <a:srgbClr val="DCDCD6"/>
            </a:solidFill>
          </a:ln>
        </p:spPr>
      </p:sp>
      <p:sp>
        <p:nvSpPr>
          <p:cNvPr id="5" name="box1-text"/>
          <p:cNvSpPr txBox="1"/>
          <p:nvPr/>
        </p:nvSpPr>
        <p:spPr>
          <a:xfrm>
            <a:off x="812800" y="1701800"/>
            <a:ext cx="2133600" cy="609600"/>
          </a:xfrm>
          <a:prstGeom prst="rect">
            <a:avLst/>
          </a:prstGeom>
          <a:noFill/>
          <a:ln>
            <a:noFill/>
          </a:ln>
        </p:spPr>
        <p:txBody>
          <a:bodyPr lIns="0" rIns="0" tIns="0" bIns="0" wrap="square" rtlCol="0"/>
          <a:lstStyle/>
          <a:p>
            <a:pPr>
              <a:lnSpc>
                <a:spcPct val="135000"/>
              </a:lnSpc>
            </a:pPr>
            <a:r>
              <a:rPr lang="en-US" sz="1050" noProof="1" b="1">
                <a:solidFill>
                  <a:srgbClr val="3A3A37"/>
                </a:solidFill>
                <a:latin typeface="Frutiger LT Std 45 Light"/>
                <a:ea typeface="Frutiger LT Std 45 Light"/>
              </a:rPr>
              <a:t>Author MR</a:t>
            </a:r>
            <a:endParaRPr lang="en-US" sz="1050" noProof="1"/>
          </a:p>
          <a:p>
            <a:pPr>
              <a:lnSpc>
                <a:spcPct val="135000"/>
              </a:lnSpc>
            </a:pPr>
            <a:r>
              <a:rPr lang="en-US" sz="1050" noProof="1">
                <a:solidFill>
                  <a:srgbClr val="7C7C74"/>
                </a:solidFill>
                <a:latin typeface="Frutiger LT Std 45 Light"/>
                <a:ea typeface="Frutiger LT Std 45 Light"/>
              </a:rPr>
              <a:t>extension or bundle repo change</a:t>
            </a:r>
            <a:endParaRPr lang="en-US" sz="1050" noProof="1"/>
          </a:p>
        </p:txBody>
      </p:sp>
      <p:sp>
        <p:nvSpPr>
          <p:cNvPr id="6" name="arrow1"/>
          <p:cNvSpPr/>
          <p:nvPr>
            <p:extLst>
              <p:ext uri="{F5677B7D-0D2A-4D9B-9A5C-6D8D7D0E5A5D}">
                <pptd:line encoding="base64url">eyJ2aWV3Qm94IjpbMzAsMTBdLCJwb2ludHMiOiIwLDUgMzAsNSIsImN1cnZlIjoic2hhcnAifQ</pptd:line>
              </p:ext>
            </p:extLst>
          </p:nvPr>
        </p:nvSpPr>
        <p:spPr>
          <a:xfrm>
            <a:off x="3098800" y="1943100"/>
            <a:ext cx="381000" cy="127000"/>
          </a:xfrm>
          <a:custGeom>
            <a:avLst/>
            <a:gdLst/>
            <a:ahLst/>
            <a:cxnLst/>
            <a:rect l="l" t="t" r="r" b="b"/>
            <a:pathLst>
              <a:path w="30" h="10">
                <a:moveTo>
                  <a:pt x="0" y="5"/>
                </a:moveTo>
                <a:lnTo>
                  <a:pt x="30" y="5"/>
                </a:lnTo>
              </a:path>
            </a:pathLst>
          </a:custGeom>
          <a:noFill/>
          <a:ln w="25400">
            <a:solidFill>
              <a:srgbClr val="6E6E68"/>
            </a:solidFill>
            <a:tailEnd type="stealth"/>
          </a:ln>
        </p:spPr>
      </p:sp>
      <p:sp>
        <p:nvSpPr>
          <p:cNvPr id="7" name="box2"/>
          <p:cNvSpPr/>
          <p:nvPr/>
        </p:nvSpPr>
        <p:spPr>
          <a:xfrm>
            <a:off x="3530600" y="1600200"/>
            <a:ext cx="2336800" cy="812800"/>
          </a:xfrm>
          <a:prstGeom prst="rect">
            <a:avLst/>
          </a:prstGeom>
          <a:solidFill>
            <a:srgbClr val="F4F4F2"/>
          </a:solidFill>
          <a:ln w="12700">
            <a:solidFill>
              <a:srgbClr val="DCDCD6"/>
            </a:solidFill>
          </a:ln>
        </p:spPr>
      </p:sp>
      <p:sp>
        <p:nvSpPr>
          <p:cNvPr id="8" name="box2-text"/>
          <p:cNvSpPr txBox="1"/>
          <p:nvPr/>
        </p:nvSpPr>
        <p:spPr>
          <a:xfrm>
            <a:off x="3632200" y="1701800"/>
            <a:ext cx="2133600" cy="609600"/>
          </a:xfrm>
          <a:prstGeom prst="rect">
            <a:avLst/>
          </a:prstGeom>
          <a:noFill/>
          <a:ln>
            <a:noFill/>
          </a:ln>
        </p:spPr>
        <p:txBody>
          <a:bodyPr lIns="0" rIns="0" tIns="0" bIns="0" wrap="square" rtlCol="0"/>
          <a:lstStyle/>
          <a:p>
            <a:pPr>
              <a:lnSpc>
                <a:spcPct val="135000"/>
              </a:lnSpc>
            </a:pPr>
            <a:r>
              <a:rPr lang="en-US" sz="1050" noProof="1" b="1">
                <a:solidFill>
                  <a:srgbClr val="3A3A37"/>
                </a:solidFill>
                <a:latin typeface="Frutiger LT Std 45 Light"/>
                <a:ea typeface="Frutiger LT Std 45 Light"/>
              </a:rPr>
              <a:t>CI gates</a:t>
            </a:r>
            <a:endParaRPr lang="en-US" sz="1050" noProof="1"/>
          </a:p>
          <a:p>
            <a:pPr>
              <a:lnSpc>
                <a:spcPct val="135000"/>
              </a:lnSpc>
            </a:pPr>
            <a:r>
              <a:rPr lang="en-US" sz="1050" noProof="1">
                <a:solidFill>
                  <a:srgbClr val="7C7C74"/>
                </a:solidFill>
                <a:latin typeface="Frutiger LT Std 45 Light"/>
                <a:ea typeface="Frutiger LT Std 45 Light"/>
              </a:rPr>
              <a:t>schema · selftest · Prompt Shields</a:t>
            </a:r>
            <a:endParaRPr lang="en-US" sz="1050" noProof="1"/>
          </a:p>
        </p:txBody>
      </p:sp>
      <p:sp>
        <p:nvSpPr>
          <p:cNvPr id="9" name="arrow2"/>
          <p:cNvSpPr/>
          <p:nvPr>
            <p:extLst>
              <p:ext uri="{F5677B7D-0D2A-4D9B-9A5C-6D8D7D0E5A5D}">
                <pptd:line encoding="base64url">eyJ2aWV3Qm94IjpbMzAsMTBdLCJwb2ludHMiOiIwLDUgMzAsNSIsImN1cnZlIjoic2hhcnAifQ</pptd:line>
              </p:ext>
            </p:extLst>
          </p:nvPr>
        </p:nvSpPr>
        <p:spPr>
          <a:xfrm>
            <a:off x="5918200" y="1943100"/>
            <a:ext cx="381000" cy="127000"/>
          </a:xfrm>
          <a:custGeom>
            <a:avLst/>
            <a:gdLst/>
            <a:ahLst/>
            <a:cxnLst/>
            <a:rect l="l" t="t" r="r" b="b"/>
            <a:pathLst>
              <a:path w="30" h="10">
                <a:moveTo>
                  <a:pt x="0" y="5"/>
                </a:moveTo>
                <a:lnTo>
                  <a:pt x="30" y="5"/>
                </a:lnTo>
              </a:path>
            </a:pathLst>
          </a:custGeom>
          <a:noFill/>
          <a:ln w="25400">
            <a:solidFill>
              <a:srgbClr val="6E6E68"/>
            </a:solidFill>
            <a:tailEnd type="stealth"/>
          </a:ln>
        </p:spPr>
      </p:sp>
      <p:sp>
        <p:nvSpPr>
          <p:cNvPr id="10" name="box3"/>
          <p:cNvSpPr/>
          <p:nvPr/>
        </p:nvSpPr>
        <p:spPr>
          <a:xfrm>
            <a:off x="6350000" y="1600200"/>
            <a:ext cx="2336800" cy="812800"/>
          </a:xfrm>
          <a:prstGeom prst="rect">
            <a:avLst/>
          </a:prstGeom>
          <a:solidFill>
            <a:srgbClr val="F2EAD9"/>
          </a:solidFill>
          <a:ln w="12700">
            <a:solidFill>
              <a:srgbClr val="DCDCD6"/>
            </a:solidFill>
          </a:ln>
        </p:spPr>
      </p:sp>
      <p:sp>
        <p:nvSpPr>
          <p:cNvPr id="11" name="box3-text"/>
          <p:cNvSpPr txBox="1"/>
          <p:nvPr/>
        </p:nvSpPr>
        <p:spPr>
          <a:xfrm>
            <a:off x="6451600" y="1701800"/>
            <a:ext cx="2133600" cy="609600"/>
          </a:xfrm>
          <a:prstGeom prst="rect">
            <a:avLst/>
          </a:prstGeom>
          <a:noFill/>
          <a:ln>
            <a:noFill/>
          </a:ln>
        </p:spPr>
        <p:txBody>
          <a:bodyPr lIns="0" rIns="0" tIns="0" bIns="0" wrap="square" rtlCol="0"/>
          <a:lstStyle/>
          <a:p>
            <a:pPr>
              <a:lnSpc>
                <a:spcPct val="135000"/>
              </a:lnSpc>
            </a:pPr>
            <a:r>
              <a:rPr lang="en-US" sz="1050" noProof="1" b="1">
                <a:solidFill>
                  <a:srgbClr val="3A3A37"/>
                </a:solidFill>
                <a:latin typeface="Frutiger LT Std 45 Light"/>
                <a:ea typeface="Frutiger LT Std 45 Light"/>
              </a:rPr>
              <a:t>Human review</a:t>
            </a:r>
            <a:endParaRPr lang="en-US" sz="1050" noProof="1"/>
          </a:p>
          <a:p>
            <a:pPr>
              <a:lnSpc>
                <a:spcPct val="135000"/>
              </a:lnSpc>
            </a:pPr>
            <a:r>
              <a:rPr lang="en-US" sz="1050" noProof="1">
                <a:solidFill>
                  <a:srgbClr val="7C7C74"/>
                </a:solidFill>
                <a:latin typeface="Frutiger LT Std 45 Light"/>
                <a:ea typeface="Frutiger LT Std 45 Light"/>
              </a:rPr>
              <a:t>platform + AI security on flags</a:t>
            </a:r>
            <a:endParaRPr lang="en-US" sz="1050" noProof="1"/>
          </a:p>
        </p:txBody>
      </p:sp>
      <p:sp>
        <p:nvSpPr>
          <p:cNvPr id="12" name="arrow3"/>
          <p:cNvSpPr/>
          <p:nvPr>
            <p:extLst>
              <p:ext uri="{F5677B7D-0D2A-4D9B-9A5C-6D8D7D0E5A5D}">
                <pptd:line encoding="base64url">eyJ2aWV3Qm94IjpbMzAsMTBdLCJwb2ludHMiOiIwLDUgMzAsNSIsImN1cnZlIjoic2hhcnAifQ</pptd:line>
              </p:ext>
            </p:extLst>
          </p:nvPr>
        </p:nvSpPr>
        <p:spPr>
          <a:xfrm>
            <a:off x="8737600" y="1943100"/>
            <a:ext cx="381000" cy="127000"/>
          </a:xfrm>
          <a:custGeom>
            <a:avLst/>
            <a:gdLst/>
            <a:ahLst/>
            <a:cxnLst/>
            <a:rect l="l" t="t" r="r" b="b"/>
            <a:pathLst>
              <a:path w="30" h="10">
                <a:moveTo>
                  <a:pt x="0" y="5"/>
                </a:moveTo>
                <a:lnTo>
                  <a:pt x="30" y="5"/>
                </a:lnTo>
              </a:path>
            </a:pathLst>
          </a:custGeom>
          <a:noFill/>
          <a:ln w="31750">
            <a:solidFill>
              <a:srgbClr val="B02A30"/>
            </a:solidFill>
            <a:tailEnd type="stealth"/>
          </a:ln>
        </p:spPr>
      </p:sp>
      <p:sp>
        <p:nvSpPr>
          <p:cNvPr id="13" name="box4"/>
          <p:cNvSpPr/>
          <p:nvPr/>
        </p:nvSpPr>
        <p:spPr>
          <a:xfrm>
            <a:off x="9169400" y="1600200"/>
            <a:ext cx="2311400" cy="812800"/>
          </a:xfrm>
          <a:prstGeom prst="rect">
            <a:avLst/>
          </a:prstGeom>
          <a:solidFill>
            <a:srgbClr val="F4F4F2"/>
          </a:solidFill>
          <a:ln w="19050">
            <a:solidFill>
              <a:srgbClr val="B02A30"/>
            </a:solidFill>
          </a:ln>
        </p:spPr>
      </p:sp>
      <p:sp>
        <p:nvSpPr>
          <p:cNvPr id="14" name="box4-text"/>
          <p:cNvSpPr txBox="1"/>
          <p:nvPr/>
        </p:nvSpPr>
        <p:spPr>
          <a:xfrm>
            <a:off x="9271000" y="1701800"/>
            <a:ext cx="2108200" cy="609600"/>
          </a:xfrm>
          <a:prstGeom prst="rect">
            <a:avLst/>
          </a:prstGeom>
          <a:noFill/>
          <a:ln>
            <a:noFill/>
          </a:ln>
        </p:spPr>
        <p:txBody>
          <a:bodyPr lIns="0" rIns="0" tIns="0" bIns="0" wrap="square" rtlCol="0"/>
          <a:lstStyle/>
          <a:p>
            <a:pPr>
              <a:lnSpc>
                <a:spcPct val="135000"/>
              </a:lnSpc>
            </a:pPr>
            <a:r>
              <a:rPr lang="en-US" sz="1050" noProof="1" b="1">
                <a:solidFill>
                  <a:srgbClr val="3A3A37"/>
                </a:solidFill>
                <a:latin typeface="Frutiger LT Std 45 Light"/>
                <a:ea typeface="Frutiger LT Std 45 Light"/>
              </a:rPr>
              <a:t>Catalog merge</a:t>
            </a:r>
            <a:endParaRPr lang="en-US" sz="1050" noProof="1"/>
          </a:p>
          <a:p>
            <a:pPr>
              <a:lnSpc>
                <a:spcPct val="135000"/>
              </a:lnSpc>
            </a:pPr>
            <a:r>
              <a:rPr lang="en-US" sz="1050" noProof="1">
                <a:solidFill>
                  <a:srgbClr val="7C7C74"/>
                </a:solidFill>
                <a:latin typeface="Frutiger LT Std 45 Light"/>
                <a:ea typeface="Frutiger LT Std 45 Light"/>
              </a:rPr>
              <a:t>bundles repin exact versions</a:t>
            </a:r>
            <a:endParaRPr lang="en-US" sz="1050" noProof="1"/>
          </a:p>
        </p:txBody>
      </p:sp>
      <p:sp>
        <p:nvSpPr>
          <p:cNvPr id="15" name="item1"/>
          <p:cNvSpPr txBox="1"/>
          <p:nvPr/>
        </p:nvSpPr>
        <p:spPr>
          <a:xfrm>
            <a:off x="711200" y="2946400"/>
            <a:ext cx="10769600" cy="711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Extensions use SemVer; breaking command changes are major bumps.</a:t>
            </a:r>
            <a:endParaRPr lang="en-US" sz="1400" noProof="1"/>
          </a:p>
          <a:p>
            <a:pPr>
              <a:lnSpc>
                <a:spcPct val="150000"/>
              </a:lnSpc>
            </a:pPr>
            <a:r>
              <a:rPr lang="en-US" sz="1150" noProof="1">
                <a:solidFill>
                  <a:srgbClr val="7C7C74"/>
                </a:solidFill>
                <a:latin typeface="Frutiger LT Std 45 Light"/>
                <a:ea typeface="Frutiger LT Std 45 Light"/>
              </a:rPr>
              <a:t>The manifest declares what the extension provides; CI diffs the command surface between versions.</a:t>
            </a:r>
            <a:endParaRPr lang="en-US" sz="1400" noProof="1"/>
          </a:p>
        </p:txBody>
      </p:sp>
      <p:sp>
        <p:nvSpPr>
          <p:cNvPr id="16" name="item2"/>
          <p:cNvSpPr txBox="1"/>
          <p:nvPr/>
        </p:nvSpPr>
        <p:spPr>
          <a:xfrm>
            <a:off x="711200" y="4013200"/>
            <a:ext cx="10769600" cy="711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A bundle release is a tested combination.</a:t>
            </a:r>
            <a:endParaRPr lang="en-US" sz="1400" noProof="1"/>
          </a:p>
          <a:p>
            <a:pPr>
              <a:lnSpc>
                <a:spcPct val="150000"/>
              </a:lnSpc>
            </a:pPr>
            <a:r>
              <a:rPr lang="en-US" sz="1150" noProof="1">
                <a:solidFill>
                  <a:srgbClr val="7C7C74"/>
                </a:solidFill>
                <a:latin typeface="Frutiger LT Std 45 Light"/>
                <a:ea typeface="Frutiger LT Std 45 Light"/>
              </a:rPr>
              <a:t>Bundles pin exact component versions and bump when any pin moves. Two projects on the same bundle version are provably on the same commands.</a:t>
            </a:r>
            <a:endParaRPr lang="en-US" sz="1400" noProof="1"/>
          </a:p>
        </p:txBody>
      </p:sp>
      <p:sp>
        <p:nvSpPr>
          <p:cNvPr id="17" name="item3"/>
          <p:cNvSpPr txBox="1"/>
          <p:nvPr/>
        </p:nvSpPr>
        <p:spPr>
          <a:xfrm>
            <a:off x="711200" y="5080000"/>
            <a:ext cx="10769600" cy="711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The curated catalog always wins.</a:t>
            </a:r>
            <a:endParaRPr lang="en-US" sz="1400" noProof="1"/>
          </a:p>
          <a:p>
            <a:pPr>
              <a:lnSpc>
                <a:spcPct val="150000"/>
              </a:lnSpc>
            </a:pPr>
            <a:r>
              <a:rPr lang="en-US" sz="1150" noProof="1">
                <a:solidFill>
                  <a:srgbClr val="7C7C74"/>
                </a:solidFill>
                <a:latin typeface="Frutiger LT Std 45 Light"/>
                <a:ea typeface="Frutiger LT Std 45 Light"/>
              </a:rPr>
              <a:t>SPECKIT_CATALOG_URL makes the org catalog priority 1, so a mirrored-and-approved entry cannot be silently overridden upstream.</a:t>
            </a:r>
            <a:endParaRPr lang="en-US" sz="1400" noProof="1"/>
          </a:p>
        </p:txBody>
      </p:sp>
      <p:sp>
        <p:nvSpPr>
          <p:cNvPr id="18" name="footer-rule"/>
          <p:cNvSpPr/>
          <p:nvPr/>
        </p:nvSpPr>
        <p:spPr>
          <a:xfrm>
            <a:off x="711200" y="6451600"/>
            <a:ext cx="10769600" cy="12700"/>
          </a:xfrm>
          <a:prstGeom prst="rect">
            <a:avLst/>
          </a:prstGeom>
          <a:solidFill>
            <a:srgbClr val="232323"/>
          </a:solidFill>
          <a:ln>
            <a:noFill/>
          </a:ln>
        </p:spPr>
      </p:sp>
      <p:sp>
        <p:nvSpPr>
          <p:cNvPr id="19"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11</a:t>
            </a:r>
            <a:endParaRPr lang="en-US" sz="950" noProof="1"/>
          </a:p>
        </p:txBody>
      </p:sp>
    </p:spTree>
  </p:cSld>
  <p:clrMapOvr>
    <a:masterClrMapping/>
  </p:clrMapOvr>
  <p:transition spd="fast" advClick="1">
    <p:fade/>
  </p:transition>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Workload bundles: the full portfolio</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workload-table"/>
          <p:cNvGraphicFramePr>
            <a:graphicFrameLocks noGrp="1"/>
          </p:cNvGraphicFramePr>
          <p:nvPr/>
        </p:nvGraphicFramePr>
        <p:xfrm>
          <a:off x="711200" y="1422400"/>
          <a:ext cx="10769600" cy="4267200"/>
        </p:xfrm>
        <a:graphic>
          <a:graphicData uri="http://schemas.openxmlformats.org/drawingml/2006/table">
            <a:tbl>
              <a:tblPr/>
              <a:tblGrid>
                <a:gridCol w="2153920"/>
                <a:gridCol w="3230880"/>
                <a:gridCol w="3015488"/>
                <a:gridCol w="2369312"/>
              </a:tblGrid>
              <a:tr h="426720">
                <a:tc>
                  <a:txBody>
                    <a:bodyPr wrap="square" rtlCol="0" anchor="ctr"/>
                    <a:lstStyle/>
                    <a:p>
                      <a:pPr algn="l"/>
                      <a:r>
                        <a:rPr lang="en-US" sz="1100" noProof="1" b="1">
                          <a:solidFill>
                            <a:srgbClr val="FFFFFF"/>
                          </a:solidFill>
                          <a:latin typeface="Frutiger LT Std 45 Light"/>
                          <a:ea typeface="Frutiger LT Std 45 Light"/>
                        </a:rPr>
                        <a:t>Bundle</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Workload it provisions</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Community seeds (mirrored)</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Main consumers</a:t>
                      </a:r>
                    </a:p>
                  </a:txBody>
                  <a:tcPr marL="91440" marR="91440" marT="45720" marB="45720" anchor="ctr">
                    <a:lnL>
                      <a:noFill/>
                    </a:lnL>
                    <a:lnR>
                      <a:noFill/>
                    </a:lnR>
                    <a:lnT>
                      <a:noFill/>
                    </a:lnT>
                    <a:lnB w="12700">
                      <a:solidFill>
                        <a:srgbClr val="DCDCD6"/>
                      </a:solidFill>
                    </a:lnB>
                    <a:solidFill>
                      <a:srgbClr val="6E6E68"/>
                    </a:solidFill>
                  </a:tcPr>
                </a:tc>
              </a:tr>
              <a:tr h="426720">
                <a:tc>
                  <a:txBody>
                    <a:bodyPr wrap="square" rtlCol="0" anchor="ctr"/>
                    <a:lstStyle/>
                    <a:p>
                      <a:pPr algn="l"/>
                      <a:r>
                        <a:rPr lang="en-US" sz="1100" noProof="1">
                          <a:solidFill>
                            <a:srgbClr val="3A3A37"/>
                          </a:solidFill>
                          <a:latin typeface="Frutiger LT Std 45 Light"/>
                          <a:ea typeface="Frutiger LT Std 45 Light"/>
                        </a:rPr>
                        <a:t>sketch-fullstack</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Greenfield full-stack applications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aide, fleet, product-forge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FFFFF"/>
                    </a:solidFill>
                  </a:tcPr>
                </a:tc>
              </a:tr>
              <a:tr h="426720">
                <a:tc>
                  <a:txBody>
                    <a:bodyPr wrap="square" rtlCol="0" anchor="ctr"/>
                    <a:lstStyle/>
                    <a:p>
                      <a:pPr algn="l"/>
                      <a:r>
                        <a:rPr lang="en-US" sz="1100" noProof="1">
                          <a:solidFill>
                            <a:srgbClr val="3A3A37"/>
                          </a:solidFill>
                          <a:latin typeface="Frutiger LT Std 45 Light"/>
                          <a:ea typeface="Frutiger LT Std 45 Light"/>
                        </a:rPr>
                        <a:t>sketch-brownfield</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Adopting SDD in existing estates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brownfield, brownkit, blueprint-index</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4F4F2"/>
                    </a:solidFill>
                  </a:tcPr>
                </a:tc>
              </a:tr>
              <a:tr h="426720">
                <a:tc>
                  <a:txBody>
                    <a:bodyPr wrap="square" rtlCol="0" anchor="ctr"/>
                    <a:lstStyle/>
                    <a:p>
                      <a:pPr algn="l"/>
                      <a:r>
                        <a:rPr lang="en-US" sz="1100" noProof="1">
                          <a:solidFill>
                            <a:srgbClr val="3A3A37"/>
                          </a:solidFill>
                          <a:latin typeface="Frutiger LT Std 45 Light"/>
                          <a:ea typeface="Frutiger LT Std 45 Light"/>
                        </a:rPr>
                        <a:t>sketch-migration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Language and platform migrations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fx-to-dotnet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Core platform teams</a:t>
                      </a:r>
                    </a:p>
                  </a:txBody>
                  <a:tcPr marL="91440" marR="91440" marT="45720" marB="45720" anchor="ctr">
                    <a:lnL>
                      <a:noFill/>
                    </a:lnL>
                    <a:lnR>
                      <a:noFill/>
                    </a:lnR>
                    <a:lnT>
                      <a:noFill/>
                    </a:lnT>
                    <a:lnB w="12700">
                      <a:solidFill>
                        <a:srgbClr val="DCDCD6"/>
                      </a:solidFill>
                    </a:lnB>
                    <a:solidFill>
                      <a:srgbClr val="FFFFFF"/>
                    </a:solidFill>
                  </a:tcPr>
                </a:tc>
              </a:tr>
              <a:tr h="426720">
                <a:tc>
                  <a:txBody>
                    <a:bodyPr wrap="square" rtlCol="0" anchor="ctr"/>
                    <a:lstStyle/>
                    <a:p>
                      <a:pPr algn="l"/>
                      <a:r>
                        <a:rPr lang="en-US" sz="1100" noProof="1">
                          <a:solidFill>
                            <a:srgbClr val="3A3A37"/>
                          </a:solidFill>
                          <a:latin typeface="Frutiger LT Std 45 Light"/>
                          <a:ea typeface="Frutiger LT Std 45 Light"/>
                        </a:rPr>
                        <a:t>sketch-api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Contract-first services, API lifecycle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api-evolve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4F4F2"/>
                    </a:solidFill>
                  </a:tcPr>
                </a:tc>
              </a:tr>
              <a:tr h="426720">
                <a:tc>
                  <a:txBody>
                    <a:bodyPr wrap="square" rtlCol="0" anchor="ctr"/>
                    <a:lstStyle/>
                    <a:p>
                      <a:pPr algn="l"/>
                      <a:r>
                        <a:rPr lang="en-US" sz="1100" noProof="1">
                          <a:solidFill>
                            <a:srgbClr val="3A3A37"/>
                          </a:solidFill>
                          <a:latin typeface="Frutiger LT Std 45 Light"/>
                          <a:ea typeface="Frutiger LT Std 45 Light"/>
                        </a:rPr>
                        <a:t>sketch-frontend</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Design-grounded web and client channels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figma, figma-starter, wireframe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WM and IB channels</a:t>
                      </a:r>
                    </a:p>
                  </a:txBody>
                  <a:tcPr marL="91440" marR="91440" marT="45720" marB="45720" anchor="ctr">
                    <a:lnL>
                      <a:noFill/>
                    </a:lnL>
                    <a:lnR>
                      <a:noFill/>
                    </a:lnR>
                    <a:lnT>
                      <a:noFill/>
                    </a:lnT>
                    <a:lnB w="12700">
                      <a:solidFill>
                        <a:srgbClr val="DCDCD6"/>
                      </a:solidFill>
                    </a:lnB>
                    <a:solidFill>
                      <a:srgbClr val="FFFFFF"/>
                    </a:solidFill>
                  </a:tcPr>
                </a:tc>
              </a:tr>
              <a:tr h="426720">
                <a:tc>
                  <a:txBody>
                    <a:bodyPr wrap="square" rtlCol="0" anchor="ctr"/>
                    <a:lstStyle/>
                    <a:p>
                      <a:pPr algn="l"/>
                      <a:r>
                        <a:rPr lang="en-US" sz="1100" noProof="1">
                          <a:solidFill>
                            <a:srgbClr val="3A3A37"/>
                          </a:solidFill>
                          <a:latin typeface="Frutiger LT Std 45 Light"/>
                          <a:ea typeface="Frutiger LT Std 45 Light"/>
                        </a:rPr>
                        <a:t>sketch-datasci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Analytics, reporting, data pipelines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bank-authored, plus skt-spark</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AM research, Risk, Finance</a:t>
                      </a:r>
                    </a:p>
                  </a:txBody>
                  <a:tcPr marL="91440" marR="91440" marT="45720" marB="45720" anchor="ctr">
                    <a:lnL>
                      <a:noFill/>
                    </a:lnL>
                    <a:lnR>
                      <a:noFill/>
                    </a:lnR>
                    <a:lnT>
                      <a:noFill/>
                    </a:lnT>
                    <a:lnB w="12700">
                      <a:solidFill>
                        <a:srgbClr val="DCDCD6"/>
                      </a:solidFill>
                    </a:lnB>
                    <a:solidFill>
                      <a:srgbClr val="F4F4F2"/>
                    </a:solidFill>
                  </a:tcPr>
                </a:tc>
              </a:tr>
              <a:tr h="426720">
                <a:tc>
                  <a:txBody>
                    <a:bodyPr wrap="square" rtlCol="0" anchor="ctr"/>
                    <a:lstStyle/>
                    <a:p>
                      <a:pPr algn="l"/>
                      <a:r>
                        <a:rPr lang="en-US" sz="1100" noProof="1">
                          <a:solidFill>
                            <a:srgbClr val="3A3A37"/>
                          </a:solidFill>
                          <a:latin typeface="Frutiger LT Std 45 Light"/>
                          <a:ea typeface="Frutiger LT Std 45 Light"/>
                        </a:rPr>
                        <a:t>sketch-mlops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Model development and validation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golden-demo, harness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Risk modelling, AM quant</a:t>
                      </a:r>
                    </a:p>
                  </a:txBody>
                  <a:tcPr marL="91440" marR="91440" marT="45720" marB="45720" anchor="ctr">
                    <a:lnL>
                      <a:noFill/>
                    </a:lnL>
                    <a:lnR>
                      <a:noFill/>
                    </a:lnR>
                    <a:lnT>
                      <a:noFill/>
                    </a:lnT>
                    <a:lnB w="12700">
                      <a:solidFill>
                        <a:srgbClr val="DCDCD6"/>
                      </a:solidFill>
                    </a:lnB>
                    <a:solidFill>
                      <a:srgbClr val="FFFFFF"/>
                    </a:solidFill>
                  </a:tcPr>
                </a:tc>
              </a:tr>
              <a:tr h="426720">
                <a:tc>
                  <a:txBody>
                    <a:bodyPr wrap="square" rtlCol="0" anchor="ctr"/>
                    <a:lstStyle/>
                    <a:p>
                      <a:pPr algn="l"/>
                      <a:r>
                        <a:rPr lang="en-US" sz="1100" noProof="1">
                          <a:solidFill>
                            <a:srgbClr val="3A3A37"/>
                          </a:solidFill>
                          <a:latin typeface="Frutiger LT Std 45 Light"/>
                          <a:ea typeface="Frutiger LT Std 45 Light"/>
                        </a:rPr>
                        <a:t>sketch-genai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RAG and agent applications</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rag-azure-builder, contextforge-mcp</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4F4F2"/>
                    </a:solidFill>
                  </a:tcPr>
                </a:tc>
              </a:tr>
              <a:tr h="426720">
                <a:tc>
                  <a:txBody>
                    <a:bodyPr wrap="square" rtlCol="0" anchor="ctr"/>
                    <a:lstStyle/>
                    <a:p>
                      <a:pPr algn="l"/>
                      <a:r>
                        <a:rPr lang="en-US" sz="1100" noProof="1">
                          <a:solidFill>
                            <a:srgbClr val="3A3A37"/>
                          </a:solidFill>
                          <a:latin typeface="Frutiger LT Std 45 Light"/>
                          <a:ea typeface="Frutiger LT Std 45 Light"/>
                        </a:rPr>
                        <a:t>sketch-testing</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Test engineering and acceptance QA</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bdd, spectest, qa, trace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FFFFF"/>
                    </a:solidFill>
                  </a:tcPr>
                </a:tc>
              </a:tr>
              <a:tr h="426720">
                <a:tc>
                  <a:txBody>
                    <a:bodyPr wrap="square" rtlCol="0" anchor="ctr"/>
                    <a:lstStyle/>
                    <a:p>
                      <a:pPr algn="l"/>
                      <a:r>
                        <a:rPr lang="en-US" sz="1100" noProof="1">
                          <a:solidFill>
                            <a:srgbClr val="3A3A37"/>
                          </a:solidFill>
                          <a:latin typeface="Frutiger LT Std 45 Light"/>
                          <a:ea typeface="Frutiger LT Std 45 Light"/>
                        </a:rPr>
                        <a:t>sketch-maintenance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BAU change, bugfix, drift repair</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bugfix, fixit, reconcile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All divisions</a:t>
                      </a:r>
                    </a:p>
                  </a:txBody>
                  <a:tcPr marL="91440" marR="91440" marT="45720" marB="45720" anchor="ctr">
                    <a:lnL>
                      <a:noFill/>
                    </a:lnL>
                    <a:lnR>
                      <a:noFill/>
                    </a:lnR>
                    <a:lnT>
                      <a:noFill/>
                    </a:lnT>
                    <a:lnB w="12700">
                      <a:solidFill>
                        <a:srgbClr val="DCDCD6"/>
                      </a:solidFill>
                    </a:lnB>
                    <a:solidFill>
                      <a:srgbClr val="F4F4F2"/>
                    </a:solidFill>
                  </a:tcPr>
                </a:tc>
              </a:tr>
            </a:tbl>
          </a:graphicData>
        </a:graphic>
      </p:graphicFrame>
      <p:sp>
        <p:nvSpPr>
          <p:cNvPr id="5" name="note"/>
          <p:cNvSpPr txBox="1"/>
          <p:nvPr/>
        </p:nvSpPr>
        <p:spPr>
          <a:xfrm>
            <a:off x="711200" y="5816600"/>
            <a:ext cx="10769600" cy="508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Ten workload bundles cover the bank's SDLC reality.</a:t>
            </a:r>
            <a:endParaRPr lang="en-US" sz="1400" noProof="1"/>
          </a:p>
          <a:p>
            <a:pPr>
              <a:lnSpc>
                <a:spcPct val="150000"/>
              </a:lnSpc>
            </a:pPr>
            <a:r>
              <a:rPr lang="en-US" sz="1150" noProof="1">
                <a:solidFill>
                  <a:srgbClr val="7C7C74"/>
                </a:solidFill>
                <a:latin typeface="Frutiger LT Std 45 Light"/>
                <a:ea typeface="Frutiger LT Std 45 Light"/>
              </a:rPr>
              <a:t>Each is one specify bundle install, and every one composes the sketch base and whichever Layer X utilities it needs.</a:t>
            </a:r>
            <a:endParaRPr lang="en-US" sz="1400" noProof="1"/>
          </a:p>
        </p:txBody>
      </p:sp>
      <p:sp>
        <p:nvSpPr>
          <p:cNvPr id="6" name="footer-rule"/>
          <p:cNvSpPr/>
          <p:nvPr/>
        </p:nvSpPr>
        <p:spPr>
          <a:xfrm>
            <a:off x="711200" y="6451600"/>
            <a:ext cx="10769600" cy="12700"/>
          </a:xfrm>
          <a:prstGeom prst="rect">
            <a:avLst/>
          </a:prstGeom>
          <a:solidFill>
            <a:srgbClr val="232323"/>
          </a:solidFill>
          <a:ln>
            <a:noFill/>
          </a:ln>
        </p:spPr>
      </p:sp>
      <p:sp>
        <p:nvSpPr>
          <p:cNvPr id="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12</a:t>
            </a:r>
            <a:endParaRPr lang="en-US" sz="950" noProof="1"/>
          </a:p>
        </p:txBody>
      </p:sp>
    </p:spTree>
  </p:cSld>
  <p:clrMapOvr>
    <a:masterClrMapping/>
  </p:clrMapOvr>
  <p:transition spd="fast" advClick="1">
    <p:fade/>
  </p:transition>
</p:sld>
</file>

<file path=ppt/slides/slide1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Business-domain bundles: the full portfolio</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domain-table"/>
          <p:cNvGraphicFramePr>
            <a:graphicFrameLocks noGrp="1"/>
          </p:cNvGraphicFramePr>
          <p:nvPr/>
        </p:nvGraphicFramePr>
        <p:xfrm>
          <a:off x="711200" y="1422400"/>
          <a:ext cx="10769600" cy="3911600"/>
        </p:xfrm>
        <a:graphic>
          <a:graphicData uri="http://schemas.openxmlformats.org/drawingml/2006/table">
            <a:tbl>
              <a:tblPr/>
              <a:tblGrid>
                <a:gridCol w="1830832"/>
                <a:gridCol w="3877056"/>
                <a:gridCol w="5061712"/>
              </a:tblGrid>
              <a:tr h="391160">
                <a:tc>
                  <a:txBody>
                    <a:bodyPr wrap="square" rtlCol="0" anchor="ctr"/>
                    <a:lstStyle/>
                    <a:p>
                      <a:pPr algn="l"/>
                      <a:r>
                        <a:rPr lang="en-US" sz="1100" noProof="1" b="1">
                          <a:solidFill>
                            <a:srgbClr val="FFFFFF"/>
                          </a:solidFill>
                          <a:latin typeface="Frutiger LT Std 45 Light"/>
                          <a:ea typeface="Frutiger LT Std 45 Light"/>
                        </a:rPr>
                        <a:t>Division</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Candidate bundles</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What they encode</a:t>
                      </a:r>
                    </a:p>
                  </a:txBody>
                  <a:tcPr marL="91440" marR="91440" marT="45720" marB="45720" anchor="ctr">
                    <a:lnL>
                      <a:noFill/>
                    </a:lnL>
                    <a:lnR>
                      <a:noFill/>
                    </a:lnR>
                    <a:lnT>
                      <a:noFill/>
                    </a:lnT>
                    <a:lnB w="12700">
                      <a:solidFill>
                        <a:srgbClr val="DCDCD6"/>
                      </a:solidFill>
                    </a:lnB>
                    <a:solidFill>
                      <a:srgbClr val="6E6E68"/>
                    </a:solidFill>
                  </a:tcPr>
                </a:tc>
              </a:tr>
              <a:tr h="586740">
                <a:tc>
                  <a:txBody>
                    <a:bodyPr wrap="square" rtlCol="0" anchor="ctr"/>
                    <a:lstStyle/>
                    <a:p>
                      <a:pPr algn="l"/>
                      <a:r>
                        <a:rPr lang="en-US" sz="1100" noProof="1">
                          <a:solidFill>
                            <a:srgbClr val="3A3A37"/>
                          </a:solidFill>
                          <a:latin typeface="Frutiger LT Std 45 Light"/>
                          <a:ea typeface="Frutiger LT Std 45 Light"/>
                        </a:rPr>
                        <a:t>Investment Banking</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ib-pitch · counterparty · loan-agreement · market-intel</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Pitchbook and comps structure, counterparty research, credit memo sections, MiFID II research rules</a:t>
                      </a:r>
                    </a:p>
                  </a:txBody>
                  <a:tcPr marL="91440" marR="91440" marT="45720" marB="45720" anchor="ctr">
                    <a:lnL>
                      <a:noFill/>
                    </a:lnL>
                    <a:lnR>
                      <a:noFill/>
                    </a:lnR>
                    <a:lnT>
                      <a:noFill/>
                    </a:lnT>
                    <a:lnB w="12700">
                      <a:solidFill>
                        <a:srgbClr val="DCDCD6"/>
                      </a:solidFill>
                    </a:lnB>
                    <a:solidFill>
                      <a:srgbClr val="FFFFFF"/>
                    </a:solidFill>
                  </a:tcPr>
                </a:tc>
              </a:tr>
              <a:tr h="586740">
                <a:tc>
                  <a:txBody>
                    <a:bodyPr wrap="square" rtlCol="0" anchor="ctr"/>
                    <a:lstStyle/>
                    <a:p>
                      <a:pPr algn="l"/>
                      <a:r>
                        <a:rPr lang="en-US" sz="1100" noProof="1">
                          <a:solidFill>
                            <a:srgbClr val="3A3A37"/>
                          </a:solidFill>
                          <a:latin typeface="Frutiger LT Std 45 Light"/>
                          <a:ea typeface="Frutiger LT Std 45 Light"/>
                        </a:rPr>
                        <a:t>Wealth Management</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client-kyc · advisor-reporting · suitability</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KYC and source-of-wealth questionnaires, portfolio commentary, suitability evidence</a:t>
                      </a:r>
                    </a:p>
                  </a:txBody>
                  <a:tcPr marL="91440" marR="91440" marT="45720" marB="45720" anchor="ctr">
                    <a:lnL>
                      <a:noFill/>
                    </a:lnL>
                    <a:lnR>
                      <a:noFill/>
                    </a:lnR>
                    <a:lnT>
                      <a:noFill/>
                    </a:lnT>
                    <a:lnB w="12700">
                      <a:solidFill>
                        <a:srgbClr val="DCDCD6"/>
                      </a:solidFill>
                    </a:lnB>
                    <a:solidFill>
                      <a:srgbClr val="F4F4F2"/>
                    </a:solidFill>
                  </a:tcPr>
                </a:tc>
              </a:tr>
              <a:tr h="586740">
                <a:tc>
                  <a:txBody>
                    <a:bodyPr wrap="square" rtlCol="0" anchor="ctr"/>
                    <a:lstStyle/>
                    <a:p>
                      <a:pPr algn="l"/>
                      <a:r>
                        <a:rPr lang="en-US" sz="1100" noProof="1">
                          <a:solidFill>
                            <a:srgbClr val="3A3A37"/>
                          </a:solidFill>
                          <a:latin typeface="Frutiger LT Std 45 Light"/>
                          <a:ea typeface="Frutiger LT Std 45 Light"/>
                        </a:rPr>
                        <a:t>Asset Management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fund-docs · esg-analytics · portfolio-analytics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Prospectus and KIID section rules, SFDR disclosures, mandate compliance checks</a:t>
                      </a:r>
                    </a:p>
                  </a:txBody>
                  <a:tcPr marL="91440" marR="91440" marT="45720" marB="45720" anchor="ctr">
                    <a:lnL>
                      <a:noFill/>
                    </a:lnL>
                    <a:lnR>
                      <a:noFill/>
                    </a:lnR>
                    <a:lnT>
                      <a:noFill/>
                    </a:lnT>
                    <a:lnB w="12700">
                      <a:solidFill>
                        <a:srgbClr val="DCDCD6"/>
                      </a:solidFill>
                    </a:lnB>
                    <a:solidFill>
                      <a:srgbClr val="FFFFFF"/>
                    </a:solidFill>
                  </a:tcPr>
                </a:tc>
              </a:tr>
              <a:tr h="586740">
                <a:tc>
                  <a:txBody>
                    <a:bodyPr wrap="square" rtlCol="0" anchor="ctr"/>
                    <a:lstStyle/>
                    <a:p>
                      <a:pPr algn="l"/>
                      <a:r>
                        <a:rPr lang="en-US" sz="1100" noProof="1">
                          <a:solidFill>
                            <a:srgbClr val="3A3A37"/>
                          </a:solidFill>
                          <a:latin typeface="Frutiger LT Std 45 Light"/>
                          <a:ea typeface="Frutiger LT Std 45 Light"/>
                        </a:rPr>
                        <a:t>Group Risk</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risk-reporting · risk-modelling</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Regulatory report templates, VaR and model-change evals (the DEEP pattern)</a:t>
                      </a:r>
                    </a:p>
                  </a:txBody>
                  <a:tcPr marL="91440" marR="91440" marT="45720" marB="45720" anchor="ctr">
                    <a:lnL>
                      <a:noFill/>
                    </a:lnL>
                    <a:lnR>
                      <a:noFill/>
                    </a:lnR>
                    <a:lnT>
                      <a:noFill/>
                    </a:lnT>
                    <a:lnB w="12700">
                      <a:solidFill>
                        <a:srgbClr val="DCDCD6"/>
                      </a:solidFill>
                    </a:lnB>
                    <a:solidFill>
                      <a:srgbClr val="F4F4F2"/>
                    </a:solidFill>
                  </a:tcPr>
                </a:tc>
              </a:tr>
              <a:tr h="586740">
                <a:tc>
                  <a:txBody>
                    <a:bodyPr wrap="square" rtlCol="0" anchor="ctr"/>
                    <a:lstStyle/>
                    <a:p>
                      <a:pPr algn="l"/>
                      <a:r>
                        <a:rPr lang="en-US" sz="1100" noProof="1">
                          <a:solidFill>
                            <a:srgbClr val="3A3A37"/>
                          </a:solidFill>
                          <a:latin typeface="Frutiger LT Std 45 Light"/>
                          <a:ea typeface="Frutiger LT Std 45 Light"/>
                        </a:rPr>
                        <a:t>Group Finance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finance-close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Month-end reconciliation, close checklists, anomaly explanation structure</a:t>
                      </a:r>
                    </a:p>
                  </a:txBody>
                  <a:tcPr marL="91440" marR="91440" marT="45720" marB="45720" anchor="ctr">
                    <a:lnL>
                      <a:noFill/>
                    </a:lnL>
                    <a:lnR>
                      <a:noFill/>
                    </a:lnR>
                    <a:lnT>
                      <a:noFill/>
                    </a:lnT>
                    <a:lnB w="12700">
                      <a:solidFill>
                        <a:srgbClr val="DCDCD6"/>
                      </a:solidFill>
                    </a:lnB>
                    <a:solidFill>
                      <a:srgbClr val="FFFFFF"/>
                    </a:solidFill>
                  </a:tcPr>
                </a:tc>
              </a:tr>
              <a:tr h="586740">
                <a:tc>
                  <a:txBody>
                    <a:bodyPr wrap="square" rtlCol="0" anchor="ctr"/>
                    <a:lstStyle/>
                    <a:p>
                      <a:pPr algn="l"/>
                      <a:r>
                        <a:rPr lang="en-US" sz="1100" noProof="1">
                          <a:solidFill>
                            <a:srgbClr val="3A3A37"/>
                          </a:solidFill>
                          <a:latin typeface="Frutiger LT Std 45 Light"/>
                          <a:ea typeface="Frutiger LT Std 45 Light"/>
                        </a:rPr>
                        <a:t>Compliance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surveillance · reg-filing · audit-evidence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Trade and comms surveillance rules, FINMA / Basel / BCBS 239 filing structure, audit packs</a:t>
                      </a:r>
                    </a:p>
                  </a:txBody>
                  <a:tcPr marL="91440" marR="91440" marT="45720" marB="45720" anchor="ctr">
                    <a:lnL>
                      <a:noFill/>
                    </a:lnL>
                    <a:lnR>
                      <a:noFill/>
                    </a:lnR>
                    <a:lnT>
                      <a:noFill/>
                    </a:lnT>
                    <a:lnB w="12700">
                      <a:solidFill>
                        <a:srgbClr val="DCDCD6"/>
                      </a:solidFill>
                    </a:lnB>
                    <a:solidFill>
                      <a:srgbClr val="F4F4F2"/>
                    </a:solidFill>
                  </a:tcPr>
                </a:tc>
              </a:tr>
            </a:tbl>
          </a:graphicData>
        </a:graphic>
      </p:graphicFrame>
      <p:sp>
        <p:nvSpPr>
          <p:cNvPr id="5" name="note"/>
          <p:cNvSpPr txBox="1"/>
          <p:nvPr/>
        </p:nvSpPr>
        <p:spPr>
          <a:xfrm>
            <a:off x="711200" y="5537200"/>
            <a:ext cx="10769600" cy="7112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Domain bundles are 100% bank-authored — they are Sketch's real moat.</a:t>
            </a:r>
            <a:endParaRPr lang="en-US" sz="1400" noProof="1"/>
          </a:p>
          <a:p>
            <a:pPr>
              <a:lnSpc>
                <a:spcPct val="150000"/>
              </a:lnSpc>
            </a:pPr>
            <a:r>
              <a:rPr lang="en-US" sz="1150" noProof="1">
                <a:solidFill>
                  <a:srgbClr val="7C7C74"/>
                </a:solidFill>
                <a:latin typeface="Frutiger LT Std 45 Light"/>
                <a:ea typeface="Frutiger LT Std 45 Light"/>
              </a:rPr>
              <a:t>Each domain bundle composes the workload bundles it needs (a KYC screening tool rides on sketch-genai and skt-pdfx) plus the sketch base. Nothing here is written from scratch per project.</a:t>
            </a:r>
            <a:endParaRPr lang="en-US" sz="1400" noProof="1"/>
          </a:p>
        </p:txBody>
      </p:sp>
      <p:sp>
        <p:nvSpPr>
          <p:cNvPr id="6" name="footer-rule"/>
          <p:cNvSpPr/>
          <p:nvPr/>
        </p:nvSpPr>
        <p:spPr>
          <a:xfrm>
            <a:off x="711200" y="6451600"/>
            <a:ext cx="10769600" cy="12700"/>
          </a:xfrm>
          <a:prstGeom prst="rect">
            <a:avLst/>
          </a:prstGeom>
          <a:solidFill>
            <a:srgbClr val="232323"/>
          </a:solidFill>
          <a:ln>
            <a:noFill/>
          </a:ln>
        </p:spPr>
      </p:sp>
      <p:sp>
        <p:nvSpPr>
          <p:cNvPr id="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13</a:t>
            </a:r>
            <a:endParaRPr lang="en-US" sz="950" noProof="1"/>
          </a:p>
        </p:txBody>
      </p:sp>
    </p:spTree>
  </p:cSld>
  <p:clrMapOvr>
    <a:masterClrMapping/>
  </p:clrMapOvr>
  <p:transition spd="fast" advClick="1">
    <p:fade/>
  </p:transition>
</p:sld>
</file>

<file path=ppt/slides/slide1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Community candidates: bank base and utilities</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cand-table"/>
          <p:cNvGraphicFramePr>
            <a:graphicFrameLocks noGrp="1"/>
          </p:cNvGraphicFramePr>
          <p:nvPr/>
        </p:nvGraphicFramePr>
        <p:xfrm>
          <a:off x="711200" y="1422400"/>
          <a:ext cx="10769600" cy="4089400"/>
        </p:xfrm>
        <a:graphic>
          <a:graphicData uri="http://schemas.openxmlformats.org/drawingml/2006/table">
            <a:tbl>
              <a:tblPr/>
              <a:tblGrid>
                <a:gridCol w="1507744"/>
                <a:gridCol w="2369312"/>
                <a:gridCol w="6892544"/>
              </a:tblGrid>
              <a:tr h="408940">
                <a:tc>
                  <a:txBody>
                    <a:bodyPr wrap="square" rtlCol="0" anchor="ctr"/>
                    <a:lstStyle/>
                    <a:p>
                      <a:pPr algn="l"/>
                      <a:r>
                        <a:rPr lang="en-US" sz="1100" noProof="1" b="1">
                          <a:solidFill>
                            <a:srgbClr val="FFFFFF"/>
                          </a:solidFill>
                          <a:latin typeface="Frutiger LT Std 45 Light"/>
                          <a:ea typeface="Frutiger LT Std 45 Light"/>
                        </a:rPr>
                        <a:t>Lands in</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Candidate</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Why it matters to the bank</a:t>
                      </a:r>
                    </a:p>
                  </a:txBody>
                  <a:tcPr marL="91440" marR="91440" marT="45720" marB="45720" anchor="ctr">
                    <a:lnL>
                      <a:noFill/>
                    </a:lnL>
                    <a:lnR>
                      <a:noFill/>
                    </a:lnR>
                    <a:lnT>
                      <a:noFill/>
                    </a:lnT>
                    <a:lnB w="12700">
                      <a:solidFill>
                        <a:srgbClr val="DCDCD6"/>
                      </a:solidFill>
                    </a:lnB>
                    <a:solidFill>
                      <a:srgbClr val="6E6E68"/>
                    </a:solidFill>
                  </a:tcPr>
                </a:tc>
              </a:tr>
              <a:tr h="408940">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ears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EARS authoring and linting — strengthens sketch ears-authoring</a:t>
                      </a:r>
                    </a:p>
                  </a:txBody>
                  <a:tcPr marL="91440" marR="91440" marT="45720" marB="45720" anchor="ctr">
                    <a:lnL>
                      <a:noFill/>
                    </a:lnL>
                    <a:lnR>
                      <a:noFill/>
                    </a:lnR>
                    <a:lnT>
                      <a:noFill/>
                    </a:lnT>
                    <a:lnB w="12700">
                      <a:solidFill>
                        <a:srgbClr val="DCDCD6"/>
                      </a:solidFill>
                    </a:lnB>
                    <a:solidFill>
                      <a:srgbClr val="FFFFFF"/>
                    </a:solidFill>
                  </a:tcPr>
                </a:tc>
              </a:tr>
              <a:tr h="408940">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spec-validate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Comprehension checks, review SLA, approval state per artifact</a:t>
                      </a:r>
                    </a:p>
                  </a:txBody>
                  <a:tcPr marL="91440" marR="91440" marT="45720" marB="45720" anchor="ctr">
                    <a:lnL>
                      <a:noFill/>
                    </a:lnL>
                    <a:lnR>
                      <a:noFill/>
                    </a:lnR>
                    <a:lnT>
                      <a:noFill/>
                    </a:lnT>
                    <a:lnB w="12700">
                      <a:solidFill>
                        <a:srgbClr val="DCDCD6"/>
                      </a:solidFill>
                    </a:lnB>
                    <a:solidFill>
                      <a:srgbClr val="F4F4F2"/>
                    </a:solidFill>
                  </a:tcPr>
                </a:tc>
              </a:tr>
              <a:tr h="408940">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gates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One policy file drives deterministic gates in hooks, git and CI</a:t>
                      </a:r>
                    </a:p>
                  </a:txBody>
                  <a:tcPr marL="91440" marR="91440" marT="45720" marB="45720" anchor="ctr">
                    <a:lnL>
                      <a:noFill/>
                    </a:lnL>
                    <a:lnR>
                      <a:noFill/>
                    </a:lnR>
                    <a:lnT>
                      <a:noFill/>
                    </a:lnT>
                    <a:lnB w="12700">
                      <a:solidFill>
                        <a:srgbClr val="DCDCD6"/>
                      </a:solidFill>
                    </a:lnB>
                    <a:solidFill>
                      <a:srgbClr val="FFFFFF"/>
                    </a:solidFill>
                  </a:tcPr>
                </a:tc>
              </a:tr>
              <a:tr h="408940">
                <a:tc>
                  <a:txBody>
                    <a:bodyPr wrap="square" rtlCol="0" anchor="ctr"/>
                    <a:lstStyle/>
                    <a:p>
                      <a:pPr algn="l"/>
                      <a:r>
                        <a:rPr lang="en-US" sz="1100" noProof="1">
                          <a:solidFill>
                            <a:srgbClr val="3A3A37"/>
                          </a:solidFill>
                          <a:latin typeface="Frutiger LT Std 45 Light"/>
                          <a:ea typeface="Frutiger LT Std 45 Light"/>
                        </a:rPr>
                        <a:t>L2 base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plan-review-gate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spec.md and plan.md must merge via MR before tasks — zero-touch fit</a:t>
                      </a:r>
                    </a:p>
                  </a:txBody>
                  <a:tcPr marL="91440" marR="91440" marT="45720" marB="45720" anchor="ctr">
                    <a:lnL>
                      <a:noFill/>
                    </a:lnL>
                    <a:lnR>
                      <a:noFill/>
                    </a:lnR>
                    <a:lnT>
                      <a:noFill/>
                    </a:lnT>
                    <a:lnB w="12700">
                      <a:solidFill>
                        <a:srgbClr val="DCDCD6"/>
                      </a:solidFill>
                    </a:lnB>
                    <a:solidFill>
                      <a:srgbClr val="F4F4F2"/>
                    </a:solidFill>
                  </a:tcPr>
                </a:tc>
              </a:tr>
              <a:tr h="408940">
                <a:tc>
                  <a:txBody>
                    <a:bodyPr wrap="square" rtlCol="0" anchor="ctr"/>
                    <a:lstStyle/>
                    <a:p>
                      <a:pPr algn="l"/>
                      <a:r>
                        <a:rPr lang="en-US" sz="1100" noProof="1">
                          <a:solidFill>
                            <a:srgbClr val="3A3A37"/>
                          </a:solidFill>
                          <a:latin typeface="Frutiger LT Std 45 Light"/>
                          <a:ea typeface="Frutiger LT Std 45 Light"/>
                        </a:rPr>
                        <a:t>L2 preset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charter</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Modular constitutions assembled from a central fragment registry</a:t>
                      </a:r>
                    </a:p>
                  </a:txBody>
                  <a:tcPr marL="91440" marR="91440" marT="45720" marB="45720" anchor="ctr">
                    <a:lnL>
                      <a:noFill/>
                    </a:lnL>
                    <a:lnR>
                      <a:noFill/>
                    </a:lnR>
                    <a:lnT>
                      <a:noFill/>
                    </a:lnT>
                    <a:lnB w="12700">
                      <a:solidFill>
                        <a:srgbClr val="DCDCD6"/>
                      </a:solidFill>
                    </a:lnB>
                    <a:solidFill>
                      <a:srgbClr val="FFFFFF"/>
                    </a:solidFill>
                  </a:tcPr>
                </a:tc>
              </a:tr>
              <a:tr h="408940">
                <a:tc>
                  <a:txBody>
                    <a:bodyPr wrap="square" rtlCol="0" anchor="ctr"/>
                    <a:lstStyle/>
                    <a:p>
                      <a:pPr algn="l"/>
                      <a:r>
                        <a:rPr lang="en-US" sz="1100" noProof="1">
                          <a:solidFill>
                            <a:srgbClr val="3A3A37"/>
                          </a:solidFill>
                          <a:latin typeface="Frutiger LT Std 45 Light"/>
                          <a:ea typeface="Frutiger LT Std 45 Light"/>
                        </a:rPr>
                        <a:t>L2 / L4</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trace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Requirement-to-test matrix; untested requirements surface early</a:t>
                      </a:r>
                    </a:p>
                  </a:txBody>
                  <a:tcPr marL="91440" marR="91440" marT="45720" marB="45720" anchor="ctr">
                    <a:lnL>
                      <a:noFill/>
                    </a:lnL>
                    <a:lnR>
                      <a:noFill/>
                    </a:lnR>
                    <a:lnT>
                      <a:noFill/>
                    </a:lnT>
                    <a:lnB w="12700">
                      <a:solidFill>
                        <a:srgbClr val="DCDCD6"/>
                      </a:solidFill>
                    </a:lnB>
                    <a:solidFill>
                      <a:srgbClr val="F4F4F2"/>
                    </a:solidFill>
                  </a:tcPr>
                </a:tc>
              </a:tr>
              <a:tr h="408940">
                <a:tc>
                  <a:txBody>
                    <a:bodyPr wrap="square" rtlCol="0" anchor="ctr"/>
                    <a:lstStyle/>
                    <a:p>
                      <a:pPr algn="l"/>
                      <a:r>
                        <a:rPr lang="en-US" sz="1100" noProof="1">
                          <a:solidFill>
                            <a:srgbClr val="3A3A37"/>
                          </a:solidFill>
                          <a:latin typeface="Frutiger LT Std 45 Light"/>
                          <a:ea typeface="Frutiger LT Std 45 Light"/>
                        </a:rPr>
                        <a:t>L4 review</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red-team</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Adversarial review of specs before plan — hostile-actor lens</a:t>
                      </a:r>
                    </a:p>
                  </a:txBody>
                  <a:tcPr marL="91440" marR="91440" marT="45720" marB="45720" anchor="ctr">
                    <a:lnL>
                      <a:noFill/>
                    </a:lnL>
                    <a:lnR>
                      <a:noFill/>
                    </a:lnR>
                    <a:lnT>
                      <a:noFill/>
                    </a:lnT>
                    <a:lnB w="12700">
                      <a:solidFill>
                        <a:srgbClr val="DCDCD6"/>
                      </a:solidFill>
                    </a:lnB>
                    <a:solidFill>
                      <a:srgbClr val="FFFFFF"/>
                    </a:solidFill>
                  </a:tcPr>
                </a:tc>
              </a:tr>
              <a:tr h="408940">
                <a:tc>
                  <a:txBody>
                    <a:bodyPr wrap="square" rtlCol="0" anchor="ctr"/>
                    <a:lstStyle/>
                    <a:p>
                      <a:pPr algn="l"/>
                      <a:r>
                        <a:rPr lang="en-US" sz="1100" noProof="1">
                          <a:solidFill>
                            <a:srgbClr val="3A3A37"/>
                          </a:solidFill>
                          <a:latin typeface="Frutiger LT Std 45 Light"/>
                          <a:ea typeface="Frutiger LT Std 45 Light"/>
                        </a:rPr>
                        <a:t>Layer X</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threatmodel</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OWASP LLM Top-10 analysis on agent artifacts</a:t>
                      </a:r>
                    </a:p>
                  </a:txBody>
                  <a:tcPr marL="91440" marR="91440" marT="45720" marB="45720" anchor="ctr">
                    <a:lnL>
                      <a:noFill/>
                    </a:lnL>
                    <a:lnR>
                      <a:noFill/>
                    </a:lnR>
                    <a:lnT>
                      <a:noFill/>
                    </a:lnT>
                    <a:lnB w="12700">
                      <a:solidFill>
                        <a:srgbClr val="DCDCD6"/>
                      </a:solidFill>
                    </a:lnB>
                    <a:solidFill>
                      <a:srgbClr val="F4F4F2"/>
                    </a:solidFill>
                  </a:tcPr>
                </a:tc>
              </a:tr>
              <a:tr h="408940">
                <a:tc>
                  <a:txBody>
                    <a:bodyPr wrap="square" rtlCol="0" anchor="ctr"/>
                    <a:lstStyle/>
                    <a:p>
                      <a:pPr algn="l"/>
                      <a:r>
                        <a:rPr lang="en-US" sz="1100" noProof="1">
                          <a:solidFill>
                            <a:srgbClr val="3A3A37"/>
                          </a:solidFill>
                          <a:latin typeface="Frutiger LT Std 45 Light"/>
                          <a:ea typeface="Frutiger LT Std 45 Light"/>
                        </a:rPr>
                        <a:t>Layer X</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markitdown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PDF, Word, PowerPoint, Excel to Markdown for spec references</a:t>
                      </a:r>
                    </a:p>
                  </a:txBody>
                  <a:tcPr marL="91440" marR="91440" marT="45720" marB="45720" anchor="ctr">
                    <a:lnL>
                      <a:noFill/>
                    </a:lnL>
                    <a:lnR>
                      <a:noFill/>
                    </a:lnR>
                    <a:lnT>
                      <a:noFill/>
                    </a:lnT>
                    <a:lnB w="12700">
                      <a:solidFill>
                        <a:srgbClr val="DCDCD6"/>
                      </a:solidFill>
                    </a:lnB>
                    <a:solidFill>
                      <a:srgbClr val="FFFFFF"/>
                    </a:solidFill>
                  </a:tcPr>
                </a:tc>
              </a:tr>
              <a:tr h="408940">
                <a:tc>
                  <a:txBody>
                    <a:bodyPr wrap="square" rtlCol="0" anchor="ctr"/>
                    <a:lstStyle/>
                    <a:p>
                      <a:pPr algn="l"/>
                      <a:r>
                        <a:rPr lang="en-US" sz="1100" noProof="1">
                          <a:solidFill>
                            <a:srgbClr val="3A3A37"/>
                          </a:solidFill>
                          <a:latin typeface="Frutiger LT Std 45 Light"/>
                          <a:ea typeface="Frutiger LT Std 45 Light"/>
                        </a:rPr>
                        <a:t>Layer X</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cost · token-budget</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LLM spend telemetry and token diets, finance-ready exports</a:t>
                      </a:r>
                    </a:p>
                  </a:txBody>
                  <a:tcPr marL="91440" marR="91440" marT="45720" marB="45720" anchor="ctr">
                    <a:lnL>
                      <a:noFill/>
                    </a:lnL>
                    <a:lnR>
                      <a:noFill/>
                    </a:lnR>
                    <a:lnT>
                      <a:noFill/>
                    </a:lnT>
                    <a:lnB w="12700">
                      <a:solidFill>
                        <a:srgbClr val="DCDCD6"/>
                      </a:solidFill>
                    </a:lnB>
                    <a:solidFill>
                      <a:srgbClr val="F4F4F2"/>
                    </a:solidFill>
                  </a:tcPr>
                </a:tc>
              </a:tr>
            </a:tbl>
          </a:graphicData>
        </a:graphic>
      </p:graphicFrame>
      <p:sp>
        <p:nvSpPr>
          <p:cNvPr id="5" name="note"/>
          <p:cNvSpPr txBox="1"/>
          <p:nvPr/>
        </p:nvSpPr>
        <p:spPr>
          <a:xfrm>
            <a:off x="711200" y="5689600"/>
            <a:ext cx="10769600" cy="6096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catalog-ci, extensify and presetify are meta-tooling for the Sketch platform team itself.</a:t>
            </a:r>
            <a:endParaRPr lang="en-US" sz="1400" noProof="1"/>
          </a:p>
          <a:p>
            <a:pPr>
              <a:lnSpc>
                <a:spcPct val="150000"/>
              </a:lnSpc>
            </a:pPr>
            <a:r>
              <a:rPr lang="en-US" sz="1150" noProof="1">
                <a:solidFill>
                  <a:srgbClr val="7C7C74"/>
                </a:solidFill>
                <a:latin typeface="Frutiger LT Std 45 Light"/>
                <a:ea typeface="Frutiger LT Std 45 Light"/>
              </a:rPr>
              <a:t>They validate catalogs, extensions and presets — mirror them first. All candidates enter pinned and scanned, never live from upstream.</a:t>
            </a:r>
            <a:endParaRPr lang="en-US" sz="1400" noProof="1"/>
          </a:p>
        </p:txBody>
      </p:sp>
      <p:sp>
        <p:nvSpPr>
          <p:cNvPr id="6" name="footer-rule"/>
          <p:cNvSpPr/>
          <p:nvPr/>
        </p:nvSpPr>
        <p:spPr>
          <a:xfrm>
            <a:off x="711200" y="6451600"/>
            <a:ext cx="10769600" cy="12700"/>
          </a:xfrm>
          <a:prstGeom prst="rect">
            <a:avLst/>
          </a:prstGeom>
          <a:solidFill>
            <a:srgbClr val="232323"/>
          </a:solidFill>
          <a:ln>
            <a:noFill/>
          </a:ln>
        </p:spPr>
      </p:sp>
      <p:sp>
        <p:nvSpPr>
          <p:cNvPr id="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14</a:t>
            </a:r>
            <a:endParaRPr lang="en-US" sz="950" noProof="1"/>
          </a:p>
        </p:txBody>
      </p:sp>
    </p:spTree>
  </p:cSld>
  <p:clrMapOvr>
    <a:masterClrMapping/>
  </p:clrMapOvr>
  <p:transition spd="fast" advClick="1">
    <p:fade/>
  </p:transition>
</p:sld>
</file>

<file path=ppt/slides/slide1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Community candidates: workload seeds</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graphicFrame>
        <p:nvGraphicFramePr>
          <p:cNvPr id="4" name="seed-table"/>
          <p:cNvGraphicFramePr>
            <a:graphicFrameLocks noGrp="1"/>
          </p:cNvGraphicFramePr>
          <p:nvPr/>
        </p:nvGraphicFramePr>
        <p:xfrm>
          <a:off x="711200" y="1422400"/>
          <a:ext cx="10769600" cy="3810000"/>
        </p:xfrm>
        <a:graphic>
          <a:graphicData uri="http://schemas.openxmlformats.org/drawingml/2006/table">
            <a:tbl>
              <a:tblPr/>
              <a:tblGrid>
                <a:gridCol w="2153920"/>
                <a:gridCol w="5061712"/>
                <a:gridCol w="3553968"/>
              </a:tblGrid>
              <a:tr h="381000">
                <a:tc>
                  <a:txBody>
                    <a:bodyPr wrap="square" rtlCol="0" anchor="ctr"/>
                    <a:lstStyle/>
                    <a:p>
                      <a:pPr algn="l"/>
                      <a:r>
                        <a:rPr lang="en-US" sz="1100" noProof="1" b="1">
                          <a:solidFill>
                            <a:srgbClr val="FFFFFF"/>
                          </a:solidFill>
                          <a:latin typeface="Frutiger LT Std 45 Light"/>
                          <a:ea typeface="Frutiger LT Std 45 Light"/>
                        </a:rPr>
                        <a:t>Workload bundle</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Candidates to mirror (pinned)</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Notes</a:t>
                      </a:r>
                    </a:p>
                  </a:txBody>
                  <a:tcPr marL="91440" marR="91440" marT="45720" marB="45720" anchor="ctr">
                    <a:lnL>
                      <a:noFill/>
                    </a:lnL>
                    <a:lnR>
                      <a:noFill/>
                    </a:lnR>
                    <a:lnT>
                      <a:noFill/>
                    </a:lnT>
                    <a:lnB w="12700">
                      <a:solidFill>
                        <a:srgbClr val="DCDCD6"/>
                      </a:solidFill>
                    </a:lnB>
                    <a:solidFill>
                      <a:srgbClr val="6E6E68"/>
                    </a:solidFill>
                  </a:tcPr>
                </a:tc>
              </a:tr>
              <a:tr h="428625">
                <a:tc>
                  <a:txBody>
                    <a:bodyPr wrap="square" rtlCol="0" anchor="ctr"/>
                    <a:lstStyle/>
                    <a:p>
                      <a:pPr algn="l"/>
                      <a:r>
                        <a:rPr lang="en-US" sz="1100" noProof="1">
                          <a:solidFill>
                            <a:srgbClr val="3A3A37"/>
                          </a:solidFill>
                          <a:latin typeface="Frutiger LT Std 45 Light"/>
                          <a:ea typeface="Frutiger LT Std 45 Light"/>
                        </a:rPr>
                        <a:t>sketch-fullstack</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aide (7), fleet (2), product-forge (31)</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Greenfield lifecycle orchestration</a:t>
                      </a:r>
                    </a:p>
                  </a:txBody>
                  <a:tcPr marL="91440" marR="91440" marT="45720" marB="45720" anchor="ctr">
                    <a:lnL>
                      <a:noFill/>
                    </a:lnL>
                    <a:lnR>
                      <a:noFill/>
                    </a:lnR>
                    <a:lnT>
                      <a:noFill/>
                    </a:lnT>
                    <a:lnB w="12700">
                      <a:solidFill>
                        <a:srgbClr val="DCDCD6"/>
                      </a:solidFill>
                    </a:lnB>
                    <a:solidFill>
                      <a:srgbClr val="FFFFFF"/>
                    </a:solidFill>
                  </a:tcPr>
                </a:tc>
              </a:tr>
              <a:tr h="428625">
                <a:tc>
                  <a:txBody>
                    <a:bodyPr wrap="square" rtlCol="0" anchor="ctr"/>
                    <a:lstStyle/>
                    <a:p>
                      <a:pPr algn="l"/>
                      <a:r>
                        <a:rPr lang="en-US" sz="1100" noProof="1">
                          <a:solidFill>
                            <a:srgbClr val="3A3A37"/>
                          </a:solidFill>
                          <a:latin typeface="Frutiger LT Std 45 Light"/>
                          <a:ea typeface="Frutiger LT Std 45 Light"/>
                        </a:rPr>
                        <a:t>sketch-brownfield</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brownfield (4), brownkit (10), blueprint-index (4), time-machine (3)</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Deepest upstream coverage</a:t>
                      </a:r>
                    </a:p>
                  </a:txBody>
                  <a:tcPr marL="91440" marR="91440" marT="45720" marB="45720" anchor="ctr">
                    <a:lnL>
                      <a:noFill/>
                    </a:lnL>
                    <a:lnR>
                      <a:noFill/>
                    </a:lnR>
                    <a:lnT>
                      <a:noFill/>
                    </a:lnT>
                    <a:lnB w="12700">
                      <a:solidFill>
                        <a:srgbClr val="DCDCD6"/>
                      </a:solidFill>
                    </a:lnB>
                    <a:solidFill>
                      <a:srgbClr val="F4F4F2"/>
                    </a:solidFill>
                  </a:tcPr>
                </a:tc>
              </a:tr>
              <a:tr h="428625">
                <a:tc>
                  <a:txBody>
                    <a:bodyPr wrap="square" rtlCol="0" anchor="ctr"/>
                    <a:lstStyle/>
                    <a:p>
                      <a:pPr algn="l"/>
                      <a:r>
                        <a:rPr lang="en-US" sz="1100" noProof="1">
                          <a:solidFill>
                            <a:srgbClr val="3A3A37"/>
                          </a:solidFill>
                          <a:latin typeface="Frutiger LT Std 45 Light"/>
                          <a:ea typeface="Frutiger LT Std 45 Light"/>
                        </a:rPr>
                        <a:t>sketch-migration</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fx-to-dotnet (12)</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7-phase .NET Framework to modern .NET</a:t>
                      </a:r>
                    </a:p>
                  </a:txBody>
                  <a:tcPr marL="91440" marR="91440" marT="45720" marB="45720" anchor="ctr">
                    <a:lnL>
                      <a:noFill/>
                    </a:lnL>
                    <a:lnR>
                      <a:noFill/>
                    </a:lnR>
                    <a:lnT>
                      <a:noFill/>
                    </a:lnT>
                    <a:lnB w="12700">
                      <a:solidFill>
                        <a:srgbClr val="DCDCD6"/>
                      </a:solidFill>
                    </a:lnB>
                    <a:solidFill>
                      <a:srgbClr val="FFFFFF"/>
                    </a:solidFill>
                  </a:tcPr>
                </a:tc>
              </a:tr>
              <a:tr h="428625">
                <a:tc>
                  <a:txBody>
                    <a:bodyPr wrap="square" rtlCol="0" anchor="ctr"/>
                    <a:lstStyle/>
                    <a:p>
                      <a:pPr algn="l"/>
                      <a:r>
                        <a:rPr lang="en-US" sz="1100" noProof="1">
                          <a:solidFill>
                            <a:srgbClr val="3A3A37"/>
                          </a:solidFill>
                          <a:latin typeface="Frutiger LT Std 45 Light"/>
                          <a:ea typeface="Frutiger LT Std 45 Light"/>
                        </a:rPr>
                        <a:t>sketch-api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api-evolve (12)</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Breaking-change detection, semver, deprecation</a:t>
                      </a:r>
                    </a:p>
                  </a:txBody>
                  <a:tcPr marL="91440" marR="91440" marT="45720" marB="45720" anchor="ctr">
                    <a:lnL>
                      <a:noFill/>
                    </a:lnL>
                    <a:lnR>
                      <a:noFill/>
                    </a:lnR>
                    <a:lnT>
                      <a:noFill/>
                    </a:lnT>
                    <a:lnB w="12700">
                      <a:solidFill>
                        <a:srgbClr val="DCDCD6"/>
                      </a:solidFill>
                    </a:lnB>
                    <a:solidFill>
                      <a:srgbClr val="F4F4F2"/>
                    </a:solidFill>
                  </a:tcPr>
                </a:tc>
              </a:tr>
              <a:tr h="428625">
                <a:tc>
                  <a:txBody>
                    <a:bodyPr wrap="square" rtlCol="0" anchor="ctr"/>
                    <a:lstStyle/>
                    <a:p>
                      <a:pPr algn="l"/>
                      <a:r>
                        <a:rPr lang="en-US" sz="1100" noProof="1">
                          <a:solidFill>
                            <a:srgbClr val="3A3A37"/>
                          </a:solidFill>
                          <a:latin typeface="Frutiger LT Std 45 Light"/>
                          <a:ea typeface="Frutiger LT Std 45 Light"/>
                        </a:rPr>
                        <a:t>sketch-frontend</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figma (5), figma-starter (1), wireframe (6)</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Design-grounded specs and sign-off</a:t>
                      </a:r>
                    </a:p>
                  </a:txBody>
                  <a:tcPr marL="91440" marR="91440" marT="45720" marB="45720" anchor="ctr">
                    <a:lnL>
                      <a:noFill/>
                    </a:lnL>
                    <a:lnR>
                      <a:noFill/>
                    </a:lnR>
                    <a:lnT>
                      <a:noFill/>
                    </a:lnT>
                    <a:lnB w="12700">
                      <a:solidFill>
                        <a:srgbClr val="DCDCD6"/>
                      </a:solidFill>
                    </a:lnB>
                    <a:solidFill>
                      <a:srgbClr val="FFFFFF"/>
                    </a:solidFill>
                  </a:tcPr>
                </a:tc>
              </a:tr>
              <a:tr h="428625">
                <a:tc>
                  <a:txBody>
                    <a:bodyPr wrap="square" rtlCol="0" anchor="ctr"/>
                    <a:lstStyle/>
                    <a:p>
                      <a:pPr algn="l"/>
                      <a:r>
                        <a:rPr lang="en-US" sz="1100" noProof="1">
                          <a:solidFill>
                            <a:srgbClr val="3A3A37"/>
                          </a:solidFill>
                          <a:latin typeface="Frutiger LT Std 45 Light"/>
                          <a:ea typeface="Frutiger LT Std 45 Light"/>
                        </a:rPr>
                        <a:t>sketch-mlops · sketch-genai</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golden-demo (3), harness (5), rag-azure-builder (5), contextforge-mcp (4)</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Model testing, RAG onboarding</a:t>
                      </a:r>
                    </a:p>
                  </a:txBody>
                  <a:tcPr marL="91440" marR="91440" marT="45720" marB="45720" anchor="ctr">
                    <a:lnL>
                      <a:noFill/>
                    </a:lnL>
                    <a:lnR>
                      <a:noFill/>
                    </a:lnR>
                    <a:lnT>
                      <a:noFill/>
                    </a:lnT>
                    <a:lnB w="12700">
                      <a:solidFill>
                        <a:srgbClr val="DCDCD6"/>
                      </a:solidFill>
                    </a:lnB>
                    <a:solidFill>
                      <a:srgbClr val="F4F4F2"/>
                    </a:solidFill>
                  </a:tcPr>
                </a:tc>
              </a:tr>
              <a:tr h="428625">
                <a:tc>
                  <a:txBody>
                    <a:bodyPr wrap="square" rtlCol="0" anchor="ctr"/>
                    <a:lstStyle/>
                    <a:p>
                      <a:pPr algn="l"/>
                      <a:r>
                        <a:rPr lang="en-US" sz="1100" noProof="1">
                          <a:solidFill>
                            <a:srgbClr val="3A3A37"/>
                          </a:solidFill>
                          <a:latin typeface="Frutiger LT Std 45 Light"/>
                          <a:ea typeface="Frutiger LT Std 45 Light"/>
                        </a:rPr>
                        <a:t>sketch-testing</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bdd (3), reqnroll-bdd (4), spectest (4), qa (1), verify (1)</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Acceptance criteria and coverage</a:t>
                      </a:r>
                    </a:p>
                  </a:txBody>
                  <a:tcPr marL="91440" marR="91440" marT="45720" marB="45720" anchor="ctr">
                    <a:lnL>
                      <a:noFill/>
                    </a:lnL>
                    <a:lnR>
                      <a:noFill/>
                    </a:lnR>
                    <a:lnT>
                      <a:noFill/>
                    </a:lnT>
                    <a:lnB w="12700">
                      <a:solidFill>
                        <a:srgbClr val="DCDCD6"/>
                      </a:solidFill>
                    </a:lnB>
                    <a:solidFill>
                      <a:srgbClr val="FFFFFF"/>
                    </a:solidFill>
                  </a:tcPr>
                </a:tc>
              </a:tr>
              <a:tr h="428625">
                <a:tc>
                  <a:txBody>
                    <a:bodyPr wrap="square" rtlCol="0" anchor="ctr"/>
                    <a:lstStyle/>
                    <a:p>
                      <a:pPr algn="l"/>
                      <a:r>
                        <a:rPr lang="en-US" sz="1100" noProof="1">
                          <a:solidFill>
                            <a:srgbClr val="3A3A37"/>
                          </a:solidFill>
                          <a:latin typeface="Frutiger LT Std 45 Light"/>
                          <a:ea typeface="Frutiger LT Std 45 Light"/>
                        </a:rPr>
                        <a:t>sketch-maintenance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bugfix (3), fixit (1), fix-findings (1), cleanup (1), reconcile (1)</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BAU change and drift repair</a:t>
                      </a:r>
                    </a:p>
                  </a:txBody>
                  <a:tcPr marL="91440" marR="91440" marT="45720" marB="45720" anchor="ctr">
                    <a:lnL>
                      <a:noFill/>
                    </a:lnL>
                    <a:lnR>
                      <a:noFill/>
                    </a:lnR>
                    <a:lnT>
                      <a:noFill/>
                    </a:lnT>
                    <a:lnB w="12700">
                      <a:solidFill>
                        <a:srgbClr val="DCDCD6"/>
                      </a:solidFill>
                    </a:lnB>
                    <a:solidFill>
                      <a:srgbClr val="F4F4F2"/>
                    </a:solidFill>
                  </a:tcPr>
                </a:tc>
              </a:tr>
            </a:tbl>
          </a:graphicData>
        </a:graphic>
      </p:graphicFrame>
      <p:sp>
        <p:nvSpPr>
          <p:cNvPr id="5" name="note"/>
          <p:cNvSpPr txBox="1"/>
          <p:nvPr/>
        </p:nvSpPr>
        <p:spPr>
          <a:xfrm>
            <a:off x="711200" y="54356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Nothing upstream touches a banking domain.</a:t>
            </a:r>
            <a:endParaRPr lang="en-US" sz="1400" noProof="1"/>
          </a:p>
          <a:p>
            <a:pPr>
              <a:lnSpc>
                <a:spcPct val="150000"/>
              </a:lnSpc>
            </a:pPr>
            <a:r>
              <a:rPr lang="en-US" sz="1150" noProof="1">
                <a:solidFill>
                  <a:srgbClr val="7C7C74"/>
                </a:solidFill>
                <a:latin typeface="Frutiger LT Std 45 Light"/>
                <a:ea typeface="Frutiger LT Std 45 Light"/>
              </a:rPr>
              <a:t>Across all 144 community entries there is no candidate for KYC, risk, finance close or compliance. Domain bundles are written by the bank, on top of these mirrored workload and utility seeds.</a:t>
            </a:r>
            <a:endParaRPr lang="en-US" sz="1400" noProof="1"/>
          </a:p>
        </p:txBody>
      </p:sp>
      <p:sp>
        <p:nvSpPr>
          <p:cNvPr id="6" name="footer-rule"/>
          <p:cNvSpPr/>
          <p:nvPr/>
        </p:nvSpPr>
        <p:spPr>
          <a:xfrm>
            <a:off x="711200" y="6451600"/>
            <a:ext cx="10769600" cy="12700"/>
          </a:xfrm>
          <a:prstGeom prst="rect">
            <a:avLst/>
          </a:prstGeom>
          <a:solidFill>
            <a:srgbClr val="232323"/>
          </a:solidFill>
          <a:ln>
            <a:noFill/>
          </a:ln>
        </p:spPr>
      </p:sp>
      <p:sp>
        <p:nvSpPr>
          <p:cNvPr id="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15</a:t>
            </a:r>
            <a:endParaRPr lang="en-US" sz="950" noProof="1"/>
          </a:p>
        </p:txBody>
      </p:sp>
    </p:spTree>
  </p:cSld>
  <p:clrMapOvr>
    <a:masterClrMapping/>
  </p:clrMapOvr>
  <p:transition spd="fast" advClick="1">
    <p:fade/>
  </p:transition>
</p:sld>
</file>

<file path=ppt/slides/slide1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The bottleneck: one team cannot approve the bank's MRs</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item1"/>
          <p:cNvSpPr txBox="1"/>
          <p:nvPr/>
        </p:nvSpPr>
        <p:spPr>
          <a:xfrm>
            <a:off x="711200" y="14732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Hundreds of maintainers, one approval queue.</a:t>
            </a:r>
            <a:endParaRPr lang="en-US" sz="1400" noProof="1"/>
          </a:p>
          <a:p>
            <a:pPr>
              <a:lnSpc>
                <a:spcPct val="150000"/>
              </a:lnSpc>
            </a:pPr>
            <a:r>
              <a:rPr lang="en-US" sz="1150" noProof="1">
                <a:solidFill>
                  <a:srgbClr val="7C7C74"/>
                </a:solidFill>
                <a:latin typeface="Frutiger LT Std 45 Light"/>
                <a:ea typeface="Frutiger LT Std 45 Light"/>
              </a:rPr>
              <a:t>A single catalog repo puts the platform team on the merge path of every domain publish. It does not scale past the first division, and it makes the central team the slowest part of every release.</a:t>
            </a:r>
            <a:endParaRPr lang="en-US" sz="1400" noProof="1"/>
          </a:p>
        </p:txBody>
      </p:sp>
      <p:sp>
        <p:nvSpPr>
          <p:cNvPr id="5" name="item2"/>
          <p:cNvSpPr txBox="1"/>
          <p:nvPr/>
        </p:nvSpPr>
        <p:spPr>
          <a:xfrm>
            <a:off x="711200" y="27178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Domain knowledge sits with domain teams.</a:t>
            </a:r>
            <a:endParaRPr lang="en-US" sz="1400" noProof="1"/>
          </a:p>
          <a:p>
            <a:pPr>
              <a:lnSpc>
                <a:spcPct val="150000"/>
              </a:lnSpc>
            </a:pPr>
            <a:r>
              <a:rPr lang="en-US" sz="1150" noProof="1">
                <a:solidFill>
                  <a:srgbClr val="7C7C74"/>
                </a:solidFill>
                <a:latin typeface="Frutiger LT Std 45 Light"/>
                <a:ea typeface="Frutiger LT Std 45 Light"/>
              </a:rPr>
              <a:t>Whether a KYC questionnaire rule is correct is a Compliance judgement, not a platform judgement. Central review of domain content adds latency, not safety.</a:t>
            </a:r>
            <a:endParaRPr lang="en-US" sz="1400" noProof="1"/>
          </a:p>
        </p:txBody>
      </p:sp>
      <p:sp>
        <p:nvSpPr>
          <p:cNvPr id="6" name="item3"/>
          <p:cNvSpPr txBox="1"/>
          <p:nvPr/>
        </p:nvSpPr>
        <p:spPr>
          <a:xfrm>
            <a:off x="711200" y="39624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Independence must be structural, not procedural.</a:t>
            </a:r>
            <a:endParaRPr lang="en-US" sz="1400" noProof="1"/>
          </a:p>
          <a:p>
            <a:pPr>
              <a:lnSpc>
                <a:spcPct val="150000"/>
              </a:lnSpc>
            </a:pPr>
            <a:r>
              <a:rPr lang="en-US" sz="1150" noProof="1">
                <a:solidFill>
                  <a:srgbClr val="7C7C74"/>
                </a:solidFill>
                <a:latin typeface="Frutiger LT Std 45 Light"/>
                <a:ea typeface="Frutiger LT Std 45 Light"/>
              </a:rPr>
              <a:t>"Please only touch your own folders" fails at the first urgent fix. Ownership must be enforced by subgroup membership, protected branches and CODEOWNERS — not by convention.</a:t>
            </a:r>
            <a:endParaRPr lang="en-US" sz="1400" noProof="1"/>
          </a:p>
        </p:txBody>
      </p:sp>
      <p:sp>
        <p:nvSpPr>
          <p:cNvPr id="7" name="item4"/>
          <p:cNvSpPr txBox="1"/>
          <p:nvPr/>
        </p:nvSpPr>
        <p:spPr>
          <a:xfrm>
            <a:off x="711200" y="5207000"/>
            <a:ext cx="10769600" cy="7620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Central control shrinks to a contract.</a:t>
            </a:r>
            <a:endParaRPr lang="en-US" sz="1400" noProof="1"/>
          </a:p>
          <a:p>
            <a:pPr>
              <a:lnSpc>
                <a:spcPct val="150000"/>
              </a:lnSpc>
            </a:pPr>
            <a:r>
              <a:rPr lang="en-US" sz="1150" noProof="1">
                <a:solidFill>
                  <a:srgbClr val="7C7C74"/>
                </a:solidFill>
                <a:latin typeface="Frutiger LT Std 45 Light"/>
                <a:ea typeface="Frutiger LT Std 45 Light"/>
              </a:rPr>
              <a:t>The platform team keeps what only it can judge: the schema, the CI gates, the shared layers. Everything else is delegated — and the delegation is enforced by automation, not by queueing.</a:t>
            </a:r>
            <a:endParaRPr lang="en-US" sz="1400" noProof="1"/>
          </a:p>
        </p:txBody>
      </p:sp>
      <p:sp>
        <p:nvSpPr>
          <p:cNvPr id="8" name="footer-rule"/>
          <p:cNvSpPr/>
          <p:nvPr/>
        </p:nvSpPr>
        <p:spPr>
          <a:xfrm>
            <a:off x="711200" y="6451600"/>
            <a:ext cx="10769600" cy="12700"/>
          </a:xfrm>
          <a:prstGeom prst="rect">
            <a:avLst/>
          </a:prstGeom>
          <a:solidFill>
            <a:srgbClr val="232323"/>
          </a:solidFill>
          <a:ln>
            <a:noFill/>
          </a:ln>
        </p:spPr>
      </p:sp>
      <p:sp>
        <p:nvSpPr>
          <p:cNvPr id="9"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16</a:t>
            </a:r>
            <a:endParaRPr lang="en-US" sz="950" noProof="1"/>
          </a:p>
        </p:txBody>
      </p:sp>
    </p:spTree>
  </p:cSld>
  <p:clrMapOvr>
    <a:masterClrMapping/>
  </p:clrMapOvr>
  <p:transition spd="fast" advClick="1">
    <p:fade/>
  </p:transition>
</p:sld>
</file>

<file path=ppt/slides/slide1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Federated ownership: two tiers, one contract</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code-panel"/>
          <p:cNvSpPr/>
          <p:nvPr/>
        </p:nvSpPr>
        <p:spPr>
          <a:xfrm>
            <a:off x="711200" y="1473200"/>
            <a:ext cx="5969000" cy="4521200"/>
          </a:xfrm>
          <a:prstGeom prst="rect">
            <a:avLst/>
          </a:prstGeom>
          <a:solidFill>
            <a:srgbClr val="F4F4F2"/>
          </a:solidFill>
          <a:ln>
            <a:noFill/>
          </a:ln>
        </p:spPr>
      </p:sp>
      <p:sp>
        <p:nvSpPr>
          <p:cNvPr id="5" name="code-text"/>
          <p:cNvSpPr txBox="1"/>
          <p:nvPr/>
        </p:nvSpPr>
        <p:spPr>
          <a:xfrm>
            <a:off x="889000" y="1625600"/>
            <a:ext cx="5613400" cy="4216400"/>
          </a:xfrm>
          <a:prstGeom prst="rect">
            <a:avLst/>
          </a:prstGeom>
          <a:noFill/>
          <a:ln>
            <a:noFill/>
          </a:ln>
        </p:spPr>
        <p:txBody>
          <a:bodyPr lIns="0" rIns="0" tIns="0" bIns="0" wrap="square" rtlCol="0"/>
          <a:lstStyle/>
          <a:p>
            <a:pPr>
              <a:lnSpc>
                <a:spcPct val="145000"/>
              </a:lnSpc>
            </a:pPr>
            <a:r>
              <a:rPr lang="en-US" sz="1000" noProof="1">
                <a:solidFill>
                  <a:srgbClr val="3A3A37"/>
                </a:solidFill>
                <a:latin typeface="Consolas"/>
                <a:ea typeface="Consolas"/>
              </a:rPr>
              <a:t>SketchKitExtensions/
├── platform/                  central platform team
│   ├── catalog/               schema · ci · catalog.d/
│   ├── base/sketch/           L2 commands, generic skills
│   ├── presets/               bank-wide presets
│   ├── extensions/            workload + cross-cutting
│   ├── mirrors/               upstream intake, scanned
│   └── bundles/               workload bundles (10)
├── domains/
│   ├── investment-banking/    IB leads: Maintainer, own MRs
│   │   ├── extensions/        skt-ibpitch · skt-cpresearch …
│   │   └── bundles/           sketch-ib-pitch …
│   ├── wealth-management/     same shape per division
│   ├── asset-management/ · group-risk/
│   └── group-finance/ · compliance/
└── incubation/                per-team sandboxes
    └── &lt;team-slug&gt;/           team is Maintainer; in no channel</a:t>
            </a:r>
            <a:endParaRPr lang="en-US" sz="1000" noProof="1"/>
          </a:p>
        </p:txBody>
      </p:sp>
      <p:sp>
        <p:nvSpPr>
          <p:cNvPr id="6" name="c1n"/>
          <p:cNvSpPr txBox="1"/>
          <p:nvPr/>
        </p:nvSpPr>
        <p:spPr>
          <a:xfrm>
            <a:off x="7061200" y="14986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1</a:t>
            </a:r>
            <a:endParaRPr lang="en-US" sz="1800" noProof="1"/>
          </a:p>
        </p:txBody>
      </p:sp>
      <p:sp>
        <p:nvSpPr>
          <p:cNvPr id="7" name="c1t"/>
          <p:cNvSpPr txBox="1"/>
          <p:nvPr/>
        </p:nvSpPr>
        <p:spPr>
          <a:xfrm>
            <a:off x="7416800" y="1524000"/>
            <a:ext cx="40640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Subgroup membership enforces ownership.</a:t>
            </a:r>
            <a:r>
              <a:rPr lang="en-US" sz="1100" noProof="1">
                <a:solidFill>
                  <a:srgbClr val="3A3A37"/>
                </a:solidFill>
                <a:latin typeface="Frutiger LT Std 45 Light"/>
                <a:ea typeface="Frutiger LT Std 45 Light"/>
              </a:rPr>
              <a:t> Division leads hold Maintainer on their division subgroup — inheritance covers extensions/, bundles/ and every repo below; platform/ is read-only to them.</a:t>
            </a:r>
            <a:endParaRPr lang="en-US" sz="1100" noProof="1"/>
          </a:p>
        </p:txBody>
      </p:sp>
      <p:sp>
        <p:nvSpPr>
          <p:cNvPr id="8" name="c2n"/>
          <p:cNvSpPr txBox="1"/>
          <p:nvPr/>
        </p:nvSpPr>
        <p:spPr>
          <a:xfrm>
            <a:off x="7061200" y="24638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2</a:t>
            </a:r>
            <a:endParaRPr lang="en-US" sz="1800" noProof="1"/>
          </a:p>
        </p:txBody>
      </p:sp>
      <p:sp>
        <p:nvSpPr>
          <p:cNvPr id="9" name="c2t"/>
          <p:cNvSpPr txBox="1"/>
          <p:nvPr/>
        </p:nvSpPr>
        <p:spPr>
          <a:xfrm>
            <a:off x="7416800" y="2489200"/>
            <a:ext cx="40640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The catalog is federated.</a:t>
            </a:r>
            <a:r>
              <a:rPr lang="en-US" sz="1100" noProof="1">
                <a:solidFill>
                  <a:srgbClr val="3A3A37"/>
                </a:solidFill>
                <a:latin typeface="Frutiger LT Std 45 Light"/>
                <a:ea typeface="Frutiger LT Std 45 Light"/>
              </a:rPr>
              <a:t> Each domain owns a catalog.d/&lt;domain&gt;.yml fragment inside the platform catalog project; CI aggregates the org catalog. A domain MR touches only its own fragment.</a:t>
            </a:r>
            <a:endParaRPr lang="en-US" sz="1100" noProof="1"/>
          </a:p>
        </p:txBody>
      </p:sp>
      <p:sp>
        <p:nvSpPr>
          <p:cNvPr id="10" name="c3n"/>
          <p:cNvSpPr txBox="1"/>
          <p:nvPr/>
        </p:nvSpPr>
        <p:spPr>
          <a:xfrm>
            <a:off x="7061200" y="34290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3</a:t>
            </a:r>
            <a:endParaRPr lang="en-US" sz="1800" noProof="1"/>
          </a:p>
        </p:txBody>
      </p:sp>
      <p:sp>
        <p:nvSpPr>
          <p:cNvPr id="11" name="c3t"/>
          <p:cNvSpPr txBox="1"/>
          <p:nvPr/>
        </p:nvSpPr>
        <p:spPr>
          <a:xfrm>
            <a:off x="7416800" y="3454400"/>
            <a:ext cx="40640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CODEOWNERS routes approval.</a:t>
            </a:r>
            <a:r>
              <a:rPr lang="en-US" sz="1100" noProof="1">
                <a:solidFill>
                  <a:srgbClr val="3A3A37"/>
                </a:solidFill>
                <a:latin typeface="Frutiger LT Std 45 Light"/>
                <a:ea typeface="Frutiger LT Std 45 Light"/>
              </a:rPr>
              <a:t> Fragments to domain leads; schema and CI to the platform team; each extension repo to its own owner group — down to per-command paths via sections.</a:t>
            </a:r>
            <a:endParaRPr lang="en-US" sz="1100" noProof="1"/>
          </a:p>
        </p:txBody>
      </p:sp>
      <p:sp>
        <p:nvSpPr>
          <p:cNvPr id="12" name="c4n"/>
          <p:cNvSpPr txBox="1"/>
          <p:nvPr/>
        </p:nvSpPr>
        <p:spPr>
          <a:xfrm>
            <a:off x="7061200" y="4394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4</a:t>
            </a:r>
            <a:endParaRPr lang="en-US" sz="1800" noProof="1"/>
          </a:p>
        </p:txBody>
      </p:sp>
      <p:sp>
        <p:nvSpPr>
          <p:cNvPr id="13" name="c4t"/>
          <p:cNvSpPr txBox="1"/>
          <p:nvPr/>
        </p:nvSpPr>
        <p:spPr>
          <a:xfrm>
            <a:off x="7416800" y="4419600"/>
            <a:ext cx="40640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The contract is automated.</a:t>
            </a:r>
            <a:r>
              <a:rPr lang="en-US" sz="1100" noProof="1">
                <a:solidFill>
                  <a:srgbClr val="3A3A37"/>
                </a:solidFill>
                <a:latin typeface="Frutiger LT Std 45 Light"/>
                <a:ea typeface="Frutiger LT Std 45 Light"/>
              </a:rPr>
              <a:t> Schema validation, Prompt Shields and selftest run in every pipeline — routine domain publishes need no central human review.</a:t>
            </a:r>
            <a:endParaRPr lang="en-US" sz="1100" noProof="1"/>
          </a:p>
        </p:txBody>
      </p:sp>
      <p:sp>
        <p:nvSpPr>
          <p:cNvPr id="14" name="c5n"/>
          <p:cNvSpPr txBox="1"/>
          <p:nvPr/>
        </p:nvSpPr>
        <p:spPr>
          <a:xfrm>
            <a:off x="7061200" y="53594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5</a:t>
            </a:r>
            <a:endParaRPr lang="en-US" sz="1800" noProof="1"/>
          </a:p>
        </p:txBody>
      </p:sp>
      <p:sp>
        <p:nvSpPr>
          <p:cNvPr id="15" name="c5t"/>
          <p:cNvSpPr txBox="1"/>
          <p:nvPr/>
        </p:nvSpPr>
        <p:spPr>
          <a:xfrm>
            <a:off x="7416800" y="5384800"/>
            <a:ext cx="4064000" cy="7874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Three channels, one command.</a:t>
            </a:r>
            <a:r>
              <a:rPr lang="en-US" sz="1100" noProof="1">
                <a:solidFill>
                  <a:srgbClr val="3A3A37"/>
                </a:solidFill>
                <a:latin typeface="Frutiger LT Std 45 Light"/>
                <a:ea typeface="Frutiger LT Std 45 Light"/>
              </a:rPr>
              <a:t> incubation → domain → org. Developers read the org channel; divisions add their domain channel.</a:t>
            </a:r>
            <a:endParaRPr lang="en-US" sz="1100" noProof="1"/>
          </a:p>
        </p:txBody>
      </p:sp>
      <p:sp>
        <p:nvSpPr>
          <p:cNvPr id="16" name="footer-rule"/>
          <p:cNvSpPr/>
          <p:nvPr/>
        </p:nvSpPr>
        <p:spPr>
          <a:xfrm>
            <a:off x="711200" y="6451600"/>
            <a:ext cx="10769600" cy="12700"/>
          </a:xfrm>
          <a:prstGeom prst="rect">
            <a:avLst/>
          </a:prstGeom>
          <a:solidFill>
            <a:srgbClr val="232323"/>
          </a:solidFill>
          <a:ln>
            <a:noFill/>
          </a:ln>
        </p:spPr>
      </p:sp>
      <p:sp>
        <p:nvSpPr>
          <p:cNvPr id="17"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17</a:t>
            </a:r>
            <a:endParaRPr lang="en-US" sz="950" noProof="1"/>
          </a:p>
        </p:txBody>
      </p:sp>
    </p:spTree>
  </p:cSld>
  <p:clrMapOvr>
    <a:masterClrMapping/>
  </p:clrMapOvr>
  <p:transition spd="fast" advClick="1">
    <p:fade/>
  </p:transition>
</p:sld>
</file>

<file path=ppt/slides/slide1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Appendix: subgroup approval is a documented feature</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code-panel"/>
          <p:cNvSpPr/>
          <p:nvPr/>
        </p:nvSpPr>
        <p:spPr>
          <a:xfrm>
            <a:off x="711200" y="1473200"/>
            <a:ext cx="5969000" cy="1676400"/>
          </a:xfrm>
          <a:prstGeom prst="rect">
            <a:avLst/>
          </a:prstGeom>
          <a:solidFill>
            <a:srgbClr val="F4F4F2"/>
          </a:solidFill>
          <a:ln>
            <a:noFill/>
          </a:ln>
        </p:spPr>
      </p:sp>
      <p:sp>
        <p:nvSpPr>
          <p:cNvPr id="5" name="code-text"/>
          <p:cNvSpPr txBox="1"/>
          <p:nvPr/>
        </p:nvSpPr>
        <p:spPr>
          <a:xfrm>
            <a:off x="889000" y="1600200"/>
            <a:ext cx="5613400" cy="1422400"/>
          </a:xfrm>
          <a:prstGeom prst="rect">
            <a:avLst/>
          </a:prstGeom>
          <a:noFill/>
          <a:ln>
            <a:noFill/>
          </a:ln>
        </p:spPr>
        <p:txBody>
          <a:bodyPr lIns="0" rIns="0" tIns="0" bIns="0" wrap="square" rtlCol="0"/>
          <a:lstStyle/>
          <a:p>
            <a:pPr>
              <a:lnSpc>
                <a:spcPct val="135000"/>
              </a:lnSpc>
            </a:pPr>
            <a:r>
              <a:rPr lang="en-US" sz="1000" noProof="1">
                <a:solidFill>
                  <a:srgbClr val="3A3A37"/>
                </a:solidFill>
                <a:latin typeface="Consolas"/>
                <a:ea typeface="Consolas"/>
              </a:rPr>
              <a:t># platform/catalog project — CODEOWNERS
catalog.d/ib.yml    @sketch/domains/ib-leads
catalog.d/wm.yml    @sketch/domains/wm-leads
catalog.d/am.yml    @sketch/domains/am-leads
catalog.schema.yml  @sketch/platform-team
ci/                 @sketch/platform-team</a:t>
            </a:r>
            <a:endParaRPr lang="en-US" sz="1000" noProof="1"/>
          </a:p>
        </p:txBody>
      </p:sp>
      <p:sp>
        <p:nvSpPr>
          <p:cNvPr id="6" name="c1n"/>
          <p:cNvSpPr txBox="1"/>
          <p:nvPr/>
        </p:nvSpPr>
        <p:spPr>
          <a:xfrm>
            <a:off x="7061200" y="14986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1</a:t>
            </a:r>
            <a:endParaRPr lang="en-US" sz="1800" noProof="1"/>
          </a:p>
        </p:txBody>
      </p:sp>
      <p:sp>
        <p:nvSpPr>
          <p:cNvPr id="7" name="c1t"/>
          <p:cNvSpPr txBox="1"/>
          <p:nvPr/>
        </p:nvSpPr>
        <p:spPr>
          <a:xfrm>
            <a:off x="7416800" y="1524000"/>
            <a:ext cx="4064000" cy="7366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Documented since GitLab 13.0</a:t>
            </a:r>
            <a:r>
              <a:rPr lang="en-US" sz="1100" noProof="1">
                <a:solidFill>
                  <a:srgbClr val="3A3A37"/>
                </a:solidFill>
                <a:latin typeface="Frutiger LT Std 45 Light"/>
                <a:ea typeface="Frutiger LT Std 45 Light"/>
              </a:rPr>
              <a:t> — group CODEOWNERS with required approval (Premium); Ultimate locks rules against overrides.</a:t>
            </a:r>
            <a:endParaRPr lang="en-US" sz="1100" noProof="1"/>
          </a:p>
        </p:txBody>
      </p:sp>
      <p:sp>
        <p:nvSpPr>
          <p:cNvPr id="8" name="c2n"/>
          <p:cNvSpPr txBox="1"/>
          <p:nvPr/>
        </p:nvSpPr>
        <p:spPr>
          <a:xfrm>
            <a:off x="7061200" y="23622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2</a:t>
            </a:r>
            <a:endParaRPr lang="en-US" sz="1800" noProof="1"/>
          </a:p>
        </p:txBody>
      </p:sp>
      <p:sp>
        <p:nvSpPr>
          <p:cNvPr id="9" name="c2t"/>
          <p:cNvSpPr txBox="1"/>
          <p:nvPr/>
        </p:nvSpPr>
        <p:spPr>
          <a:xfrm>
            <a:off x="7416800" y="2387600"/>
            <a:ext cx="4064000" cy="7366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Approval is the fine plane</a:t>
            </a:r>
            <a:r>
              <a:rPr lang="en-US" sz="1100" noProof="1">
                <a:solidFill>
                  <a:srgbClr val="3A3A37"/>
                </a:solidFill>
                <a:latin typeface="Frutiger LT Std 45 Light"/>
                <a:ea typeface="Frutiger LT Std 45 Light"/>
              </a:rPr>
              <a:t> — each repo's CODEOWNERS routes to its owner group; sections can split per command path.</a:t>
            </a:r>
            <a:endParaRPr lang="en-US" sz="1100" noProof="1"/>
          </a:p>
        </p:txBody>
      </p:sp>
      <p:sp>
        <p:nvSpPr>
          <p:cNvPr id="10" name="c3n"/>
          <p:cNvSpPr txBox="1"/>
          <p:nvPr/>
        </p:nvSpPr>
        <p:spPr>
          <a:xfrm>
            <a:off x="7061200" y="3225800"/>
            <a:ext cx="304800" cy="279400"/>
          </a:xfrm>
          <a:prstGeom prst="rect">
            <a:avLst/>
          </a:prstGeom>
          <a:noFill/>
          <a:ln>
            <a:noFill/>
          </a:ln>
        </p:spPr>
        <p:txBody>
          <a:bodyPr lIns="0" rIns="0" tIns="0" bIns="0" wrap="none" rtlCol="0"/>
          <a:lstStyle/>
          <a:p>
            <a:pPr>
              <a:lnSpc>
                <a:spcPct val="120000"/>
              </a:lnSpc>
            </a:pPr>
            <a:r>
              <a:rPr lang="en-US" sz="1800" noProof="1">
                <a:solidFill>
                  <a:srgbClr val="B02A30"/>
                </a:solidFill>
                <a:latin typeface="Frutiger LT Std 45 Light"/>
                <a:ea typeface="Frutiger LT Std 45 Light"/>
              </a:rPr>
              <a:t>3</a:t>
            </a:r>
            <a:endParaRPr lang="en-US" sz="1800" noProof="1"/>
          </a:p>
        </p:txBody>
      </p:sp>
      <p:sp>
        <p:nvSpPr>
          <p:cNvPr id="11" name="c3t"/>
          <p:cNvSpPr txBox="1"/>
          <p:nvPr/>
        </p:nvSpPr>
        <p:spPr>
          <a:xfrm>
            <a:off x="7416800" y="3251200"/>
            <a:ext cx="4064000" cy="736600"/>
          </a:xfrm>
          <a:prstGeom prst="rect">
            <a:avLst/>
          </a:prstGeom>
          <a:noFill/>
          <a:ln>
            <a:noFill/>
          </a:ln>
        </p:spPr>
        <p:txBody>
          <a:bodyPr lIns="0" rIns="0" tIns="0" bIns="0" wrap="square" rtlCol="0"/>
          <a:lstStyle/>
          <a:p>
            <a:pPr>
              <a:lnSpc>
                <a:spcPct val="140000"/>
              </a:lnSpc>
            </a:pPr>
            <a:r>
              <a:rPr lang="en-US" sz="1100" noProof="1" b="1">
                <a:solidFill>
                  <a:srgbClr val="3A3A37"/>
                </a:solidFill>
                <a:latin typeface="Frutiger LT Std 45 Light"/>
                <a:ea typeface="Frutiger LT Std 45 Light"/>
              </a:rPr>
              <a:t>One gotcha:</a:t>
            </a:r>
            <a:r>
              <a:rPr lang="en-US" sz="1100" noProof="1">
                <a:solidFill>
                  <a:srgbClr val="3A3A37"/>
                </a:solidFill>
                <a:latin typeface="Frutiger LT Std 45 Light"/>
                <a:ea typeface="Frutiger LT Std 45 Light"/>
              </a:rPr>
              <a:t> @group approvals count direct members only — hence the direct invites in the table below.</a:t>
            </a:r>
            <a:endParaRPr lang="en-US" sz="1100" noProof="1"/>
          </a:p>
        </p:txBody>
      </p:sp>
      <p:graphicFrame>
        <p:nvGraphicFramePr>
          <p:cNvPr id="12" name="perm-table"/>
          <p:cNvGraphicFramePr>
            <a:graphicFrameLocks noGrp="1"/>
          </p:cNvGraphicFramePr>
          <p:nvPr/>
        </p:nvGraphicFramePr>
        <p:xfrm>
          <a:off x="711200" y="4089400"/>
          <a:ext cx="10769600" cy="2032000"/>
        </p:xfrm>
        <a:graphic>
          <a:graphicData uri="http://schemas.openxmlformats.org/drawingml/2006/table">
            <a:tbl>
              <a:tblPr/>
              <a:tblGrid>
                <a:gridCol w="3230880"/>
                <a:gridCol w="5169408"/>
                <a:gridCol w="2369312"/>
              </a:tblGrid>
              <a:tr h="254000">
                <a:tc>
                  <a:txBody>
                    <a:bodyPr wrap="square" rtlCol="0" anchor="ctr"/>
                    <a:lstStyle/>
                    <a:p>
                      <a:pPr algn="l"/>
                      <a:r>
                        <a:rPr lang="en-US" sz="1100" noProof="1" b="1">
                          <a:solidFill>
                            <a:srgbClr val="FFFFFF"/>
                          </a:solidFill>
                          <a:latin typeface="Frutiger LT Std 45 Light"/>
                          <a:ea typeface="Frutiger LT Std 45 Light"/>
                        </a:rPr>
                        <a:t>Level</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Who gets what</a:t>
                      </a:r>
                    </a:p>
                  </a:txBody>
                  <a:tcPr marL="91440" marR="91440" marT="45720" marB="45720" anchor="ctr">
                    <a:lnL>
                      <a:noFill/>
                    </a:lnL>
                    <a:lnR>
                      <a:noFill/>
                    </a:lnR>
                    <a:lnT>
                      <a:noFill/>
                    </a:lnT>
                    <a:lnB w="12700">
                      <a:solidFill>
                        <a:srgbClr val="DCDCD6"/>
                      </a:solidFill>
                    </a:lnB>
                    <a:solidFill>
                      <a:srgbClr val="6E6E68"/>
                    </a:solidFill>
                  </a:tcPr>
                </a:tc>
                <a:tc>
                  <a:txBody>
                    <a:bodyPr wrap="square" rtlCol="0" anchor="ctr"/>
                    <a:lstStyle/>
                    <a:p>
                      <a:pPr algn="l"/>
                      <a:r>
                        <a:rPr lang="en-US" sz="1100" noProof="1" b="1">
                          <a:solidFill>
                            <a:srgbClr val="FFFFFF"/>
                          </a:solidFill>
                          <a:latin typeface="Frutiger LT Std 45 Light"/>
                          <a:ea typeface="Frutiger LT Std 45 Light"/>
                        </a:rPr>
                        <a:t>Set how often</a:t>
                      </a:r>
                    </a:p>
                  </a:txBody>
                  <a:tcPr marL="91440" marR="91440" marT="45720" marB="45720" anchor="ctr">
                    <a:lnL>
                      <a:noFill/>
                    </a:lnL>
                    <a:lnR>
                      <a:noFill/>
                    </a:lnR>
                    <a:lnT>
                      <a:noFill/>
                    </a:lnT>
                    <a:lnB w="12700">
                      <a:solidFill>
                        <a:srgbClr val="DCDCD6"/>
                      </a:solidFill>
                    </a:lnB>
                    <a:solidFill>
                      <a:srgbClr val="6E6E68"/>
                    </a:solidFill>
                  </a:tcPr>
                </a:tc>
              </a:tr>
              <a:tr h="254000">
                <a:tc>
                  <a:txBody>
                    <a:bodyPr wrap="square" rtlCol="0" anchor="ctr"/>
                    <a:lstStyle/>
                    <a:p>
                      <a:pPr algn="l"/>
                      <a:r>
                        <a:rPr lang="en-US" sz="1100" noProof="1">
                          <a:solidFill>
                            <a:srgbClr val="3A3A37"/>
                          </a:solidFill>
                          <a:latin typeface="Frutiger LT Std 45 Light"/>
                          <a:ea typeface="Frutiger LT Std 45 Light"/>
                        </a:rPr>
                        <a:t>Root SketchKitExtensions/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Platform team: Owner</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once</a:t>
                      </a:r>
                    </a:p>
                  </a:txBody>
                  <a:tcPr marL="91440" marR="91440" marT="45720" marB="45720" anchor="ctr">
                    <a:lnL>
                      <a:noFill/>
                    </a:lnL>
                    <a:lnR>
                      <a:noFill/>
                    </a:lnR>
                    <a:lnT>
                      <a:noFill/>
                    </a:lnT>
                    <a:lnB w="12700">
                      <a:solidFill>
                        <a:srgbClr val="DCDCD6"/>
                      </a:solidFill>
                    </a:lnB>
                    <a:solidFill>
                      <a:srgbClr val="FFFFFF"/>
                    </a:solidFill>
                  </a:tcPr>
                </a:tc>
              </a:tr>
              <a:tr h="254000">
                <a:tc>
                  <a:txBody>
                    <a:bodyPr wrap="square" rtlCol="0" anchor="ctr"/>
                    <a:lstStyle/>
                    <a:p>
                      <a:pPr algn="l"/>
                      <a:r>
                        <a:rPr lang="en-US" sz="1100" noProof="1">
                          <a:solidFill>
                            <a:srgbClr val="3A3A37"/>
                          </a:solidFill>
                          <a:latin typeface="Frutiger LT Std 45 Light"/>
                          <a:ea typeface="Frutiger LT Std 45 Light"/>
                        </a:rPr>
                        <a:t>platform/</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Platform team: Maintainer</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once</a:t>
                      </a:r>
                    </a:p>
                  </a:txBody>
                  <a:tcPr marL="91440" marR="91440" marT="45720" marB="45720" anchor="ctr">
                    <a:lnL>
                      <a:noFill/>
                    </a:lnL>
                    <a:lnR>
                      <a:noFill/>
                    </a:lnR>
                    <a:lnT>
                      <a:noFill/>
                    </a:lnT>
                    <a:lnB w="12700">
                      <a:solidFill>
                        <a:srgbClr val="DCDCD6"/>
                      </a:solidFill>
                    </a:lnB>
                    <a:solidFill>
                      <a:srgbClr val="F4F4F2"/>
                    </a:solidFill>
                  </a:tcPr>
                </a:tc>
              </a:tr>
              <a:tr h="254000">
                <a:tc>
                  <a:txBody>
                    <a:bodyPr wrap="square" rtlCol="0" anchor="ctr"/>
                    <a:lstStyle/>
                    <a:p>
                      <a:pPr algn="l"/>
                      <a:r>
                        <a:rPr lang="en-US" sz="1100" noProof="1">
                          <a:solidFill>
                            <a:srgbClr val="3A3A37"/>
                          </a:solidFill>
                          <a:latin typeface="Frutiger LT Std 45 Light"/>
                          <a:ea typeface="Frutiger LT Std 45 Light"/>
                        </a:rPr>
                        <a:t>domains/&lt;division&gt;/</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Division leads group: Maintainer</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once per division</a:t>
                      </a:r>
                    </a:p>
                  </a:txBody>
                  <a:tcPr marL="91440" marR="91440" marT="45720" marB="45720" anchor="ctr">
                    <a:lnL>
                      <a:noFill/>
                    </a:lnL>
                    <a:lnR>
                      <a:noFill/>
                    </a:lnR>
                    <a:lnT>
                      <a:noFill/>
                    </a:lnT>
                    <a:lnB w="12700">
                      <a:solidFill>
                        <a:srgbClr val="DCDCD6"/>
                      </a:solidFill>
                    </a:lnB>
                    <a:solidFill>
                      <a:srgbClr val="FFFFFF"/>
                    </a:solidFill>
                  </a:tcPr>
                </a:tc>
              </a:tr>
              <a:tr h="254000">
                <a:tc>
                  <a:txBody>
                    <a:bodyPr wrap="square" rtlCol="0" anchor="ctr"/>
                    <a:lstStyle/>
                    <a:p>
                      <a:pPr algn="l"/>
                      <a:r>
                        <a:rPr lang="en-US" sz="1100" noProof="1">
                          <a:solidFill>
                            <a:srgbClr val="3A3A37"/>
                          </a:solidFill>
                          <a:latin typeface="Frutiger LT Std 45 Light"/>
                          <a:ea typeface="Frutiger LT Std 45 Light"/>
                        </a:rPr>
                        <a:t>incubation/&lt;team&gt;/</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Team group: Maintainer</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once per team</a:t>
                      </a:r>
                    </a:p>
                  </a:txBody>
                  <a:tcPr marL="91440" marR="91440" marT="45720" marB="45720" anchor="ctr">
                    <a:lnL>
                      <a:noFill/>
                    </a:lnL>
                    <a:lnR>
                      <a:noFill/>
                    </a:lnR>
                    <a:lnT>
                      <a:noFill/>
                    </a:lnT>
                    <a:lnB w="12700">
                      <a:solidFill>
                        <a:srgbClr val="DCDCD6"/>
                      </a:solidFill>
                    </a:lnB>
                    <a:solidFill>
                      <a:srgbClr val="F4F4F2"/>
                    </a:solidFill>
                  </a:tcPr>
                </a:tc>
              </a:tr>
              <a:tr h="254000">
                <a:tc>
                  <a:txBody>
                    <a:bodyPr wrap="square" rtlCol="0" anchor="ctr"/>
                    <a:lstStyle/>
                    <a:p>
                      <a:pPr algn="l"/>
                      <a:r>
                        <a:rPr lang="en-US" sz="1100" noProof="1">
                          <a:solidFill>
                            <a:srgbClr val="3A3A37"/>
                          </a:solidFill>
                          <a:latin typeface="Frutiger LT Std 45 Light"/>
                          <a:ea typeface="Frutiger LT Std 45 Light"/>
                        </a:rPr>
                        <a:t>each extension repo</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Owner group: Maintainer + CODEOWNERS * @skt-…-owners</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once per extension</a:t>
                      </a:r>
                    </a:p>
                  </a:txBody>
                  <a:tcPr marL="91440" marR="91440" marT="45720" marB="45720" anchor="ctr">
                    <a:lnL>
                      <a:noFill/>
                    </a:lnL>
                    <a:lnR>
                      <a:noFill/>
                    </a:lnR>
                    <a:lnT>
                      <a:noFill/>
                    </a:lnT>
                    <a:lnB w="12700">
                      <a:solidFill>
                        <a:srgbClr val="DCDCD6"/>
                      </a:solidFill>
                    </a:lnB>
                    <a:solidFill>
                      <a:srgbClr val="FFFFFF"/>
                    </a:solidFill>
                  </a:tcPr>
                </a:tc>
              </a:tr>
              <a:tr h="254000">
                <a:tc>
                  <a:txBody>
                    <a:bodyPr wrap="square" rtlCol="0" anchor="ctr"/>
                    <a:lstStyle/>
                    <a:p>
                      <a:pPr algn="l"/>
                      <a:r>
                        <a:rPr lang="en-US" sz="1100" noProof="1">
                          <a:solidFill>
                            <a:srgbClr val="3A3A37"/>
                          </a:solidFill>
                          <a:latin typeface="Frutiger LT Std 45 Light"/>
                          <a:ea typeface="Frutiger LT Std 45 Light"/>
                        </a:rPr>
                        <a:t>catalog project</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Leads groups: Developer (direct invite)</a:t>
                      </a:r>
                    </a:p>
                  </a:txBody>
                  <a:tcPr marL="91440" marR="91440" marT="45720" marB="45720" anchor="ctr">
                    <a:lnL>
                      <a:noFill/>
                    </a:lnL>
                    <a:lnR>
                      <a:noFill/>
                    </a:lnR>
                    <a:lnT>
                      <a:noFill/>
                    </a:lnT>
                    <a:lnB w="12700">
                      <a:solidFill>
                        <a:srgbClr val="DCDCD6"/>
                      </a:solidFill>
                    </a:lnB>
                    <a:solidFill>
                      <a:srgbClr val="F4F4F2"/>
                    </a:solidFill>
                  </a:tcPr>
                </a:tc>
                <a:tc>
                  <a:txBody>
                    <a:bodyPr wrap="square" rtlCol="0" anchor="ctr"/>
                    <a:lstStyle/>
                    <a:p>
                      <a:pPr algn="l"/>
                      <a:r>
                        <a:rPr lang="en-US" sz="1100" noProof="1">
                          <a:solidFill>
                            <a:srgbClr val="3A3A37"/>
                          </a:solidFill>
                          <a:latin typeface="Frutiger LT Std 45 Light"/>
                          <a:ea typeface="Frutiger LT Std 45 Light"/>
                        </a:rPr>
                        <a:t>once per division</a:t>
                      </a:r>
                    </a:p>
                  </a:txBody>
                  <a:tcPr marL="91440" marR="91440" marT="45720" marB="45720" anchor="ctr">
                    <a:lnL>
                      <a:noFill/>
                    </a:lnL>
                    <a:lnR>
                      <a:noFill/>
                    </a:lnR>
                    <a:lnT>
                      <a:noFill/>
                    </a:lnT>
                    <a:lnB w="12700">
                      <a:solidFill>
                        <a:srgbClr val="DCDCD6"/>
                      </a:solidFill>
                    </a:lnB>
                    <a:solidFill>
                      <a:srgbClr val="F4F4F2"/>
                    </a:solidFill>
                  </a:tcPr>
                </a:tc>
              </a:tr>
              <a:tr h="254000">
                <a:tc>
                  <a:txBody>
                    <a:bodyPr wrap="square" rtlCol="0" anchor="ctr"/>
                    <a:lstStyle/>
                    <a:p>
                      <a:pPr algn="l"/>
                      <a:r>
                        <a:rPr lang="en-US" sz="1100" noProof="1">
                          <a:solidFill>
                            <a:srgbClr val="3A3A37"/>
                          </a:solidFill>
                          <a:latin typeface="Frutiger LT Std 45 Light"/>
                          <a:ea typeface="Frutiger LT Std 45 Light"/>
                        </a:rPr>
                        <a:t>everything below</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nobody — pure inheritance</a:t>
                      </a:r>
                    </a:p>
                  </a:txBody>
                  <a:tcPr marL="91440" marR="91440" marT="45720" marB="45720" anchor="ctr">
                    <a:lnL>
                      <a:noFill/>
                    </a:lnL>
                    <a:lnR>
                      <a:noFill/>
                    </a:lnR>
                    <a:lnT>
                      <a:noFill/>
                    </a:lnT>
                    <a:lnB w="12700">
                      <a:solidFill>
                        <a:srgbClr val="DCDCD6"/>
                      </a:solidFill>
                    </a:lnB>
                    <a:solidFill>
                      <a:srgbClr val="FFFFFF"/>
                    </a:solidFill>
                  </a:tcPr>
                </a:tc>
                <a:tc>
                  <a:txBody>
                    <a:bodyPr wrap="square" rtlCol="0" anchor="ctr"/>
                    <a:lstStyle/>
                    <a:p>
                      <a:pPr algn="l"/>
                      <a:r>
                        <a:rPr lang="en-US" sz="1100" noProof="1">
                          <a:solidFill>
                            <a:srgbClr val="3A3A37"/>
                          </a:solidFill>
                          <a:latin typeface="Frutiger LT Std 45 Light"/>
                          <a:ea typeface="Frutiger LT Std 45 Light"/>
                        </a:rPr>
                        <a:t>never</a:t>
                      </a:r>
                    </a:p>
                  </a:txBody>
                  <a:tcPr marL="91440" marR="91440" marT="45720" marB="45720" anchor="ctr">
                    <a:lnL>
                      <a:noFill/>
                    </a:lnL>
                    <a:lnR>
                      <a:noFill/>
                    </a:lnR>
                    <a:lnT>
                      <a:noFill/>
                    </a:lnT>
                    <a:lnB w="12700">
                      <a:solidFill>
                        <a:srgbClr val="DCDCD6"/>
                      </a:solidFill>
                    </a:lnB>
                    <a:solidFill>
                      <a:srgbClr val="FFFFFF"/>
                    </a:solidFill>
                  </a:tcPr>
                </a:tc>
              </a:tr>
            </a:tbl>
          </a:graphicData>
        </a:graphic>
      </p:graphicFrame>
      <p:sp>
        <p:nvSpPr>
          <p:cNvPr id="13" name="verified"/>
          <p:cNvSpPr txBox="1"/>
          <p:nvPr/>
        </p:nvSpPr>
        <p:spPr>
          <a:xfrm>
            <a:off x="711200" y="6197600"/>
            <a:ext cx="107696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Fact-checked 1 August 2026 against docs.gitlab.com — CODEOWNERS and merge-request approval rules documentation.</a:t>
            </a:r>
            <a:endParaRPr lang="en-US" sz="950" noProof="1"/>
          </a:p>
        </p:txBody>
      </p:sp>
      <p:sp>
        <p:nvSpPr>
          <p:cNvPr id="14" name="footer-rule"/>
          <p:cNvSpPr/>
          <p:nvPr/>
        </p:nvSpPr>
        <p:spPr>
          <a:xfrm>
            <a:off x="711200" y="6451600"/>
            <a:ext cx="10769600" cy="12700"/>
          </a:xfrm>
          <a:prstGeom prst="rect">
            <a:avLst/>
          </a:prstGeom>
          <a:solidFill>
            <a:srgbClr val="232323"/>
          </a:solidFill>
          <a:ln>
            <a:noFill/>
          </a:ln>
        </p:spPr>
      </p:sp>
      <p:sp>
        <p:nvSpPr>
          <p:cNvPr id="15"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18</a:t>
            </a:r>
            <a:endParaRPr lang="en-US" sz="950" noProof="1"/>
          </a:p>
        </p:txBody>
      </p:sp>
    </p:spTree>
  </p:cSld>
  <p:clrMapOvr>
    <a:masterClrMapping/>
  </p:clrMapOvr>
  <p:transition spd="fast" advClick="1">
    <p:fade/>
  </p:transition>
</p:sld>
</file>

<file path=ppt/slides/slide1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Decisions needed from the GitLab maintainers</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n1"/>
          <p:cNvSpPr txBox="1"/>
          <p:nvPr/>
        </p:nvSpPr>
        <p:spPr>
          <a:xfrm>
            <a:off x="711200" y="14732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a:t>
            </a:r>
            <a:endParaRPr lang="en-US" sz="2400" noProof="1"/>
          </a:p>
        </p:txBody>
      </p:sp>
      <p:sp>
        <p:nvSpPr>
          <p:cNvPr id="5" name="r1"/>
          <p:cNvSpPr txBox="1"/>
          <p:nvPr/>
        </p:nvSpPr>
        <p:spPr>
          <a:xfrm>
            <a:off x="1219200" y="14986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Approve the federated layout</a:t>
            </a:r>
            <a:r>
              <a:rPr lang="en-US" sz="1400" noProof="1">
                <a:solidFill>
                  <a:srgbClr val="3A3A37"/>
                </a:solidFill>
                <a:latin typeface="Frutiger LT Std 45 Light"/>
                <a:ea typeface="Frutiger LT Std 45 Light"/>
              </a:rPr>
              <a:t> — platform/ owned centrally, domains/&lt;division&gt;/ subgroups with their own maintainers, approval routed by CODEOWNERS.</a:t>
            </a:r>
            <a:endParaRPr lang="en-US" sz="1400" noProof="1"/>
          </a:p>
        </p:txBody>
      </p:sp>
      <p:sp>
        <p:nvSpPr>
          <p:cNvPr id="6" name="n2"/>
          <p:cNvSpPr txBox="1"/>
          <p:nvPr/>
        </p:nvSpPr>
        <p:spPr>
          <a:xfrm>
            <a:off x="711200" y="22860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2</a:t>
            </a:r>
            <a:endParaRPr lang="en-US" sz="2400" noProof="1"/>
          </a:p>
        </p:txBody>
      </p:sp>
      <p:sp>
        <p:nvSpPr>
          <p:cNvPr id="7" name="r2"/>
          <p:cNvSpPr txBox="1"/>
          <p:nvPr/>
        </p:nvSpPr>
        <p:spPr>
          <a:xfrm>
            <a:off x="1219200" y="23114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Protected branches and CI ownership.</a:t>
            </a:r>
            <a:r>
              <a:rPr lang="en-US" sz="1400" noProof="1">
                <a:solidFill>
                  <a:srgbClr val="3A3A37"/>
                </a:solidFill>
                <a:latin typeface="Frutiger LT Std 45 Light"/>
                <a:ea typeface="Frutiger LT Std 45 Light"/>
              </a:rPr>
              <a:t> The platform team owns catalog merges; AI security co-owns the Prompt Shields scan gate.</a:t>
            </a:r>
            <a:endParaRPr lang="en-US" sz="1400" noProof="1"/>
          </a:p>
        </p:txBody>
      </p:sp>
      <p:sp>
        <p:nvSpPr>
          <p:cNvPr id="8" name="n3"/>
          <p:cNvSpPr txBox="1"/>
          <p:nvPr/>
        </p:nvSpPr>
        <p:spPr>
          <a:xfrm>
            <a:off x="711200" y="30988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3</a:t>
            </a:r>
            <a:endParaRPr lang="en-US" sz="2400" noProof="1"/>
          </a:p>
        </p:txBody>
      </p:sp>
      <p:sp>
        <p:nvSpPr>
          <p:cNvPr id="9" name="r3"/>
          <p:cNvSpPr txBox="1"/>
          <p:nvPr/>
        </p:nvSpPr>
        <p:spPr>
          <a:xfrm>
            <a:off x="1219200" y="31242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Extension-id registry.</a:t>
            </a:r>
            <a:r>
              <a:rPr lang="en-US" sz="1400" noProof="1">
                <a:solidFill>
                  <a:srgbClr val="3A3A37"/>
                </a:solidFill>
                <a:latin typeface="Frutiger LT Std 45 Light"/>
                <a:ea typeface="Frutiger LT Std 45 Light"/>
              </a:rPr>
              <a:t> Ids are allocated via the catalog repo to prevent collisions; the skt- prefix is reserved for Sketch.</a:t>
            </a:r>
            <a:endParaRPr lang="en-US" sz="1400" noProof="1"/>
          </a:p>
        </p:txBody>
      </p:sp>
      <p:sp>
        <p:nvSpPr>
          <p:cNvPr id="10" name="n4"/>
          <p:cNvSpPr txBox="1"/>
          <p:nvPr/>
        </p:nvSpPr>
        <p:spPr>
          <a:xfrm>
            <a:off x="711200" y="39116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4</a:t>
            </a:r>
            <a:endParaRPr lang="en-US" sz="2400" noProof="1"/>
          </a:p>
        </p:txBody>
      </p:sp>
      <p:sp>
        <p:nvSpPr>
          <p:cNvPr id="11" name="r4"/>
          <p:cNvSpPr txBox="1"/>
          <p:nvPr/>
        </p:nvSpPr>
        <p:spPr>
          <a:xfrm>
            <a:off x="1219200" y="39370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Mirror cadence and diff-review</a:t>
            </a:r>
            <a:r>
              <a:rPr lang="en-US" sz="1400" noProof="1">
                <a:solidFill>
                  <a:srgbClr val="3A3A37"/>
                </a:solidFill>
                <a:latin typeface="Frutiger LT Std 45 Light"/>
                <a:ea typeface="Frutiger LT Std 45 Light"/>
              </a:rPr>
              <a:t> for upstream spec-kit and any mirrored community extensions already approved.</a:t>
            </a:r>
            <a:endParaRPr lang="en-US" sz="1400" noProof="1"/>
          </a:p>
        </p:txBody>
      </p:sp>
      <p:sp>
        <p:nvSpPr>
          <p:cNvPr id="12" name="n5"/>
          <p:cNvSpPr txBox="1"/>
          <p:nvPr/>
        </p:nvSpPr>
        <p:spPr>
          <a:xfrm>
            <a:off x="711200" y="47244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5</a:t>
            </a:r>
            <a:endParaRPr lang="en-US" sz="2400" noProof="1"/>
          </a:p>
        </p:txBody>
      </p:sp>
      <p:sp>
        <p:nvSpPr>
          <p:cNvPr id="13" name="r5"/>
          <p:cNvSpPr txBox="1"/>
          <p:nvPr/>
        </p:nvSpPr>
        <p:spPr>
          <a:xfrm>
            <a:off x="1219200" y="4749800"/>
            <a:ext cx="10261600" cy="5588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Ratify the dependency mechanism.</a:t>
            </a:r>
            <a:r>
              <a:rPr lang="en-US" sz="1400" noProof="1">
                <a:solidFill>
                  <a:srgbClr val="3A3A37"/>
                </a:solidFill>
                <a:latin typeface="Frutiger LT Std 45 Light"/>
                <a:ea typeface="Frutiger LT Std 45 Light"/>
              </a:rPr>
              <a:t> Bundles pin components in bundle.yml; L3 extensions declare requires on sketch base in extension.yml.</a:t>
            </a:r>
            <a:endParaRPr lang="en-US" sz="1400" noProof="1"/>
          </a:p>
        </p:txBody>
      </p:sp>
      <p:sp>
        <p:nvSpPr>
          <p:cNvPr id="14" name="note"/>
          <p:cNvSpPr txBox="1"/>
          <p:nvPr/>
        </p:nvSpPr>
        <p:spPr>
          <a:xfrm>
            <a:off x="711200" y="5638800"/>
            <a:ext cx="10769600" cy="508000"/>
          </a:xfrm>
          <a:prstGeom prst="rect">
            <a:avLst/>
          </a:prstGeom>
          <a:noFill/>
          <a:ln>
            <a:noFill/>
          </a:ln>
        </p:spPr>
        <p:txBody>
          <a:bodyPr lIns="0" rIns="0" tIns="0" bIns="0" wrap="square" rtlCol="0"/>
          <a:lstStyle/>
          <a:p>
            <a:pPr>
              <a:lnSpc>
                <a:spcPct val="145000"/>
              </a:lnSpc>
            </a:pPr>
            <a:r>
              <a:rPr lang="en-US" sz="1150" noProof="1">
                <a:solidFill>
                  <a:srgbClr val="7C7C74"/>
                </a:solidFill>
                <a:latin typeface="Frutiger LT Std 45 Light"/>
                <a:ea typeface="Frutiger LT Std 45 Light"/>
              </a:rPr>
              <a:t>Two open design points travel with this proposal: where Layer 4 sits in the resolution stack (preset tier vs extension tier), and what the install-time vs runtime split means for swapping reviewer support per engagement.</a:t>
            </a:r>
            <a:endParaRPr lang="en-US" sz="1150" noProof="1"/>
          </a:p>
        </p:txBody>
      </p:sp>
      <p:sp>
        <p:nvSpPr>
          <p:cNvPr id="15" name="footer-rule"/>
          <p:cNvSpPr/>
          <p:nvPr/>
        </p:nvSpPr>
        <p:spPr>
          <a:xfrm>
            <a:off x="711200" y="6451600"/>
            <a:ext cx="10769600" cy="12700"/>
          </a:xfrm>
          <a:prstGeom prst="rect">
            <a:avLst/>
          </a:prstGeom>
          <a:solidFill>
            <a:srgbClr val="232323"/>
          </a:solidFill>
          <a:ln>
            <a:noFill/>
          </a:ln>
        </p:spPr>
      </p:sp>
      <p:sp>
        <p:nvSpPr>
          <p:cNvPr id="16"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19</a:t>
            </a:r>
            <a:endParaRPr lang="en-US" sz="950" noProof="1"/>
          </a:p>
        </p:txBody>
      </p:sp>
    </p:spTree>
  </p:cSld>
  <p:clrMapOvr>
    <a:masterClrMapping/>
  </p:clrMapOvr>
  <p:transition spd="fast" advClick="1">
    <p:fade/>
  </p:transition>
</p:sld>
</file>

<file path=ppt/slides/slide2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spTree>
      <p:nvGrpSpPr>
        <p:cNvPr id="1" name=""/>
        <p:cNvGrpSpPr/>
        <p:nvPr/>
      </p:nvGrpSpPr>
      <p:grpSpPr>
        <a:xfrm>
          <a:off x="0" y="0"/>
          <a:ext cx="0" cy="0"/>
          <a:chOff x="0" y="0"/>
          <a:chExt cx="0" cy="0"/>
        </a:xfrm>
      </p:grpSpPr>
      <p:sp>
        <p:nvSpPr>
          <p:cNvPr id="2" name="heading"/>
          <p:cNvSpPr txBox="1"/>
          <p:nvPr/>
        </p:nvSpPr>
        <p:spPr>
          <a:xfrm>
            <a:off x="711200" y="508000"/>
            <a:ext cx="10769600" cy="431800"/>
          </a:xfrm>
          <a:prstGeom prst="rect">
            <a:avLst/>
          </a:prstGeom>
          <a:noFill/>
          <a:ln>
            <a:noFill/>
          </a:ln>
        </p:spPr>
        <p:txBody>
          <a:bodyPr lIns="0" rIns="0" tIns="0" bIns="0" wrap="none" rtlCol="0"/>
          <a:lstStyle/>
          <a:p>
            <a:pPr>
              <a:lnSpc>
                <a:spcPct val="120000"/>
              </a:lnSpc>
            </a:pPr>
            <a:r>
              <a:rPr lang="en-US" sz="2600" noProof="1">
                <a:solidFill>
                  <a:srgbClr val="232323"/>
                </a:solidFill>
                <a:latin typeface="Frutiger LT Std 45 Light"/>
                <a:ea typeface="Frutiger LT Std 45 Light"/>
              </a:rPr>
              <a:t>Summary</a:t>
            </a:r>
            <a:endParaRPr lang="en-US" sz="2600" noProof="1"/>
          </a:p>
        </p:txBody>
      </p:sp>
      <p:sp>
        <p:nvSpPr>
          <p:cNvPr id="3" name="rule-head"/>
          <p:cNvSpPr/>
          <p:nvPr/>
        </p:nvSpPr>
        <p:spPr>
          <a:xfrm>
            <a:off x="711200" y="1117600"/>
            <a:ext cx="10769600" cy="12700"/>
          </a:xfrm>
          <a:prstGeom prst="rect">
            <a:avLst/>
          </a:prstGeom>
          <a:solidFill>
            <a:srgbClr val="232323"/>
          </a:solidFill>
          <a:ln>
            <a:noFill/>
          </a:ln>
        </p:spPr>
      </p:sp>
      <p:sp>
        <p:nvSpPr>
          <p:cNvPr id="4" name="n1"/>
          <p:cNvSpPr txBox="1"/>
          <p:nvPr/>
        </p:nvSpPr>
        <p:spPr>
          <a:xfrm>
            <a:off x="711200" y="15494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1</a:t>
            </a:r>
            <a:endParaRPr lang="en-US" sz="2400" noProof="1"/>
          </a:p>
        </p:txBody>
      </p:sp>
      <p:sp>
        <p:nvSpPr>
          <p:cNvPr id="5" name="r1"/>
          <p:cNvSpPr txBox="1"/>
          <p:nvPr/>
        </p:nvSpPr>
        <p:spPr>
          <a:xfrm>
            <a:off x="1219200" y="1574800"/>
            <a:ext cx="10261600" cy="6096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Extensions are the unit of authorship; bundles are the unit of installation.</a:t>
            </a:r>
            <a:endParaRPr lang="en-US" sz="1400" noProof="1"/>
          </a:p>
          <a:p>
            <a:pPr>
              <a:lnSpc>
                <a:spcPct val="150000"/>
              </a:lnSpc>
            </a:pPr>
            <a:r>
              <a:rPr lang="en-US" sz="1150" noProof="1">
                <a:solidFill>
                  <a:srgbClr val="7C7C74"/>
                </a:solidFill>
                <a:latin typeface="Frutiger LT Std 45 Light"/>
                <a:ea typeface="Frutiger LT Std 45 Light"/>
              </a:rPr>
              <a:t>Small extensions are fine — developers just never see them individually.</a:t>
            </a:r>
            <a:endParaRPr lang="en-US" sz="1400" noProof="1"/>
          </a:p>
        </p:txBody>
      </p:sp>
      <p:sp>
        <p:nvSpPr>
          <p:cNvPr id="6" name="n2"/>
          <p:cNvSpPr txBox="1"/>
          <p:nvPr/>
        </p:nvSpPr>
        <p:spPr>
          <a:xfrm>
            <a:off x="711200" y="24892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2</a:t>
            </a:r>
            <a:endParaRPr lang="en-US" sz="2400" noProof="1"/>
          </a:p>
        </p:txBody>
      </p:sp>
      <p:sp>
        <p:nvSpPr>
          <p:cNvPr id="7" name="r2"/>
          <p:cNvSpPr txBox="1"/>
          <p:nvPr/>
        </p:nvSpPr>
        <p:spPr>
          <a:xfrm>
            <a:off x="1219200" y="2514600"/>
            <a:ext cx="10261600" cy="6096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One repo per extension, one repo per bundle; catalog.yml is the single source of truth.</a:t>
            </a:r>
            <a:endParaRPr lang="en-US" sz="1400" noProof="1"/>
          </a:p>
          <a:p>
            <a:pPr>
              <a:lnSpc>
                <a:spcPct val="150000"/>
              </a:lnSpc>
            </a:pPr>
            <a:r>
              <a:rPr lang="en-US" sz="1150" noProof="1">
                <a:solidFill>
                  <a:srgbClr val="7C7C74"/>
                </a:solidFill>
                <a:latin typeface="Frutiger LT Std 45 Light"/>
                <a:ea typeface="Frutiger LT Std 45 Light"/>
              </a:rPr>
              <a:t>Under /AI Augmented Development Community/SketchKitExtensions, with mirrors and incubation separated.</a:t>
            </a:r>
            <a:endParaRPr lang="en-US" sz="1400" noProof="1"/>
          </a:p>
        </p:txBody>
      </p:sp>
      <p:sp>
        <p:nvSpPr>
          <p:cNvPr id="8" name="n3"/>
          <p:cNvSpPr txBox="1"/>
          <p:nvPr/>
        </p:nvSpPr>
        <p:spPr>
          <a:xfrm>
            <a:off x="711200" y="34290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3</a:t>
            </a:r>
            <a:endParaRPr lang="en-US" sz="2400" noProof="1"/>
          </a:p>
        </p:txBody>
      </p:sp>
      <p:sp>
        <p:nvSpPr>
          <p:cNvPr id="9" name="r3"/>
          <p:cNvSpPr txBox="1"/>
          <p:nvPr/>
        </p:nvSpPr>
        <p:spPr>
          <a:xfrm>
            <a:off x="1219200" y="3454400"/>
            <a:ext cx="10261600" cy="6096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skt-* naming keeps commands short while keeping one product family.</a:t>
            </a:r>
            <a:endParaRPr lang="en-US" sz="1400" noProof="1"/>
          </a:p>
          <a:p>
            <a:pPr>
              <a:lnSpc>
                <a:spcPct val="150000"/>
              </a:lnSpc>
            </a:pPr>
            <a:r>
              <a:rPr lang="en-US" sz="1150" noProof="1">
                <a:solidFill>
                  <a:srgbClr val="7C7C74"/>
                </a:solidFill>
                <a:latin typeface="Frutiger LT Std 45 Light"/>
                <a:ea typeface="Frutiger LT Std 45 Light"/>
              </a:rPr>
              <a:t>/speckit.skt-kyc.screen reads as Sketch, types in under 30 characters.</a:t>
            </a:r>
            <a:endParaRPr lang="en-US" sz="1400" noProof="1"/>
          </a:p>
        </p:txBody>
      </p:sp>
      <p:sp>
        <p:nvSpPr>
          <p:cNvPr id="10" name="n4"/>
          <p:cNvSpPr txBox="1"/>
          <p:nvPr/>
        </p:nvSpPr>
        <p:spPr>
          <a:xfrm>
            <a:off x="711200" y="4368800"/>
            <a:ext cx="381000" cy="304800"/>
          </a:xfrm>
          <a:prstGeom prst="rect">
            <a:avLst/>
          </a:prstGeom>
          <a:noFill/>
          <a:ln>
            <a:noFill/>
          </a:ln>
        </p:spPr>
        <p:txBody>
          <a:bodyPr lIns="0" rIns="0" tIns="0" bIns="0" wrap="none" rtlCol="0"/>
          <a:lstStyle/>
          <a:p>
            <a:pPr>
              <a:lnSpc>
                <a:spcPct val="120000"/>
              </a:lnSpc>
            </a:pPr>
            <a:r>
              <a:rPr lang="en-US" sz="2400" noProof="1">
                <a:solidFill>
                  <a:srgbClr val="B02A30"/>
                </a:solidFill>
                <a:latin typeface="Frutiger LT Std 45 Light"/>
                <a:ea typeface="Frutiger LT Std 45 Light"/>
              </a:rPr>
              <a:t>4</a:t>
            </a:r>
            <a:endParaRPr lang="en-US" sz="2400" noProof="1"/>
          </a:p>
        </p:txBody>
      </p:sp>
      <p:sp>
        <p:nvSpPr>
          <p:cNvPr id="11" name="r4"/>
          <p:cNvSpPr txBox="1"/>
          <p:nvPr/>
        </p:nvSpPr>
        <p:spPr>
          <a:xfrm>
            <a:off x="1219200" y="4394200"/>
            <a:ext cx="10261600" cy="609600"/>
          </a:xfrm>
          <a:prstGeom prst="rect">
            <a:avLst/>
          </a:prstGeom>
          <a:noFill/>
          <a:ln>
            <a:noFill/>
          </a:ln>
        </p:spPr>
        <p:txBody>
          <a:bodyPr lIns="0" rIns="0" tIns="0" bIns="0" wrap="square" rtlCol="0"/>
          <a:lstStyle/>
          <a:p>
            <a:pPr>
              <a:lnSpc>
                <a:spcPct val="150000"/>
              </a:lnSpc>
            </a:pPr>
            <a:r>
              <a:rPr lang="en-US" sz="1400" noProof="1" b="1">
                <a:solidFill>
                  <a:srgbClr val="3A3A37"/>
                </a:solidFill>
                <a:latin typeface="Frutiger LT Std 45 Light"/>
                <a:ea typeface="Frutiger LT Std 45 Light"/>
              </a:rPr>
              <a:t>Governance is structural, not memorised.</a:t>
            </a:r>
            <a:endParaRPr lang="en-US" sz="1400" noProof="1"/>
          </a:p>
          <a:p>
            <a:pPr>
              <a:lnSpc>
                <a:spcPct val="150000"/>
              </a:lnSpc>
            </a:pPr>
            <a:r>
              <a:rPr lang="en-US" sz="1150" noProof="1">
                <a:solidFill>
                  <a:srgbClr val="7C7C74"/>
                </a:solidFill>
                <a:latin typeface="Frutiger LT Std 45 Light"/>
                <a:ea typeface="Frutiger LT Std 45 Light"/>
              </a:rPr>
              <a:t>Schema CI, Prompt Shields scanning, pinned bundle versions and catalog priority do the enforcing.</a:t>
            </a:r>
            <a:endParaRPr lang="en-US" sz="1400" noProof="1"/>
          </a:p>
        </p:txBody>
      </p:sp>
      <p:sp>
        <p:nvSpPr>
          <p:cNvPr id="12" name="closing"/>
          <p:cNvSpPr txBox="1"/>
          <p:nvPr/>
        </p:nvSpPr>
        <p:spPr>
          <a:xfrm>
            <a:off x="711200" y="5435600"/>
            <a:ext cx="10769600" cy="660400"/>
          </a:xfrm>
          <a:prstGeom prst="rect">
            <a:avLst/>
          </a:prstGeom>
          <a:noFill/>
          <a:ln>
            <a:noFill/>
          </a:ln>
        </p:spPr>
        <p:txBody>
          <a:bodyPr lIns="0" rIns="0" tIns="0" bIns="0" wrap="square" rtlCol="0"/>
          <a:lstStyle/>
          <a:p>
            <a:pPr>
              <a:lnSpc>
                <a:spcPct val="150000"/>
              </a:lnSpc>
            </a:pPr>
            <a:r>
              <a:rPr lang="en-US" sz="1500" noProof="1">
                <a:solidFill>
                  <a:srgbClr val="3A3A37"/>
                </a:solidFill>
                <a:latin typeface="Frutiger LT Std 45 Light"/>
                <a:ea typeface="Frutiger LT Std 45 Light"/>
              </a:rPr>
              <a:t>Approve the layout and the promotion gates, and Sketch becomes the single, governed way the bank installs spec-driven capability.</a:t>
            </a:r>
            <a:endParaRPr lang="en-US" sz="1500" noProof="1"/>
          </a:p>
        </p:txBody>
      </p:sp>
      <p:sp>
        <p:nvSpPr>
          <p:cNvPr id="13" name="footer-rule"/>
          <p:cNvSpPr/>
          <p:nvPr/>
        </p:nvSpPr>
        <p:spPr>
          <a:xfrm>
            <a:off x="711200" y="6451600"/>
            <a:ext cx="10769600" cy="12700"/>
          </a:xfrm>
          <a:prstGeom prst="rect">
            <a:avLst/>
          </a:prstGeom>
          <a:solidFill>
            <a:srgbClr val="232323"/>
          </a:solidFill>
          <a:ln>
            <a:noFill/>
          </a:ln>
        </p:spPr>
      </p:sp>
      <p:sp>
        <p:nvSpPr>
          <p:cNvPr id="14" name="footer-left"/>
          <p:cNvSpPr txBox="1"/>
          <p:nvPr/>
        </p:nvSpPr>
        <p:spPr>
          <a:xfrm>
            <a:off x="711200" y="6527800"/>
            <a:ext cx="6350000" cy="203200"/>
          </a:xfrm>
          <a:prstGeom prst="rect">
            <a:avLst/>
          </a:prstGeom>
          <a:noFill/>
          <a:ln>
            <a:noFill/>
          </a:ln>
        </p:spPr>
        <p:txBody>
          <a:bodyPr lIns="0" rIns="0" tIns="0" bIns="0" wrap="none" rtlCol="0"/>
          <a:lstStyle/>
          <a:p>
            <a:pPr>
              <a:lnSpc>
                <a:spcPct val="120000"/>
              </a:lnSpc>
            </a:pPr>
            <a:r>
              <a:rPr lang="en-US" sz="950" noProof="1">
                <a:solidFill>
                  <a:srgbClr val="7C7C74"/>
                </a:solidFill>
                <a:latin typeface="Frutiger LT Std 45 Light"/>
                <a:ea typeface="Frutiger LT Std 45 Light"/>
              </a:rPr>
              <a:t>Sketch Catalog Proposal · 20</a:t>
            </a:r>
            <a:endParaRPr lang="en-US" sz="950" noProof="1"/>
          </a:p>
        </p:txBody>
      </p:sp>
    </p:spTree>
  </p:cSld>
  <p:clrMapOvr>
    <a:masterClrMapping/>
  </p:clrMapOvr>
  <p:transition spd="fast" advClick="1">
    <p:fade/>
  </p:transition>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20</Slides>
</Properties>
</file>

<file path=docProps/core.xml><?xml version="1.0" encoding="utf-8"?>
<cp:coreProperties xmlns:cp="http://schemas.openxmlformats.org/package/2006/metadata/core-properties" xmlns:dc="http://purl.org/dc/elements/1.1/">
  <dc:title>Sketch Catalog Proposal</dc:title>
  <dc:subject>Sketch Catalog Proposal</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{"Label":"Sketch Catalog Proposal","ContentProducer":"001191110108MACG2KBH8F10000","ProduceID":"sketch-catalog","ReservedCode1":"","ContentPropagator":"001191110108MACG2KBH8F20000","PropagateID":"agent:main:main:conversation:5c7d8c49-15c3-407e-b53c-b1b31f72f8bd","ReservedCode2":""}</vt:lpwstr>
  </property>
</Properties>
</file>